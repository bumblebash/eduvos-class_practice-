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comments/modernComment_131_79881A5D.xml" ContentType="application/vnd.ms-powerpoint.comments+xml"/>
  <Override PartName="/ppt/comments/modernComment_132_FDDBD49A.xml" ContentType="application/vnd.ms-powerpoint.comments+xml"/>
  <Override PartName="/ppt/comments/modernComment_100_D17BB4F7.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5" r:id="rId2"/>
    <p:sldId id="306" r:id="rId3"/>
    <p:sldId id="358" r:id="rId4"/>
    <p:sldId id="256" r:id="rId5"/>
    <p:sldId id="359" r:id="rId6"/>
    <p:sldId id="360" r:id="rId7"/>
    <p:sldId id="362" r:id="rId8"/>
    <p:sldId id="363" r:id="rId9"/>
    <p:sldId id="364" r:id="rId10"/>
    <p:sldId id="361" r:id="rId11"/>
    <p:sldId id="365" r:id="rId12"/>
    <p:sldId id="366" r:id="rId13"/>
    <p:sldId id="367" r:id="rId14"/>
    <p:sldId id="368" r:id="rId15"/>
    <p:sldId id="369" r:id="rId16"/>
    <p:sldId id="371" r:id="rId17"/>
    <p:sldId id="372" r:id="rId18"/>
    <p:sldId id="373" r:id="rId19"/>
    <p:sldId id="374" r:id="rId20"/>
    <p:sldId id="375" r:id="rId21"/>
    <p:sldId id="370" r:id="rId22"/>
    <p:sldId id="376" r:id="rId23"/>
    <p:sldId id="377" r:id="rId24"/>
    <p:sldId id="379" r:id="rId25"/>
    <p:sldId id="380" r:id="rId26"/>
    <p:sldId id="378" r:id="rId27"/>
    <p:sldId id="381" r:id="rId28"/>
    <p:sldId id="383" r:id="rId29"/>
    <p:sldId id="384" r:id="rId30"/>
    <p:sldId id="385" r:id="rId31"/>
    <p:sldId id="386" r:id="rId32"/>
    <p:sldId id="387" r:id="rId33"/>
    <p:sldId id="382" r:id="rId34"/>
    <p:sldId id="3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2F9B9B-96ED-1159-D443-3D543B05FC02}" name="Ricky Dunningham" initials="RD" userId="S::richard.dunningham@eduvos.com::a3fc4bdd-6897-4a69-beba-491c7b5405b3" providerId="AD"/>
  <p188:author id="{1A3189A1-3655-B6D5-D14A-98AD48D3786A}" name="Denise Wilson" initials="DW" userId="S::denise.wilson@eduvos.com::7939129f-fc71-4fda-b9a4-c630b572770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hle Innocent Nxasane" userId="3156fb72-a12c-4638-bfb1-94729b6e656f" providerId="ADAL" clId="{37CA1B98-5661-4D2D-938F-8B01CF65F68C}"/>
    <pc:docChg chg="undo custSel modSld">
      <pc:chgData name="Sihle Innocent Nxasane" userId="3156fb72-a12c-4638-bfb1-94729b6e656f" providerId="ADAL" clId="{37CA1B98-5661-4D2D-938F-8B01CF65F68C}" dt="2026-05-26T12:37:49.151" v="3" actId="27636"/>
      <pc:docMkLst>
        <pc:docMk/>
      </pc:docMkLst>
      <pc:sldChg chg="modSp mod">
        <pc:chgData name="Sihle Innocent Nxasane" userId="3156fb72-a12c-4638-bfb1-94729b6e656f" providerId="ADAL" clId="{37CA1B98-5661-4D2D-938F-8B01CF65F68C}" dt="2026-05-26T12:37:49.151" v="3" actId="27636"/>
        <pc:sldMkLst>
          <pc:docMk/>
          <pc:sldMk cId="248264418" sldId="359"/>
        </pc:sldMkLst>
        <pc:spChg chg="mod">
          <ac:chgData name="Sihle Innocent Nxasane" userId="3156fb72-a12c-4638-bfb1-94729b6e656f" providerId="ADAL" clId="{37CA1B98-5661-4D2D-938F-8B01CF65F68C}" dt="2026-05-26T12:37:49.151" v="3" actId="27636"/>
          <ac:spMkLst>
            <pc:docMk/>
            <pc:sldMk cId="248264418" sldId="359"/>
            <ac:spMk id="3" creationId="{A62B4AF9-7265-7BBC-CD59-E6205F826D26}"/>
          </ac:spMkLst>
        </pc:spChg>
      </pc:sldChg>
    </pc:docChg>
  </pc:docChgLst>
</pc:chgInfo>
</file>

<file path=ppt/comments/modernComment_100_D17BB4F7.xml><?xml version="1.0" encoding="utf-8"?>
<p188:cmLst xmlns:a="http://schemas.openxmlformats.org/drawingml/2006/main" xmlns:r="http://schemas.openxmlformats.org/officeDocument/2006/relationships" xmlns:p188="http://schemas.microsoft.com/office/powerpoint/2018/8/main">
  <p188:cm id="{FCA66882-19EA-47AA-9F30-65C1CC007A73}" authorId="{1A3189A1-3655-B6D5-D14A-98AD48D3786A}" created="2024-12-10T04:00:15.580">
    <ac:deMkLst xmlns:ac="http://schemas.microsoft.com/office/drawing/2013/main/command">
      <pc:docMk xmlns:pc="http://schemas.microsoft.com/office/powerpoint/2013/main/command"/>
      <pc:sldMk xmlns:pc="http://schemas.microsoft.com/office/powerpoint/2013/main/command" cId="3514545399" sldId="256"/>
      <ac:spMk id="39" creationId="{926A2917-C7CE-45C4-E711-4939F583C89B}"/>
    </ac:deMkLst>
    <p188:txBody>
      <a:bodyPr/>
      <a:lstStyle/>
      <a:p>
        <a:r>
          <a:rPr lang="en-US"/>
          <a:t>This is to be a brief summary and will take the form of a lesson plan</a:t>
        </a:r>
      </a:p>
    </p188:txBody>
  </p188:cm>
</p188:cmLst>
</file>

<file path=ppt/comments/modernComment_131_79881A5D.xml><?xml version="1.0" encoding="utf-8"?>
<p188:cmLst xmlns:a="http://schemas.openxmlformats.org/drawingml/2006/main" xmlns:r="http://schemas.openxmlformats.org/officeDocument/2006/relationships" xmlns:p188="http://schemas.microsoft.com/office/powerpoint/2018/8/main">
  <p188:cm id="{D2691E12-8446-42E4-B9BF-9197B25E8C3F}" authorId="{E52F9B9B-96ED-1159-D443-3D543B05FC02}" created="2024-12-06T11:36:30.949">
    <pc:sldMkLst xmlns:pc="http://schemas.microsoft.com/office/powerpoint/2013/main/command">
      <pc:docMk/>
      <pc:sldMk cId="2038962781" sldId="305"/>
    </pc:sldMkLst>
    <p188:txBody>
      <a:bodyPr/>
      <a:lstStyle/>
      <a:p>
        <a:r>
          <a:rPr lang="en-ZA"/>
          <a:t>Slide decks must remain generic and not campus-specific. 
Refrain from adding campus names to any slide headings or including information that is also campus-specific etc.</a:t>
        </a:r>
      </a:p>
    </p188:txBody>
  </p188:cm>
</p188:cmLst>
</file>

<file path=ppt/comments/modernComment_132_FDDBD49A.xml><?xml version="1.0" encoding="utf-8"?>
<p188:cmLst xmlns:a="http://schemas.openxmlformats.org/drawingml/2006/main" xmlns:r="http://schemas.openxmlformats.org/officeDocument/2006/relationships" xmlns:p188="http://schemas.microsoft.com/office/powerpoint/2018/8/main">
  <p188:cm id="{C4E6437A-F432-4000-A69A-95B9B455118E}" authorId="{1A3189A1-3655-B6D5-D14A-98AD48D3786A}" created="2024-12-10T03:37:43.568">
    <pc:sldMkLst xmlns:pc="http://schemas.microsoft.com/office/powerpoint/2013/main/command">
      <pc:docMk/>
      <pc:sldMk cId="4259042458" sldId="306"/>
    </pc:sldMkLst>
    <p188:txBody>
      <a:bodyPr/>
      <a:lstStyle/>
      <a:p>
        <a:r>
          <a:rPr lang="en-US"/>
          <a:t>Hi [@Mine De Klerk], perhaps this disclaimer is open for interpretation- we are saying that lecturers may add to this slide deck for timetable group specific or campus specific information or case studies, but the base slide deck will be what is available on myLMS- this was to allow for the autonomy of lecturers and the unique culture or demographics of specific campuses. [@Ricky Dunningham] should this be rephrased in some way to make this clearer? But also that those campus/lecturer specific content will not be shared with students and is not crucial for learning purposes.</a:t>
        </a:r>
      </a:p>
    </p188:txBody>
  </p188:cm>
</p188:cmLst>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0.sv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in Cover">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userDrawn="1"/>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BEE2CF4-22A0-44EA-F601-BE6C24E5CE53}"/>
              </a:ext>
            </a:extLst>
          </p:cNvPr>
          <p:cNvSpPr>
            <a:spLocks noGrp="1"/>
          </p:cNvSpPr>
          <p:nvPr>
            <p:ph type="dt" sz="half" idx="10"/>
          </p:nvPr>
        </p:nvSpPr>
        <p:spPr/>
        <p:txBody>
          <a:bodyPr/>
          <a:lstStyle/>
          <a:p>
            <a:fld id="{2F0024F3-716D-4858-A47B-A94DB0594318}" type="datetimeFigureOut">
              <a:rPr lang="en-ZA" smtClean="0"/>
              <a:t>26 May 2026</a:t>
            </a:fld>
            <a:endParaRPr lang="en-ZA"/>
          </a:p>
        </p:txBody>
      </p:sp>
      <p:sp>
        <p:nvSpPr>
          <p:cNvPr id="5" name="Footer Placeholder 4">
            <a:extLst>
              <a:ext uri="{FF2B5EF4-FFF2-40B4-BE49-F238E27FC236}">
                <a16:creationId xmlns:a16="http://schemas.microsoft.com/office/drawing/2014/main" id="{5FEAF3A3-A8F2-4279-0CF5-F5FC958DF1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EBDBC5-05FF-338C-79A8-DA87D2484B2B}"/>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658795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d">
    <p:bg>
      <p:bgPr>
        <a:solidFill>
          <a:srgbClr val="B10000"/>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F0477A8-A693-E286-52B9-F5545E9A4D58}"/>
              </a:ext>
            </a:extLst>
          </p:cNvPr>
          <p:cNvGrpSpPr/>
          <p:nvPr userDrawn="1"/>
        </p:nvGrpSpPr>
        <p:grpSpPr>
          <a:xfrm>
            <a:off x="0" y="1824015"/>
            <a:ext cx="5595740" cy="5048028"/>
            <a:chOff x="-5639476" y="1855194"/>
            <a:chExt cx="5603003" cy="5048028"/>
          </a:xfrm>
        </p:grpSpPr>
        <p:sp>
          <p:nvSpPr>
            <p:cNvPr id="9" name="Freeform: Shape 8">
              <a:extLst>
                <a:ext uri="{FF2B5EF4-FFF2-40B4-BE49-F238E27FC236}">
                  <a16:creationId xmlns:a16="http://schemas.microsoft.com/office/drawing/2014/main" id="{A1A2C3AB-1E88-A63A-9622-F45137ECD180}"/>
                </a:ext>
              </a:extLst>
            </p:cNvPr>
            <p:cNvSpPr/>
            <p:nvPr/>
          </p:nvSpPr>
          <p:spPr>
            <a:xfrm>
              <a:off x="-5638385" y="1855194"/>
              <a:ext cx="1749072"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B10000"/>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3989773" y="3537870"/>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E8233C"/>
            </a:solidFill>
            <a:ln w="8399" cap="flat">
              <a:noFill/>
              <a:prstDash val="solid"/>
              <a:miter/>
            </a:ln>
          </p:spPr>
          <p:txBody>
            <a:bodyPr rtlCol="0" anchor="ctr"/>
            <a:lstStyle/>
            <a:p>
              <a:endParaRPr lang="en-ZA"/>
            </a:p>
          </p:txBody>
        </p:sp>
        <p:grpSp>
          <p:nvGrpSpPr>
            <p:cNvPr id="47" name="Group 46">
              <a:extLst>
                <a:ext uri="{FF2B5EF4-FFF2-40B4-BE49-F238E27FC236}">
                  <a16:creationId xmlns:a16="http://schemas.microsoft.com/office/drawing/2014/main" id="{463D6306-154D-5160-8E94-A3190F0F10A2}"/>
                </a:ext>
              </a:extLst>
            </p:cNvPr>
            <p:cNvGrpSpPr/>
            <p:nvPr/>
          </p:nvGrpSpPr>
          <p:grpSpPr>
            <a:xfrm>
              <a:off x="-2323614" y="4627093"/>
              <a:ext cx="2287141" cy="2276129"/>
              <a:chOff x="3315862" y="4581870"/>
              <a:chExt cx="2287141" cy="2276129"/>
            </a:xfrm>
          </p:grpSpPr>
          <p:sp>
            <p:nvSpPr>
              <p:cNvPr id="15" name="Freeform: Shape 14">
                <a:extLst>
                  <a:ext uri="{FF2B5EF4-FFF2-40B4-BE49-F238E27FC236}">
                    <a16:creationId xmlns:a16="http://schemas.microsoft.com/office/drawing/2014/main" id="{542CEB1B-622C-693B-6F2A-3D381F9A9520}"/>
                  </a:ext>
                </a:extLst>
              </p:cNvPr>
              <p:cNvSpPr/>
              <p:nvPr/>
            </p:nvSpPr>
            <p:spPr>
              <a:xfrm>
                <a:off x="3315862" y="4581870"/>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3"/>
                </a:solidFill>
                <a:prstDash val="solid"/>
                <a:miter/>
              </a:ln>
            </p:spPr>
            <p:txBody>
              <a:bodyPr rtlCol="0" anchor="ctr"/>
              <a:lstStyle/>
              <a:p>
                <a:endParaRPr lang="en-ZA" dirty="0"/>
              </a:p>
            </p:txBody>
          </p:sp>
          <p:sp>
            <p:nvSpPr>
              <p:cNvPr id="16" name="Freeform: Shape 15">
                <a:extLst>
                  <a:ext uri="{FF2B5EF4-FFF2-40B4-BE49-F238E27FC236}">
                    <a16:creationId xmlns:a16="http://schemas.microsoft.com/office/drawing/2014/main" id="{C07B092E-D720-D515-5AFC-54D5B546EE05}"/>
                  </a:ext>
                </a:extLst>
              </p:cNvPr>
              <p:cNvSpPr/>
              <p:nvPr/>
            </p:nvSpPr>
            <p:spPr>
              <a:xfrm>
                <a:off x="3316048" y="5142103"/>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3"/>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16048" y="5720028"/>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3"/>
                </a:solidFill>
                <a:prstDash val="solid"/>
                <a:miter/>
              </a:ln>
            </p:spPr>
            <p:txBody>
              <a:bodyPr rtlCol="0" anchor="ctr"/>
              <a:lstStyle/>
              <a:p>
                <a:endParaRPr lang="en-ZA"/>
              </a:p>
            </p:txBody>
          </p:sp>
        </p:grpSp>
        <p:sp>
          <p:nvSpPr>
            <p:cNvPr id="18" name="Freeform: Shape 17">
              <a:extLst>
                <a:ext uri="{FF2B5EF4-FFF2-40B4-BE49-F238E27FC236}">
                  <a16:creationId xmlns:a16="http://schemas.microsoft.com/office/drawing/2014/main" id="{804E04CC-1B01-AC03-3C86-EA1994CE1083}"/>
                </a:ext>
              </a:extLst>
            </p:cNvPr>
            <p:cNvSpPr/>
            <p:nvPr/>
          </p:nvSpPr>
          <p:spPr>
            <a:xfrm>
              <a:off x="-5639476" y="353799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F17B8A"/>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5639476" y="3537932"/>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4814594" y="3537870"/>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5639476" y="4362691"/>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F1EBE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5623145" y="5187573"/>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B10000"/>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5623145" y="5251168"/>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F1EBE8"/>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4646883" y="6172805"/>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E8233C"/>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5623145" y="5187573"/>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E8233C"/>
            </a:solidFill>
            <a:ln w="8399" cap="flat">
              <a:noFill/>
              <a:prstDash val="solid"/>
              <a:miter/>
            </a:ln>
          </p:spPr>
          <p:txBody>
            <a:bodyPr rtlCol="0" anchor="ctr"/>
            <a:lstStyle/>
            <a:p>
              <a:endParaRPr lang="en-ZA"/>
            </a:p>
          </p:txBody>
        </p:sp>
      </p:grpSp>
      <p:grpSp>
        <p:nvGrpSpPr>
          <p:cNvPr id="294" name="Group 293">
            <a:extLst>
              <a:ext uri="{FF2B5EF4-FFF2-40B4-BE49-F238E27FC236}">
                <a16:creationId xmlns:a16="http://schemas.microsoft.com/office/drawing/2014/main" id="{A4FB9063-D666-4E30-B438-75F1C93EBD5D}"/>
              </a:ext>
            </a:extLst>
          </p:cNvPr>
          <p:cNvGrpSpPr/>
          <p:nvPr userDrawn="1"/>
        </p:nvGrpSpPr>
        <p:grpSpPr>
          <a:xfrm>
            <a:off x="0" y="6448584"/>
            <a:ext cx="2440432" cy="409416"/>
            <a:chOff x="6096000" y="0"/>
            <a:chExt cx="4629149" cy="776604"/>
          </a:xfrm>
        </p:grpSpPr>
        <p:sp>
          <p:nvSpPr>
            <p:cNvPr id="379" name="Freeform: Shape 378">
              <a:extLst>
                <a:ext uri="{FF2B5EF4-FFF2-40B4-BE49-F238E27FC236}">
                  <a16:creationId xmlns:a16="http://schemas.microsoft.com/office/drawing/2014/main" id="{8B0FC86E-B505-EA26-8067-AD891041C8F3}"/>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E8233C"/>
            </a:solidFill>
            <a:ln w="6347" cap="flat">
              <a:noFill/>
              <a:prstDash val="solid"/>
              <a:miter/>
            </a:ln>
          </p:spPr>
          <p:txBody>
            <a:bodyPr rtlCol="0" anchor="ctr"/>
            <a:lstStyle/>
            <a:p>
              <a:endParaRPr lang="en-ZA"/>
            </a:p>
          </p:txBody>
        </p:sp>
        <p:sp>
          <p:nvSpPr>
            <p:cNvPr id="380" name="Freeform: Shape 379">
              <a:extLst>
                <a:ext uri="{FF2B5EF4-FFF2-40B4-BE49-F238E27FC236}">
                  <a16:creationId xmlns:a16="http://schemas.microsoft.com/office/drawing/2014/main" id="{653AAF82-3FCD-BDB0-8F53-B28F1ADC0646}"/>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81" name="Freeform: Shape 380">
              <a:extLst>
                <a:ext uri="{FF2B5EF4-FFF2-40B4-BE49-F238E27FC236}">
                  <a16:creationId xmlns:a16="http://schemas.microsoft.com/office/drawing/2014/main" id="{D06D1BE4-C71A-D1AB-D90F-56BBDA8EE754}"/>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82" name="Freeform: Shape 381">
              <a:extLst>
                <a:ext uri="{FF2B5EF4-FFF2-40B4-BE49-F238E27FC236}">
                  <a16:creationId xmlns:a16="http://schemas.microsoft.com/office/drawing/2014/main" id="{282287D7-B649-2715-94E0-743766A5CF4C}"/>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83" name="Freeform: Shape 382">
              <a:extLst>
                <a:ext uri="{FF2B5EF4-FFF2-40B4-BE49-F238E27FC236}">
                  <a16:creationId xmlns:a16="http://schemas.microsoft.com/office/drawing/2014/main" id="{237CCC80-7AF0-4DBB-58B8-6D49DD57324E}"/>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84" name="Freeform: Shape 383">
              <a:extLst>
                <a:ext uri="{FF2B5EF4-FFF2-40B4-BE49-F238E27FC236}">
                  <a16:creationId xmlns:a16="http://schemas.microsoft.com/office/drawing/2014/main" id="{F2DBE011-5456-AAD3-E8B1-F40DC1A6B600}"/>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ED4F63"/>
            </a:solidFill>
            <a:ln w="6347" cap="flat">
              <a:noFill/>
              <a:prstDash val="solid"/>
              <a:miter/>
            </a:ln>
          </p:spPr>
          <p:txBody>
            <a:bodyPr rtlCol="0" anchor="ctr"/>
            <a:lstStyle/>
            <a:p>
              <a:endParaRPr lang="en-ZA"/>
            </a:p>
          </p:txBody>
        </p:sp>
        <p:sp>
          <p:nvSpPr>
            <p:cNvPr id="385" name="Freeform: Shape 384">
              <a:extLst>
                <a:ext uri="{FF2B5EF4-FFF2-40B4-BE49-F238E27FC236}">
                  <a16:creationId xmlns:a16="http://schemas.microsoft.com/office/drawing/2014/main" id="{E8C77A1C-38BC-CF4A-60E4-040E8839893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B10000"/>
            </a:solidFill>
            <a:ln w="6347" cap="flat">
              <a:noFill/>
              <a:prstDash val="solid"/>
              <a:miter/>
            </a:ln>
          </p:spPr>
          <p:txBody>
            <a:bodyPr rtlCol="0" anchor="ctr"/>
            <a:lstStyle/>
            <a:p>
              <a:endParaRPr lang="en-ZA"/>
            </a:p>
          </p:txBody>
        </p:sp>
        <p:sp>
          <p:nvSpPr>
            <p:cNvPr id="386" name="Freeform: Shape 385">
              <a:extLst>
                <a:ext uri="{FF2B5EF4-FFF2-40B4-BE49-F238E27FC236}">
                  <a16:creationId xmlns:a16="http://schemas.microsoft.com/office/drawing/2014/main" id="{C5881E78-A743-0833-154C-3899B1B3ADFC}"/>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87" name="Freeform: Shape 386">
              <a:extLst>
                <a:ext uri="{FF2B5EF4-FFF2-40B4-BE49-F238E27FC236}">
                  <a16:creationId xmlns:a16="http://schemas.microsoft.com/office/drawing/2014/main" id="{A1BE8F1A-8049-F2AB-B316-9175A013154D}"/>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88" name="Freeform: Shape 387">
              <a:extLst>
                <a:ext uri="{FF2B5EF4-FFF2-40B4-BE49-F238E27FC236}">
                  <a16:creationId xmlns:a16="http://schemas.microsoft.com/office/drawing/2014/main" id="{00D00EC0-AFC5-AB4C-E478-252970FB32D2}"/>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89" name="Freeform: Shape 388">
              <a:extLst>
                <a:ext uri="{FF2B5EF4-FFF2-40B4-BE49-F238E27FC236}">
                  <a16:creationId xmlns:a16="http://schemas.microsoft.com/office/drawing/2014/main" id="{C99B3525-9405-5300-AC77-05BEB321C577}"/>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90" name="Freeform: Shape 389">
              <a:extLst>
                <a:ext uri="{FF2B5EF4-FFF2-40B4-BE49-F238E27FC236}">
                  <a16:creationId xmlns:a16="http://schemas.microsoft.com/office/drawing/2014/main" id="{9624DB06-C3C4-A026-3C16-E869F3F8F68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91" name="Freeform: Shape 390">
              <a:extLst>
                <a:ext uri="{FF2B5EF4-FFF2-40B4-BE49-F238E27FC236}">
                  <a16:creationId xmlns:a16="http://schemas.microsoft.com/office/drawing/2014/main" id="{2B2D5221-A9D1-9B31-84B2-F56461B06F70}"/>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92" name="Freeform: Shape 391">
              <a:extLst>
                <a:ext uri="{FF2B5EF4-FFF2-40B4-BE49-F238E27FC236}">
                  <a16:creationId xmlns:a16="http://schemas.microsoft.com/office/drawing/2014/main" id="{56323173-97CF-91FE-EAB6-E92C0DD6AE0F}"/>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93" name="Graphic 19">
              <a:extLst>
                <a:ext uri="{FF2B5EF4-FFF2-40B4-BE49-F238E27FC236}">
                  <a16:creationId xmlns:a16="http://schemas.microsoft.com/office/drawing/2014/main" id="{983A593E-49A6-6683-C1EC-6C15313CA74B}"/>
                </a:ext>
              </a:extLst>
            </p:cNvPr>
            <p:cNvGrpSpPr/>
            <p:nvPr/>
          </p:nvGrpSpPr>
          <p:grpSpPr>
            <a:xfrm>
              <a:off x="9950577" y="2095"/>
              <a:ext cx="774572" cy="774509"/>
              <a:chOff x="8756777" y="2095"/>
              <a:chExt cx="774572" cy="774509"/>
            </a:xfrm>
          </p:grpSpPr>
          <p:sp>
            <p:nvSpPr>
              <p:cNvPr id="394" name="Freeform: Shape 393">
                <a:extLst>
                  <a:ext uri="{FF2B5EF4-FFF2-40B4-BE49-F238E27FC236}">
                    <a16:creationId xmlns:a16="http://schemas.microsoft.com/office/drawing/2014/main" id="{22CD5D37-0F7B-C138-5BC6-AB1884D4519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95" name="Freeform: Shape 394">
                <a:extLst>
                  <a:ext uri="{FF2B5EF4-FFF2-40B4-BE49-F238E27FC236}">
                    <a16:creationId xmlns:a16="http://schemas.microsoft.com/office/drawing/2014/main" id="{5B59C12A-4A5B-5806-8FB5-93E507B46230}"/>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396" name="Freeform: Shape 395">
                <a:extLst>
                  <a:ext uri="{FF2B5EF4-FFF2-40B4-BE49-F238E27FC236}">
                    <a16:creationId xmlns:a16="http://schemas.microsoft.com/office/drawing/2014/main" id="{C7A3C74E-137F-9079-E03B-09DA69D3E4A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397" name="Freeform: Shape 396">
                <a:extLst>
                  <a:ext uri="{FF2B5EF4-FFF2-40B4-BE49-F238E27FC236}">
                    <a16:creationId xmlns:a16="http://schemas.microsoft.com/office/drawing/2014/main" id="{5FA06224-1E49-1A26-6F75-192CA557BA19}"/>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398" name="Freeform: Shape 397">
                <a:extLst>
                  <a:ext uri="{FF2B5EF4-FFF2-40B4-BE49-F238E27FC236}">
                    <a16:creationId xmlns:a16="http://schemas.microsoft.com/office/drawing/2014/main" id="{F600FAFA-BA13-7A48-A7B0-5A1CF2D39E6B}"/>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grpSp>
        <p:nvGrpSpPr>
          <p:cNvPr id="295" name="Group 294">
            <a:extLst>
              <a:ext uri="{FF2B5EF4-FFF2-40B4-BE49-F238E27FC236}">
                <a16:creationId xmlns:a16="http://schemas.microsoft.com/office/drawing/2014/main" id="{4EB65D20-A7F2-F3CE-FC4C-C3B25308FF6C}"/>
              </a:ext>
            </a:extLst>
          </p:cNvPr>
          <p:cNvGrpSpPr/>
          <p:nvPr userDrawn="1"/>
        </p:nvGrpSpPr>
        <p:grpSpPr>
          <a:xfrm rot="10800000" flipH="1">
            <a:off x="2430337" y="6448584"/>
            <a:ext cx="2440432" cy="409416"/>
            <a:chOff x="6096000" y="0"/>
            <a:chExt cx="4629149" cy="776604"/>
          </a:xfrm>
        </p:grpSpPr>
        <p:sp>
          <p:nvSpPr>
            <p:cNvPr id="359" name="Freeform: Shape 358">
              <a:extLst>
                <a:ext uri="{FF2B5EF4-FFF2-40B4-BE49-F238E27FC236}">
                  <a16:creationId xmlns:a16="http://schemas.microsoft.com/office/drawing/2014/main" id="{44AD2000-223B-4BD9-01F9-1520E91266C7}"/>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F17B8A"/>
            </a:solidFill>
            <a:ln w="6347" cap="flat">
              <a:noFill/>
              <a:prstDash val="solid"/>
              <a:miter/>
            </a:ln>
          </p:spPr>
          <p:txBody>
            <a:bodyPr rtlCol="0" anchor="ctr"/>
            <a:lstStyle/>
            <a:p>
              <a:endParaRPr lang="en-ZA"/>
            </a:p>
          </p:txBody>
        </p:sp>
        <p:sp>
          <p:nvSpPr>
            <p:cNvPr id="360" name="Freeform: Shape 359">
              <a:extLst>
                <a:ext uri="{FF2B5EF4-FFF2-40B4-BE49-F238E27FC236}">
                  <a16:creationId xmlns:a16="http://schemas.microsoft.com/office/drawing/2014/main" id="{02D0696F-A516-F38D-9FF7-6B72E33799A2}"/>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61" name="Freeform: Shape 360">
              <a:extLst>
                <a:ext uri="{FF2B5EF4-FFF2-40B4-BE49-F238E27FC236}">
                  <a16:creationId xmlns:a16="http://schemas.microsoft.com/office/drawing/2014/main" id="{D06EE2EA-9F95-4F22-9E99-7AAAC20C2CCF}"/>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62" name="Freeform: Shape 361">
              <a:extLst>
                <a:ext uri="{FF2B5EF4-FFF2-40B4-BE49-F238E27FC236}">
                  <a16:creationId xmlns:a16="http://schemas.microsoft.com/office/drawing/2014/main" id="{AE152D93-668E-8C62-86BB-FF85B3F46583}"/>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63" name="Freeform: Shape 362">
              <a:extLst>
                <a:ext uri="{FF2B5EF4-FFF2-40B4-BE49-F238E27FC236}">
                  <a16:creationId xmlns:a16="http://schemas.microsoft.com/office/drawing/2014/main" id="{C4DFF1FC-9E0B-A0E7-8299-3DA9A53F66C7}"/>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64" name="Freeform: Shape 363">
              <a:extLst>
                <a:ext uri="{FF2B5EF4-FFF2-40B4-BE49-F238E27FC236}">
                  <a16:creationId xmlns:a16="http://schemas.microsoft.com/office/drawing/2014/main" id="{818EE606-81BF-D7A2-6B11-FC973D3683EF}"/>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B10000"/>
            </a:solidFill>
            <a:ln w="6347" cap="flat">
              <a:noFill/>
              <a:prstDash val="solid"/>
              <a:miter/>
            </a:ln>
          </p:spPr>
          <p:txBody>
            <a:bodyPr rtlCol="0" anchor="ctr"/>
            <a:lstStyle/>
            <a:p>
              <a:endParaRPr lang="en-ZA"/>
            </a:p>
          </p:txBody>
        </p:sp>
        <p:sp>
          <p:nvSpPr>
            <p:cNvPr id="365" name="Freeform: Shape 364">
              <a:extLst>
                <a:ext uri="{FF2B5EF4-FFF2-40B4-BE49-F238E27FC236}">
                  <a16:creationId xmlns:a16="http://schemas.microsoft.com/office/drawing/2014/main" id="{52A05064-F720-E247-7B51-A1F00AA3751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E8233C"/>
            </a:solidFill>
            <a:ln w="6347" cap="flat">
              <a:noFill/>
              <a:prstDash val="solid"/>
              <a:miter/>
            </a:ln>
          </p:spPr>
          <p:txBody>
            <a:bodyPr rtlCol="0" anchor="ctr"/>
            <a:lstStyle/>
            <a:p>
              <a:endParaRPr lang="en-ZA"/>
            </a:p>
          </p:txBody>
        </p:sp>
        <p:sp>
          <p:nvSpPr>
            <p:cNvPr id="366" name="Freeform: Shape 365">
              <a:extLst>
                <a:ext uri="{FF2B5EF4-FFF2-40B4-BE49-F238E27FC236}">
                  <a16:creationId xmlns:a16="http://schemas.microsoft.com/office/drawing/2014/main" id="{188DB275-8C0E-CCA9-E947-C21AD61B7E6F}"/>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67" name="Freeform: Shape 366">
              <a:extLst>
                <a:ext uri="{FF2B5EF4-FFF2-40B4-BE49-F238E27FC236}">
                  <a16:creationId xmlns:a16="http://schemas.microsoft.com/office/drawing/2014/main" id="{BF2B2A67-952A-5449-4421-79D2663C6DA0}"/>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68" name="Freeform: Shape 367">
              <a:extLst>
                <a:ext uri="{FF2B5EF4-FFF2-40B4-BE49-F238E27FC236}">
                  <a16:creationId xmlns:a16="http://schemas.microsoft.com/office/drawing/2014/main" id="{AD5EE9AB-468B-CB64-4A07-C9EC699055CE}"/>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69" name="Freeform: Shape 368">
              <a:extLst>
                <a:ext uri="{FF2B5EF4-FFF2-40B4-BE49-F238E27FC236}">
                  <a16:creationId xmlns:a16="http://schemas.microsoft.com/office/drawing/2014/main" id="{736AC772-9C7D-AFC4-66DC-BC6A368155F1}"/>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70" name="Freeform: Shape 369">
              <a:extLst>
                <a:ext uri="{FF2B5EF4-FFF2-40B4-BE49-F238E27FC236}">
                  <a16:creationId xmlns:a16="http://schemas.microsoft.com/office/drawing/2014/main" id="{5EDDC4BA-909F-37A1-E450-580DAF97CEC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71" name="Freeform: Shape 370">
              <a:extLst>
                <a:ext uri="{FF2B5EF4-FFF2-40B4-BE49-F238E27FC236}">
                  <a16:creationId xmlns:a16="http://schemas.microsoft.com/office/drawing/2014/main" id="{E8A671EE-D402-60C6-F677-ADB2E1524FE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72" name="Freeform: Shape 371">
              <a:extLst>
                <a:ext uri="{FF2B5EF4-FFF2-40B4-BE49-F238E27FC236}">
                  <a16:creationId xmlns:a16="http://schemas.microsoft.com/office/drawing/2014/main" id="{88E4E21C-DA1D-BBE4-8B80-D330D455F70B}"/>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73" name="Graphic 19">
              <a:extLst>
                <a:ext uri="{FF2B5EF4-FFF2-40B4-BE49-F238E27FC236}">
                  <a16:creationId xmlns:a16="http://schemas.microsoft.com/office/drawing/2014/main" id="{2AC5816E-931B-B40F-E346-3D659E9D175F}"/>
                </a:ext>
              </a:extLst>
            </p:cNvPr>
            <p:cNvGrpSpPr/>
            <p:nvPr/>
          </p:nvGrpSpPr>
          <p:grpSpPr>
            <a:xfrm>
              <a:off x="9950577" y="2095"/>
              <a:ext cx="774572" cy="774509"/>
              <a:chOff x="8756777" y="2095"/>
              <a:chExt cx="774572" cy="774509"/>
            </a:xfrm>
          </p:grpSpPr>
          <p:sp>
            <p:nvSpPr>
              <p:cNvPr id="374" name="Freeform: Shape 373">
                <a:extLst>
                  <a:ext uri="{FF2B5EF4-FFF2-40B4-BE49-F238E27FC236}">
                    <a16:creationId xmlns:a16="http://schemas.microsoft.com/office/drawing/2014/main" id="{CAD00450-B040-83C9-C638-943970CFE1D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75" name="Freeform: Shape 374">
                <a:extLst>
                  <a:ext uri="{FF2B5EF4-FFF2-40B4-BE49-F238E27FC236}">
                    <a16:creationId xmlns:a16="http://schemas.microsoft.com/office/drawing/2014/main" id="{F77664B8-A15A-28F3-D218-9734ACAA54F1}"/>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B10000"/>
              </a:solidFill>
              <a:ln w="6347" cap="flat">
                <a:noFill/>
                <a:prstDash val="solid"/>
                <a:miter/>
              </a:ln>
            </p:spPr>
            <p:txBody>
              <a:bodyPr rtlCol="0" anchor="ctr"/>
              <a:lstStyle/>
              <a:p>
                <a:endParaRPr lang="en-ZA" dirty="0"/>
              </a:p>
            </p:txBody>
          </p:sp>
          <p:sp>
            <p:nvSpPr>
              <p:cNvPr id="376" name="Freeform: Shape 375">
                <a:extLst>
                  <a:ext uri="{FF2B5EF4-FFF2-40B4-BE49-F238E27FC236}">
                    <a16:creationId xmlns:a16="http://schemas.microsoft.com/office/drawing/2014/main" id="{CCDFAAE3-84BB-7351-E639-6120D29E65E6}"/>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B10000"/>
              </a:solidFill>
              <a:ln w="6347" cap="flat">
                <a:noFill/>
                <a:prstDash val="solid"/>
                <a:miter/>
              </a:ln>
            </p:spPr>
            <p:txBody>
              <a:bodyPr rtlCol="0" anchor="ctr"/>
              <a:lstStyle/>
              <a:p>
                <a:endParaRPr lang="en-ZA"/>
              </a:p>
            </p:txBody>
          </p:sp>
          <p:sp>
            <p:nvSpPr>
              <p:cNvPr id="377" name="Freeform: Shape 376">
                <a:extLst>
                  <a:ext uri="{FF2B5EF4-FFF2-40B4-BE49-F238E27FC236}">
                    <a16:creationId xmlns:a16="http://schemas.microsoft.com/office/drawing/2014/main" id="{6EC30A90-AC79-7CF5-1D6F-778F1A2E9B38}"/>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B10000"/>
              </a:solidFill>
              <a:ln w="6347" cap="flat">
                <a:noFill/>
                <a:prstDash val="solid"/>
                <a:miter/>
              </a:ln>
            </p:spPr>
            <p:txBody>
              <a:bodyPr rtlCol="0" anchor="ctr"/>
              <a:lstStyle/>
              <a:p>
                <a:endParaRPr lang="en-ZA"/>
              </a:p>
            </p:txBody>
          </p:sp>
          <p:sp>
            <p:nvSpPr>
              <p:cNvPr id="378" name="Freeform: Shape 377">
                <a:extLst>
                  <a:ext uri="{FF2B5EF4-FFF2-40B4-BE49-F238E27FC236}">
                    <a16:creationId xmlns:a16="http://schemas.microsoft.com/office/drawing/2014/main" id="{6EAF1B8E-1203-E322-A47D-4DD2BBF146B5}"/>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B10000"/>
              </a:solidFill>
              <a:ln w="6347" cap="flat">
                <a:noFill/>
                <a:prstDash val="solid"/>
                <a:miter/>
              </a:ln>
            </p:spPr>
            <p:txBody>
              <a:bodyPr rtlCol="0" anchor="ctr"/>
              <a:lstStyle/>
              <a:p>
                <a:endParaRPr lang="en-ZA"/>
              </a:p>
            </p:txBody>
          </p:sp>
        </p:grpSp>
      </p:grpSp>
    </p:spTree>
    <p:extLst>
      <p:ext uri="{BB962C8B-B14F-4D97-AF65-F5344CB8AC3E}">
        <p14:creationId xmlns:p14="http://schemas.microsoft.com/office/powerpoint/2010/main" val="3991619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2">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B06188-8442-9309-2C7C-33B89DCFBB3B}"/>
              </a:ext>
            </a:extLst>
          </p:cNvPr>
          <p:cNvSpPr/>
          <p:nvPr userDrawn="1"/>
        </p:nvSpPr>
        <p:spPr>
          <a:xfrm>
            <a:off x="-21838" y="0"/>
            <a:ext cx="12213838" cy="15479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7" name="Group 26">
            <a:extLst>
              <a:ext uri="{FF2B5EF4-FFF2-40B4-BE49-F238E27FC236}">
                <a16:creationId xmlns:a16="http://schemas.microsoft.com/office/drawing/2014/main" id="{566C639B-5027-B728-A547-A5A67FF7917C}"/>
              </a:ext>
            </a:extLst>
          </p:cNvPr>
          <p:cNvGrpSpPr/>
          <p:nvPr userDrawn="1"/>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5" name="Slide Number Placeholder 4">
            <a:extLst>
              <a:ext uri="{FF2B5EF4-FFF2-40B4-BE49-F238E27FC236}">
                <a16:creationId xmlns:a16="http://schemas.microsoft.com/office/drawing/2014/main" id="{10A0D4B6-1B66-A414-108D-EB4ADF22A7BE}"/>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28" name="Picture Placeholder 27">
            <a:extLst>
              <a:ext uri="{FF2B5EF4-FFF2-40B4-BE49-F238E27FC236}">
                <a16:creationId xmlns:a16="http://schemas.microsoft.com/office/drawing/2014/main" id="{0E771DC5-EFED-C526-C8FE-676945FEA200}"/>
              </a:ext>
            </a:extLst>
          </p:cNvPr>
          <p:cNvSpPr>
            <a:spLocks noGrp="1"/>
          </p:cNvSpPr>
          <p:nvPr>
            <p:ph type="pic" sz="quarter" idx="10"/>
          </p:nvPr>
        </p:nvSpPr>
        <p:spPr>
          <a:xfrm>
            <a:off x="561975" y="903923"/>
            <a:ext cx="5029200" cy="5942012"/>
          </a:xfrm>
        </p:spPr>
        <p:txBody>
          <a:bodyPr/>
          <a:lstStyle/>
          <a:p>
            <a:endParaRPr lang="en-ZA"/>
          </a:p>
        </p:txBody>
      </p:sp>
    </p:spTree>
    <p:extLst>
      <p:ext uri="{BB962C8B-B14F-4D97-AF65-F5344CB8AC3E}">
        <p14:creationId xmlns:p14="http://schemas.microsoft.com/office/powerpoint/2010/main" val="1358904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1">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66C639B-5027-B728-A547-A5A67FF7917C}"/>
              </a:ext>
            </a:extLst>
          </p:cNvPr>
          <p:cNvGrpSpPr/>
          <p:nvPr userDrawn="1"/>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grpSp>
        <p:nvGrpSpPr>
          <p:cNvPr id="40" name="Group 39">
            <a:extLst>
              <a:ext uri="{FF2B5EF4-FFF2-40B4-BE49-F238E27FC236}">
                <a16:creationId xmlns:a16="http://schemas.microsoft.com/office/drawing/2014/main" id="{CB13F640-4B07-4F3E-3AB9-ABF8EF771E83}"/>
              </a:ext>
            </a:extLst>
          </p:cNvPr>
          <p:cNvGrpSpPr/>
          <p:nvPr userDrawn="1"/>
        </p:nvGrpSpPr>
        <p:grpSpPr>
          <a:xfrm>
            <a:off x="-21838" y="6600716"/>
            <a:ext cx="12213838" cy="257284"/>
            <a:chOff x="353060" y="6172098"/>
            <a:chExt cx="9485360" cy="199809"/>
          </a:xfrm>
        </p:grpSpPr>
        <p:pic>
          <p:nvPicPr>
            <p:cNvPr id="41" name="Graphic 40">
              <a:extLst>
                <a:ext uri="{FF2B5EF4-FFF2-40B4-BE49-F238E27FC236}">
                  <a16:creationId xmlns:a16="http://schemas.microsoft.com/office/drawing/2014/main" id="{EDDD7F34-FE90-1D15-C1DD-BDDCD5F0D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42" name="Graphic 41">
              <a:extLst>
                <a:ext uri="{FF2B5EF4-FFF2-40B4-BE49-F238E27FC236}">
                  <a16:creationId xmlns:a16="http://schemas.microsoft.com/office/drawing/2014/main" id="{D5BA51D5-863C-1925-FADF-31BDAFB4F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43" name="Graphic 42">
              <a:extLst>
                <a:ext uri="{FF2B5EF4-FFF2-40B4-BE49-F238E27FC236}">
                  <a16:creationId xmlns:a16="http://schemas.microsoft.com/office/drawing/2014/main" id="{2292990F-0BCB-2B98-E9B3-857EFECA0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44" name="Graphic 43">
              <a:extLst>
                <a:ext uri="{FF2B5EF4-FFF2-40B4-BE49-F238E27FC236}">
                  <a16:creationId xmlns:a16="http://schemas.microsoft.com/office/drawing/2014/main" id="{D8E16644-6690-3DAB-17D3-C1B00D709E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sp>
        <p:nvSpPr>
          <p:cNvPr id="28" name="Picture Placeholder 27">
            <a:extLst>
              <a:ext uri="{FF2B5EF4-FFF2-40B4-BE49-F238E27FC236}">
                <a16:creationId xmlns:a16="http://schemas.microsoft.com/office/drawing/2014/main" id="{98B8B554-075B-1D22-5FB2-A6EB89AAD310}"/>
              </a:ext>
            </a:extLst>
          </p:cNvPr>
          <p:cNvSpPr>
            <a:spLocks noGrp="1"/>
          </p:cNvSpPr>
          <p:nvPr>
            <p:ph type="pic" sz="quarter" idx="10"/>
          </p:nvPr>
        </p:nvSpPr>
        <p:spPr>
          <a:xfrm>
            <a:off x="561975" y="658813"/>
            <a:ext cx="5029200" cy="5942012"/>
          </a:xfrm>
        </p:spPr>
        <p:txBody>
          <a:bodyPr/>
          <a:lstStyle/>
          <a:p>
            <a:endParaRPr lang="en-ZA"/>
          </a:p>
        </p:txBody>
      </p:sp>
    </p:spTree>
    <p:extLst>
      <p:ext uri="{BB962C8B-B14F-4D97-AF65-F5344CB8AC3E}">
        <p14:creationId xmlns:p14="http://schemas.microsoft.com/office/powerpoint/2010/main" val="293606001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eenvar cover">
    <p:bg>
      <p:bgPr>
        <a:solidFill>
          <a:schemeClr val="accent6"/>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6E0B8482-4B5A-CF45-215B-DF4756EC052C}"/>
              </a:ext>
            </a:extLst>
          </p:cNvPr>
          <p:cNvSpPr/>
          <p:nvPr userDrawn="1"/>
        </p:nvSpPr>
        <p:spPr>
          <a:xfrm>
            <a:off x="2910840" y="0"/>
            <a:ext cx="9281160" cy="6858000"/>
          </a:xfrm>
          <a:custGeom>
            <a:avLst/>
            <a:gdLst>
              <a:gd name="connsiteX0" fmla="*/ 0 w 4616450"/>
              <a:gd name="connsiteY0" fmla="*/ 0 h 6858000"/>
              <a:gd name="connsiteX1" fmla="*/ 4616450 w 4616450"/>
              <a:gd name="connsiteY1" fmla="*/ 0 h 6858000"/>
              <a:gd name="connsiteX2" fmla="*/ 4616450 w 4616450"/>
              <a:gd name="connsiteY2" fmla="*/ 6858000 h 6858000"/>
              <a:gd name="connsiteX3" fmla="*/ 0 w 46164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16450" h="6858000">
                <a:moveTo>
                  <a:pt x="0" y="0"/>
                </a:moveTo>
                <a:lnTo>
                  <a:pt x="4616450" y="0"/>
                </a:lnTo>
                <a:lnTo>
                  <a:pt x="4616450" y="6858000"/>
                </a:lnTo>
                <a:lnTo>
                  <a:pt x="0" y="6858000"/>
                </a:lnTo>
                <a:close/>
              </a:path>
            </a:pathLst>
          </a:custGeom>
          <a:solidFill>
            <a:srgbClr val="003818"/>
          </a:solidFill>
          <a:ln w="6347" cap="flat">
            <a:noFill/>
            <a:prstDash val="solid"/>
            <a:miter/>
          </a:ln>
        </p:spPr>
        <p:txBody>
          <a:bodyPr rtlCol="0" anchor="ctr"/>
          <a:lstStyle/>
          <a:p>
            <a:endParaRPr lang="en-ZA"/>
          </a:p>
        </p:txBody>
      </p:sp>
      <p:pic>
        <p:nvPicPr>
          <p:cNvPr id="47" name="Graphic 46">
            <a:extLst>
              <a:ext uri="{FF2B5EF4-FFF2-40B4-BE49-F238E27FC236}">
                <a16:creationId xmlns:a16="http://schemas.microsoft.com/office/drawing/2014/main" id="{5A3DFF44-398D-F067-6ADA-0BD630AB3C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148152" y="2453640"/>
            <a:ext cx="4043848" cy="4043848"/>
          </a:xfrm>
          <a:prstGeom prst="rect">
            <a:avLst/>
          </a:prstGeom>
        </p:spPr>
      </p:pic>
      <p:grpSp>
        <p:nvGrpSpPr>
          <p:cNvPr id="59" name="Group 58">
            <a:extLst>
              <a:ext uri="{FF2B5EF4-FFF2-40B4-BE49-F238E27FC236}">
                <a16:creationId xmlns:a16="http://schemas.microsoft.com/office/drawing/2014/main" id="{7C323EFF-7049-AF0F-AD5C-E53EB9566D3A}"/>
              </a:ext>
            </a:extLst>
          </p:cNvPr>
          <p:cNvGrpSpPr/>
          <p:nvPr userDrawn="1"/>
        </p:nvGrpSpPr>
        <p:grpSpPr>
          <a:xfrm>
            <a:off x="2910840" y="-1"/>
            <a:ext cx="9281160" cy="1557044"/>
            <a:chOff x="6096000" y="0"/>
            <a:chExt cx="4629149" cy="776604"/>
          </a:xfrm>
        </p:grpSpPr>
        <p:sp>
          <p:nvSpPr>
            <p:cNvPr id="60" name="Freeform: Shape 59">
              <a:extLst>
                <a:ext uri="{FF2B5EF4-FFF2-40B4-BE49-F238E27FC236}">
                  <a16:creationId xmlns:a16="http://schemas.microsoft.com/office/drawing/2014/main" id="{4B2FFD59-A88B-0F14-6B38-2C3DB0C6C48D}"/>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008545"/>
            </a:solidFill>
            <a:ln w="6347" cap="flat">
              <a:noFill/>
              <a:prstDash val="solid"/>
              <a:miter/>
            </a:ln>
          </p:spPr>
          <p:txBody>
            <a:bodyPr rtlCol="0" anchor="ctr"/>
            <a:lstStyle/>
            <a:p>
              <a:endParaRPr lang="en-ZA"/>
            </a:p>
          </p:txBody>
        </p:sp>
        <p:sp>
          <p:nvSpPr>
            <p:cNvPr id="61" name="Freeform: Shape 60">
              <a:extLst>
                <a:ext uri="{FF2B5EF4-FFF2-40B4-BE49-F238E27FC236}">
                  <a16:creationId xmlns:a16="http://schemas.microsoft.com/office/drawing/2014/main" id="{67B71AE4-F75D-AF19-8031-A2512EBAC9DB}"/>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62" name="Freeform: Shape 61">
              <a:extLst>
                <a:ext uri="{FF2B5EF4-FFF2-40B4-BE49-F238E27FC236}">
                  <a16:creationId xmlns:a16="http://schemas.microsoft.com/office/drawing/2014/main" id="{0B25F81C-171D-B231-C8F1-B48F675A92B2}"/>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63" name="Freeform: Shape 62">
              <a:extLst>
                <a:ext uri="{FF2B5EF4-FFF2-40B4-BE49-F238E27FC236}">
                  <a16:creationId xmlns:a16="http://schemas.microsoft.com/office/drawing/2014/main" id="{03358206-8C08-9E93-66A5-D17D5787363F}"/>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64" name="Freeform: Shape 63">
              <a:extLst>
                <a:ext uri="{FF2B5EF4-FFF2-40B4-BE49-F238E27FC236}">
                  <a16:creationId xmlns:a16="http://schemas.microsoft.com/office/drawing/2014/main" id="{B77F0185-E283-FAD9-0364-A6A6722C49B2}"/>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65" name="Freeform: Shape 64">
              <a:extLst>
                <a:ext uri="{FF2B5EF4-FFF2-40B4-BE49-F238E27FC236}">
                  <a16:creationId xmlns:a16="http://schemas.microsoft.com/office/drawing/2014/main" id="{F07DF5C6-28DC-33CA-5776-847830EBC34B}"/>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008545"/>
            </a:solidFill>
            <a:ln w="6347" cap="flat">
              <a:noFill/>
              <a:prstDash val="solid"/>
              <a:miter/>
            </a:ln>
          </p:spPr>
          <p:txBody>
            <a:bodyPr rtlCol="0" anchor="ctr"/>
            <a:lstStyle/>
            <a:p>
              <a:endParaRPr lang="en-ZA"/>
            </a:p>
          </p:txBody>
        </p:sp>
        <p:sp>
          <p:nvSpPr>
            <p:cNvPr id="66" name="Freeform: Shape 65">
              <a:extLst>
                <a:ext uri="{FF2B5EF4-FFF2-40B4-BE49-F238E27FC236}">
                  <a16:creationId xmlns:a16="http://schemas.microsoft.com/office/drawing/2014/main" id="{8D3F0B74-99D0-F1D9-4707-DC35545978F9}"/>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003818"/>
            </a:solidFill>
            <a:ln w="6347" cap="flat">
              <a:noFill/>
              <a:prstDash val="solid"/>
              <a:miter/>
            </a:ln>
          </p:spPr>
          <p:txBody>
            <a:bodyPr rtlCol="0" anchor="ctr"/>
            <a:lstStyle/>
            <a:p>
              <a:endParaRPr lang="en-ZA"/>
            </a:p>
          </p:txBody>
        </p:sp>
        <p:sp>
          <p:nvSpPr>
            <p:cNvPr id="67" name="Freeform: Shape 66">
              <a:extLst>
                <a:ext uri="{FF2B5EF4-FFF2-40B4-BE49-F238E27FC236}">
                  <a16:creationId xmlns:a16="http://schemas.microsoft.com/office/drawing/2014/main" id="{B1A99486-8C7B-29B9-48E8-5766D9071403}"/>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68" name="Freeform: Shape 67">
              <a:extLst>
                <a:ext uri="{FF2B5EF4-FFF2-40B4-BE49-F238E27FC236}">
                  <a16:creationId xmlns:a16="http://schemas.microsoft.com/office/drawing/2014/main" id="{50B4A1EC-A051-AA6E-5500-2C53171AEC5B}"/>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69" name="Freeform: Shape 68">
              <a:extLst>
                <a:ext uri="{FF2B5EF4-FFF2-40B4-BE49-F238E27FC236}">
                  <a16:creationId xmlns:a16="http://schemas.microsoft.com/office/drawing/2014/main" id="{AC81EA82-42D7-2D07-5C76-83F95993A673}"/>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004F29"/>
            </a:solidFill>
            <a:ln w="6347" cap="flat">
              <a:noFill/>
              <a:prstDash val="solid"/>
              <a:miter/>
            </a:ln>
          </p:spPr>
          <p:txBody>
            <a:bodyPr rtlCol="0" anchor="ctr"/>
            <a:lstStyle/>
            <a:p>
              <a:endParaRPr lang="en-ZA"/>
            </a:p>
          </p:txBody>
        </p:sp>
        <p:sp>
          <p:nvSpPr>
            <p:cNvPr id="70" name="Freeform: Shape 69">
              <a:extLst>
                <a:ext uri="{FF2B5EF4-FFF2-40B4-BE49-F238E27FC236}">
                  <a16:creationId xmlns:a16="http://schemas.microsoft.com/office/drawing/2014/main" id="{8D7F0192-552A-0FE7-B3D2-7F15776BDA69}"/>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71" name="Freeform: Shape 70">
              <a:extLst>
                <a:ext uri="{FF2B5EF4-FFF2-40B4-BE49-F238E27FC236}">
                  <a16:creationId xmlns:a16="http://schemas.microsoft.com/office/drawing/2014/main" id="{D8039174-C53F-311F-8267-C9DD3DB06826}"/>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72" name="Freeform: Shape 71">
              <a:extLst>
                <a:ext uri="{FF2B5EF4-FFF2-40B4-BE49-F238E27FC236}">
                  <a16:creationId xmlns:a16="http://schemas.microsoft.com/office/drawing/2014/main" id="{FE7093CE-D7B5-56BE-AE8F-A62D9411CD5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008545"/>
            </a:solidFill>
            <a:ln w="6347" cap="flat">
              <a:noFill/>
              <a:prstDash val="solid"/>
              <a:miter/>
            </a:ln>
          </p:spPr>
          <p:txBody>
            <a:bodyPr rtlCol="0" anchor="ctr"/>
            <a:lstStyle/>
            <a:p>
              <a:endParaRPr lang="en-ZA"/>
            </a:p>
          </p:txBody>
        </p:sp>
        <p:sp>
          <p:nvSpPr>
            <p:cNvPr id="73" name="Freeform: Shape 72">
              <a:extLst>
                <a:ext uri="{FF2B5EF4-FFF2-40B4-BE49-F238E27FC236}">
                  <a16:creationId xmlns:a16="http://schemas.microsoft.com/office/drawing/2014/main" id="{94A64A9B-E23F-AC24-D8DC-5010E4A22893}"/>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ADD86F"/>
            </a:solidFill>
            <a:ln w="6347" cap="flat">
              <a:noFill/>
              <a:prstDash val="solid"/>
              <a:miter/>
            </a:ln>
          </p:spPr>
          <p:txBody>
            <a:bodyPr rtlCol="0" anchor="ctr"/>
            <a:lstStyle/>
            <a:p>
              <a:endParaRPr lang="en-ZA"/>
            </a:p>
          </p:txBody>
        </p:sp>
        <p:grpSp>
          <p:nvGrpSpPr>
            <p:cNvPr id="74" name="Graphic 19">
              <a:extLst>
                <a:ext uri="{FF2B5EF4-FFF2-40B4-BE49-F238E27FC236}">
                  <a16:creationId xmlns:a16="http://schemas.microsoft.com/office/drawing/2014/main" id="{D8B478F0-6342-7C70-F9F2-269708D93B8C}"/>
                </a:ext>
              </a:extLst>
            </p:cNvPr>
            <p:cNvGrpSpPr/>
            <p:nvPr/>
          </p:nvGrpSpPr>
          <p:grpSpPr>
            <a:xfrm>
              <a:off x="9950577" y="2095"/>
              <a:ext cx="774572" cy="774509"/>
              <a:chOff x="8756777" y="2095"/>
              <a:chExt cx="774572" cy="774509"/>
            </a:xfrm>
          </p:grpSpPr>
          <p:sp>
            <p:nvSpPr>
              <p:cNvPr id="75" name="Freeform: Shape 74">
                <a:extLst>
                  <a:ext uri="{FF2B5EF4-FFF2-40B4-BE49-F238E27FC236}">
                    <a16:creationId xmlns:a16="http://schemas.microsoft.com/office/drawing/2014/main" id="{0D29C1E3-9A83-827C-9539-C908CB0017CA}"/>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76" name="Freeform: Shape 75">
                <a:extLst>
                  <a:ext uri="{FF2B5EF4-FFF2-40B4-BE49-F238E27FC236}">
                    <a16:creationId xmlns:a16="http://schemas.microsoft.com/office/drawing/2014/main" id="{DAE8E622-891A-0E7E-75F2-48828519B408}"/>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77" name="Freeform: Shape 76">
                <a:extLst>
                  <a:ext uri="{FF2B5EF4-FFF2-40B4-BE49-F238E27FC236}">
                    <a16:creationId xmlns:a16="http://schemas.microsoft.com/office/drawing/2014/main" id="{0DF1CA49-B5C3-E87E-E996-57096D06607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78" name="Freeform: Shape 77">
                <a:extLst>
                  <a:ext uri="{FF2B5EF4-FFF2-40B4-BE49-F238E27FC236}">
                    <a16:creationId xmlns:a16="http://schemas.microsoft.com/office/drawing/2014/main" id="{9550BAED-4651-5A05-D934-7A21539562A6}"/>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79" name="Freeform: Shape 78">
                <a:extLst>
                  <a:ext uri="{FF2B5EF4-FFF2-40B4-BE49-F238E27FC236}">
                    <a16:creationId xmlns:a16="http://schemas.microsoft.com/office/drawing/2014/main" id="{28B2191F-9E12-C8C7-E241-F68FB5407603}"/>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sp>
        <p:nvSpPr>
          <p:cNvPr id="197" name="Rectangle 196">
            <a:extLst>
              <a:ext uri="{FF2B5EF4-FFF2-40B4-BE49-F238E27FC236}">
                <a16:creationId xmlns:a16="http://schemas.microsoft.com/office/drawing/2014/main" id="{B83B58E1-4E7C-23AC-E8AB-A6BC36987D93}"/>
              </a:ext>
            </a:extLst>
          </p:cNvPr>
          <p:cNvSpPr/>
          <p:nvPr userDrawn="1"/>
        </p:nvSpPr>
        <p:spPr>
          <a:xfrm>
            <a:off x="0" y="6444619"/>
            <a:ext cx="12192000" cy="43099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241828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een Var Cover">
    <p:bg>
      <p:bgPr>
        <a:solidFill>
          <a:srgbClr val="003818"/>
        </a:solidFill>
        <a:effectLst/>
      </p:bgPr>
    </p:bg>
    <p:spTree>
      <p:nvGrpSpPr>
        <p:cNvPr id="1" name=""/>
        <p:cNvGrpSpPr/>
        <p:nvPr/>
      </p:nvGrpSpPr>
      <p:grpSpPr>
        <a:xfrm>
          <a:off x="0" y="0"/>
          <a:ext cx="0" cy="0"/>
          <a:chOff x="0" y="0"/>
          <a:chExt cx="0" cy="0"/>
        </a:xfrm>
      </p:grpSpPr>
      <p:grpSp>
        <p:nvGrpSpPr>
          <p:cNvPr id="223" name="Group 222">
            <a:extLst>
              <a:ext uri="{FF2B5EF4-FFF2-40B4-BE49-F238E27FC236}">
                <a16:creationId xmlns:a16="http://schemas.microsoft.com/office/drawing/2014/main" id="{0CA4C240-562A-E38E-FB3B-0DE65FF370AF}"/>
              </a:ext>
            </a:extLst>
          </p:cNvPr>
          <p:cNvGrpSpPr/>
          <p:nvPr userDrawn="1"/>
        </p:nvGrpSpPr>
        <p:grpSpPr>
          <a:xfrm>
            <a:off x="-23160" y="1547770"/>
            <a:ext cx="6697670" cy="5048029"/>
            <a:chOff x="-6692923" y="-3207222"/>
            <a:chExt cx="6697670" cy="5048029"/>
          </a:xfrm>
        </p:grpSpPr>
        <p:sp>
          <p:nvSpPr>
            <p:cNvPr id="7" name="Freeform: Shape 6">
              <a:extLst>
                <a:ext uri="{FF2B5EF4-FFF2-40B4-BE49-F238E27FC236}">
                  <a16:creationId xmlns:a16="http://schemas.microsoft.com/office/drawing/2014/main" id="{305C6822-AE77-F53B-33B7-95EEE310AA42}"/>
                </a:ext>
              </a:extLst>
            </p:cNvPr>
            <p:cNvSpPr/>
            <p:nvPr/>
          </p:nvSpPr>
          <p:spPr>
            <a:xfrm>
              <a:off x="-6676592" y="-3207222"/>
              <a:ext cx="1632320" cy="1682676"/>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008545"/>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6676592" y="-3207222"/>
              <a:ext cx="1632320" cy="1682676"/>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chemeClr val="accent5"/>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6676592" y="-3207222"/>
              <a:ext cx="1632320"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003818"/>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5043220" y="-1524546"/>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chemeClr val="accent5"/>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5043220" y="-1524484"/>
              <a:ext cx="1682676" cy="1699193"/>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003818"/>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003818"/>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006434"/>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3376875" y="-975882"/>
              <a:ext cx="2830360" cy="2816688"/>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chemeClr val="accent5"/>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3377061" y="-435323"/>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5"/>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3376875" y="124910"/>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5"/>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76875" y="702835"/>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5"/>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6692923" y="-152442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008545"/>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6692923" y="-1524484"/>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5868041" y="-1524546"/>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6692923"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5868041"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6676592" y="125157"/>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006434"/>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6676592" y="188752"/>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008545"/>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5700330" y="1110389"/>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chemeClr val="accent5"/>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6676592" y="125157"/>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9C805D"/>
            </a:solidFill>
            <a:ln w="8399" cap="flat">
              <a:noFill/>
              <a:prstDash val="solid"/>
              <a:miter/>
            </a:ln>
          </p:spPr>
          <p:txBody>
            <a:bodyPr rtlCol="0" anchor="ctr"/>
            <a:lstStyle/>
            <a:p>
              <a:endParaRPr lang="en-ZA"/>
            </a:p>
          </p:txBody>
        </p:sp>
      </p:grpSp>
      <p:sp>
        <p:nvSpPr>
          <p:cNvPr id="222" name="Rectangle 221">
            <a:extLst>
              <a:ext uri="{FF2B5EF4-FFF2-40B4-BE49-F238E27FC236}">
                <a16:creationId xmlns:a16="http://schemas.microsoft.com/office/drawing/2014/main" id="{59E4994D-68D0-A472-3417-80CB53FD8BDE}"/>
              </a:ext>
            </a:extLst>
          </p:cNvPr>
          <p:cNvSpPr/>
          <p:nvPr userDrawn="1"/>
        </p:nvSpPr>
        <p:spPr>
          <a:xfrm>
            <a:off x="0" y="6444619"/>
            <a:ext cx="12192000" cy="43099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834892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EF3529-39E0-8463-443F-C5C636898D8D}"/>
              </a:ext>
            </a:extLst>
          </p:cNvPr>
          <p:cNvSpPr/>
          <p:nvPr userDrawn="1"/>
        </p:nvSpPr>
        <p:spPr>
          <a:xfrm>
            <a:off x="0" y="0"/>
            <a:ext cx="12192000" cy="68808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Graphic 6">
            <a:extLst>
              <a:ext uri="{FF2B5EF4-FFF2-40B4-BE49-F238E27FC236}">
                <a16:creationId xmlns:a16="http://schemas.microsoft.com/office/drawing/2014/main" id="{50A8A194-8C25-A2F8-D8E4-809D2DC46F7F}"/>
              </a:ext>
            </a:extLst>
          </p:cNvPr>
          <p:cNvPicPr>
            <a:picLocks noChangeAspect="1"/>
          </p:cNvPicPr>
          <p:nvPr userDrawn="1"/>
        </p:nvPicPr>
        <p:blipFill>
          <a:blip>
            <a:extLst>
              <a:ext uri="{96DAC541-7B7A-43D3-8B79-37D633B846F1}">
                <asvg:svgBlip xmlns:asvg="http://schemas.microsoft.com/office/drawing/2016/SVG/main" r:embed="rId2"/>
              </a:ext>
            </a:extLst>
          </a:blip>
          <a:srcRect r="25556"/>
          <a:stretch/>
        </p:blipFill>
        <p:spPr>
          <a:xfrm>
            <a:off x="5352690" y="15240"/>
            <a:ext cx="6829864" cy="6880860"/>
          </a:xfrm>
          <a:prstGeom prst="rect">
            <a:avLst/>
          </a:prstGeom>
        </p:spPr>
      </p:pic>
      <p:sp>
        <p:nvSpPr>
          <p:cNvPr id="5" name="Slide Number Placeholder 4">
            <a:extLst>
              <a:ext uri="{FF2B5EF4-FFF2-40B4-BE49-F238E27FC236}">
                <a16:creationId xmlns:a16="http://schemas.microsoft.com/office/drawing/2014/main" id="{B4AA8C9C-E4CA-A0C2-BF84-CC7596B5502C}"/>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402824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8491CB-0E59-0580-2119-5498C9A20FBA}"/>
              </a:ext>
            </a:extLst>
          </p:cNvPr>
          <p:cNvSpPr>
            <a:spLocks noGrp="1"/>
          </p:cNvSpPr>
          <p:nvPr>
            <p:ph type="pic" sz="quarter" idx="13"/>
          </p:nvPr>
        </p:nvSpPr>
        <p:spPr>
          <a:xfrm>
            <a:off x="5114926" y="0"/>
            <a:ext cx="4787846" cy="6858000"/>
          </a:xfrm>
        </p:spPr>
        <p:txBody>
          <a:bodyPr/>
          <a:lstStyle/>
          <a:p>
            <a:endParaRPr lang="en-ZA"/>
          </a:p>
        </p:txBody>
      </p:sp>
      <p:sp>
        <p:nvSpPr>
          <p:cNvPr id="7" name="Rectangle 6">
            <a:extLst>
              <a:ext uri="{FF2B5EF4-FFF2-40B4-BE49-F238E27FC236}">
                <a16:creationId xmlns:a16="http://schemas.microsoft.com/office/drawing/2014/main" id="{1A9B5637-C73F-A33C-69D9-80BB032709D2}"/>
              </a:ext>
            </a:extLst>
          </p:cNvPr>
          <p:cNvSpPr/>
          <p:nvPr userDrawn="1"/>
        </p:nvSpPr>
        <p:spPr>
          <a:xfrm>
            <a:off x="-1" y="0"/>
            <a:ext cx="511426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3" name="Graphic 10">
            <a:extLst>
              <a:ext uri="{FF2B5EF4-FFF2-40B4-BE49-F238E27FC236}">
                <a16:creationId xmlns:a16="http://schemas.microsoft.com/office/drawing/2014/main" id="{107C579C-5ED4-B0F7-EB5B-B307FC432A38}"/>
              </a:ext>
            </a:extLst>
          </p:cNvPr>
          <p:cNvGrpSpPr/>
          <p:nvPr userDrawn="1"/>
        </p:nvGrpSpPr>
        <p:grpSpPr>
          <a:xfrm>
            <a:off x="9903436" y="4571149"/>
            <a:ext cx="2288564" cy="2288564"/>
            <a:chOff x="9659449" y="4405026"/>
            <a:chExt cx="2454687" cy="2454687"/>
          </a:xfrm>
        </p:grpSpPr>
        <p:sp>
          <p:nvSpPr>
            <p:cNvPr id="14" name="Freeform: Shape 13">
              <a:extLst>
                <a:ext uri="{FF2B5EF4-FFF2-40B4-BE49-F238E27FC236}">
                  <a16:creationId xmlns:a16="http://schemas.microsoft.com/office/drawing/2014/main" id="{4AFB27C5-9EDE-AE39-272F-0572C15BE9DC}"/>
                </a:ext>
              </a:extLst>
            </p:cNvPr>
            <p:cNvSpPr/>
            <p:nvPr/>
          </p:nvSpPr>
          <p:spPr>
            <a:xfrm rot="10800000">
              <a:off x="9659449" y="4405121"/>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rgbClr val="F4F4F4"/>
            </a:solidFill>
            <a:ln w="9525" cap="flat">
              <a:noFill/>
              <a:prstDash val="solid"/>
              <a:miter/>
            </a:ln>
          </p:spPr>
          <p:txBody>
            <a:bodyPr rtlCol="0" anchor="ctr"/>
            <a:lstStyle/>
            <a:p>
              <a:endParaRPr lang="en-ZA"/>
            </a:p>
          </p:txBody>
        </p:sp>
        <p:grpSp>
          <p:nvGrpSpPr>
            <p:cNvPr id="15" name="Graphic 10">
              <a:extLst>
                <a:ext uri="{FF2B5EF4-FFF2-40B4-BE49-F238E27FC236}">
                  <a16:creationId xmlns:a16="http://schemas.microsoft.com/office/drawing/2014/main" id="{472DE2D7-1AAC-739C-2D8F-DC8581E99D4C}"/>
                </a:ext>
              </a:extLst>
            </p:cNvPr>
            <p:cNvGrpSpPr/>
            <p:nvPr/>
          </p:nvGrpSpPr>
          <p:grpSpPr>
            <a:xfrm>
              <a:off x="9659449" y="4405026"/>
              <a:ext cx="2454687" cy="2454687"/>
              <a:chOff x="9659449" y="4405026"/>
              <a:chExt cx="2454687" cy="2454687"/>
            </a:xfrm>
            <a:solidFill>
              <a:srgbClr val="008545"/>
            </a:solidFill>
          </p:grpSpPr>
          <p:sp>
            <p:nvSpPr>
              <p:cNvPr id="16" name="Freeform: Shape 15">
                <a:extLst>
                  <a:ext uri="{FF2B5EF4-FFF2-40B4-BE49-F238E27FC236}">
                    <a16:creationId xmlns:a16="http://schemas.microsoft.com/office/drawing/2014/main" id="{54B07176-7E9D-16F1-2B8D-CC1DF8A28C9B}"/>
                  </a:ext>
                </a:extLst>
              </p:cNvPr>
              <p:cNvSpPr/>
              <p:nvPr/>
            </p:nvSpPr>
            <p:spPr>
              <a:xfrm>
                <a:off x="9659449" y="4405122"/>
                <a:ext cx="2454592" cy="2454592"/>
              </a:xfrm>
              <a:custGeom>
                <a:avLst/>
                <a:gdLst>
                  <a:gd name="connsiteX0" fmla="*/ 66389 w 2454592"/>
                  <a:gd name="connsiteY0" fmla="*/ 0 h 2454592"/>
                  <a:gd name="connsiteX1" fmla="*/ 0 w 2454592"/>
                  <a:gd name="connsiteY1" fmla="*/ 0 h 2454592"/>
                  <a:gd name="connsiteX2" fmla="*/ 2454593 w 2454592"/>
                  <a:gd name="connsiteY2" fmla="*/ 2454592 h 2454592"/>
                  <a:gd name="connsiteX3" fmla="*/ 2454593 w 2454592"/>
                  <a:gd name="connsiteY3" fmla="*/ 2388203 h 2454592"/>
                  <a:gd name="connsiteX4" fmla="*/ 66389 w 2454592"/>
                  <a:gd name="connsiteY4" fmla="*/ 0 h 2454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592" h="2454592">
                    <a:moveTo>
                      <a:pt x="66389" y="0"/>
                    </a:moveTo>
                    <a:lnTo>
                      <a:pt x="0" y="0"/>
                    </a:lnTo>
                    <a:cubicBezTo>
                      <a:pt x="0" y="1353502"/>
                      <a:pt x="1101185" y="2454592"/>
                      <a:pt x="2454593" y="2454592"/>
                    </a:cubicBezTo>
                    <a:lnTo>
                      <a:pt x="2454593" y="2388203"/>
                    </a:lnTo>
                    <a:cubicBezTo>
                      <a:pt x="1137761" y="2388203"/>
                      <a:pt x="66389" y="1316831"/>
                      <a:pt x="66389" y="0"/>
                    </a:cubicBezTo>
                    <a:close/>
                  </a:path>
                </a:pathLst>
              </a:custGeom>
              <a:solidFill>
                <a:schemeClr val="tx2"/>
              </a:solidFill>
              <a:ln w="9525"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23F01FCE-1B24-DE78-33CA-92B1C62B7B36}"/>
                  </a:ext>
                </a:extLst>
              </p:cNvPr>
              <p:cNvSpPr/>
              <p:nvPr/>
            </p:nvSpPr>
            <p:spPr>
              <a:xfrm>
                <a:off x="10261619" y="4405122"/>
                <a:ext cx="1852517" cy="1852517"/>
              </a:xfrm>
              <a:custGeom>
                <a:avLst/>
                <a:gdLst>
                  <a:gd name="connsiteX0" fmla="*/ 66389 w 1852517"/>
                  <a:gd name="connsiteY0" fmla="*/ 0 h 1852517"/>
                  <a:gd name="connsiteX1" fmla="*/ 0 w 1852517"/>
                  <a:gd name="connsiteY1" fmla="*/ 0 h 1852517"/>
                  <a:gd name="connsiteX2" fmla="*/ 1852517 w 1852517"/>
                  <a:gd name="connsiteY2" fmla="*/ 1852517 h 1852517"/>
                  <a:gd name="connsiteX3" fmla="*/ 1852517 w 1852517"/>
                  <a:gd name="connsiteY3" fmla="*/ 1786128 h 1852517"/>
                  <a:gd name="connsiteX4" fmla="*/ 66389 w 1852517"/>
                  <a:gd name="connsiteY4" fmla="*/ 0 h 1852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517" h="1852517">
                    <a:moveTo>
                      <a:pt x="66389" y="0"/>
                    </a:moveTo>
                    <a:lnTo>
                      <a:pt x="0" y="0"/>
                    </a:lnTo>
                    <a:cubicBezTo>
                      <a:pt x="0" y="1021461"/>
                      <a:pt x="831056" y="1852517"/>
                      <a:pt x="1852517" y="1852517"/>
                    </a:cubicBezTo>
                    <a:lnTo>
                      <a:pt x="1852517" y="1786128"/>
                    </a:lnTo>
                    <a:cubicBezTo>
                      <a:pt x="867632" y="1786128"/>
                      <a:pt x="66389" y="984885"/>
                      <a:pt x="66389" y="0"/>
                    </a:cubicBezTo>
                    <a:close/>
                  </a:path>
                </a:pathLst>
              </a:custGeom>
              <a:solidFill>
                <a:schemeClr val="tx2"/>
              </a:solidFill>
              <a:ln w="9525" cap="flat">
                <a:no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72AD930C-3F2A-8255-86D8-B91438571957}"/>
                  </a:ext>
                </a:extLst>
              </p:cNvPr>
              <p:cNvSpPr/>
              <p:nvPr/>
            </p:nvSpPr>
            <p:spPr>
              <a:xfrm>
                <a:off x="10870171" y="4405026"/>
                <a:ext cx="1243869" cy="1243965"/>
              </a:xfrm>
              <a:custGeom>
                <a:avLst/>
                <a:gdLst>
                  <a:gd name="connsiteX0" fmla="*/ 66389 w 1243869"/>
                  <a:gd name="connsiteY0" fmla="*/ 95 h 1243965"/>
                  <a:gd name="connsiteX1" fmla="*/ 0 w 1243869"/>
                  <a:gd name="connsiteY1" fmla="*/ 95 h 1243965"/>
                  <a:gd name="connsiteX2" fmla="*/ 1243870 w 1243869"/>
                  <a:gd name="connsiteY2" fmla="*/ 1243965 h 1243965"/>
                  <a:gd name="connsiteX3" fmla="*/ 1243870 w 1243869"/>
                  <a:gd name="connsiteY3" fmla="*/ 1177576 h 1243965"/>
                  <a:gd name="connsiteX4" fmla="*/ 66389 w 1243869"/>
                  <a:gd name="connsiteY4" fmla="*/ 0 h 124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69" h="1243965">
                    <a:moveTo>
                      <a:pt x="66389" y="95"/>
                    </a:moveTo>
                    <a:lnTo>
                      <a:pt x="0" y="95"/>
                    </a:lnTo>
                    <a:cubicBezTo>
                      <a:pt x="0" y="685990"/>
                      <a:pt x="557975" y="1243965"/>
                      <a:pt x="1243870" y="1243965"/>
                    </a:cubicBezTo>
                    <a:lnTo>
                      <a:pt x="1243870" y="1177576"/>
                    </a:lnTo>
                    <a:cubicBezTo>
                      <a:pt x="594551" y="1177576"/>
                      <a:pt x="66389" y="649319"/>
                      <a:pt x="66389" y="0"/>
                    </a:cubicBezTo>
                    <a:close/>
                  </a:path>
                </a:pathLst>
              </a:custGeom>
              <a:solidFill>
                <a:schemeClr val="tx2"/>
              </a:solidFill>
              <a:ln w="9525"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FB8F766C-F083-3050-72BA-01090E1F8187}"/>
                  </a:ext>
                </a:extLst>
              </p:cNvPr>
              <p:cNvSpPr/>
              <p:nvPr/>
            </p:nvSpPr>
            <p:spPr>
              <a:xfrm>
                <a:off x="11396808" y="4405122"/>
                <a:ext cx="717232" cy="717232"/>
              </a:xfrm>
              <a:custGeom>
                <a:avLst/>
                <a:gdLst>
                  <a:gd name="connsiteX0" fmla="*/ 66389 w 717232"/>
                  <a:gd name="connsiteY0" fmla="*/ 0 h 717232"/>
                  <a:gd name="connsiteX1" fmla="*/ 0 w 717232"/>
                  <a:gd name="connsiteY1" fmla="*/ 0 h 717232"/>
                  <a:gd name="connsiteX2" fmla="*/ 717233 w 717232"/>
                  <a:gd name="connsiteY2" fmla="*/ 717232 h 717232"/>
                  <a:gd name="connsiteX3" fmla="*/ 717233 w 717232"/>
                  <a:gd name="connsiteY3" fmla="*/ 650843 h 717232"/>
                  <a:gd name="connsiteX4" fmla="*/ 66389 w 717232"/>
                  <a:gd name="connsiteY4" fmla="*/ 0 h 7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232" h="717232">
                    <a:moveTo>
                      <a:pt x="66389" y="0"/>
                    </a:moveTo>
                    <a:lnTo>
                      <a:pt x="0" y="0"/>
                    </a:lnTo>
                    <a:cubicBezTo>
                      <a:pt x="0" y="395478"/>
                      <a:pt x="321755" y="717232"/>
                      <a:pt x="717233" y="717232"/>
                    </a:cubicBezTo>
                    <a:lnTo>
                      <a:pt x="717233" y="650843"/>
                    </a:lnTo>
                    <a:cubicBezTo>
                      <a:pt x="358331" y="650843"/>
                      <a:pt x="66389" y="358902"/>
                      <a:pt x="66389" y="0"/>
                    </a:cubicBezTo>
                    <a:close/>
                  </a:path>
                </a:pathLst>
              </a:custGeom>
              <a:solidFill>
                <a:schemeClr val="tx2"/>
              </a:solidFill>
              <a:ln w="9525" cap="flat">
                <a:noFill/>
                <a:prstDash val="solid"/>
                <a:miter/>
              </a:ln>
            </p:spPr>
            <p:txBody>
              <a:bodyPr rtlCol="0" anchor="ctr"/>
              <a:lstStyle/>
              <a:p>
                <a:endParaRPr lang="en-ZA"/>
              </a:p>
            </p:txBody>
          </p:sp>
        </p:grpSp>
      </p:grpSp>
      <p:grpSp>
        <p:nvGrpSpPr>
          <p:cNvPr id="20" name="Graphic 10">
            <a:extLst>
              <a:ext uri="{FF2B5EF4-FFF2-40B4-BE49-F238E27FC236}">
                <a16:creationId xmlns:a16="http://schemas.microsoft.com/office/drawing/2014/main" id="{5E98ADCC-7CF7-B0AB-A1BE-895F56745DAF}"/>
              </a:ext>
            </a:extLst>
          </p:cNvPr>
          <p:cNvGrpSpPr/>
          <p:nvPr userDrawn="1"/>
        </p:nvGrpSpPr>
        <p:grpSpPr>
          <a:xfrm>
            <a:off x="9903525" y="2284716"/>
            <a:ext cx="2288475" cy="2288476"/>
            <a:chOff x="9659449" y="1952625"/>
            <a:chExt cx="2454592" cy="2454592"/>
          </a:xfrm>
        </p:grpSpPr>
        <p:sp>
          <p:nvSpPr>
            <p:cNvPr id="21" name="Freeform: Shape 20">
              <a:extLst>
                <a:ext uri="{FF2B5EF4-FFF2-40B4-BE49-F238E27FC236}">
                  <a16:creationId xmlns:a16="http://schemas.microsoft.com/office/drawing/2014/main" id="{3F5C3639-5873-CC2E-198E-73AF45ED827B}"/>
                </a:ext>
              </a:extLst>
            </p:cNvPr>
            <p:cNvSpPr/>
            <p:nvPr/>
          </p:nvSpPr>
          <p:spPr>
            <a:xfrm>
              <a:off x="9659449" y="1952625"/>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chemeClr val="accent4"/>
            </a:solidFill>
            <a:ln w="9525"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37439517-A531-5FE9-147E-6FB0B5568723}"/>
                </a:ext>
              </a:extLst>
            </p:cNvPr>
            <p:cNvSpPr/>
            <p:nvPr/>
          </p:nvSpPr>
          <p:spPr>
            <a:xfrm rot="10800000">
              <a:off x="1139680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90E94773-89CB-7DDB-AD73-B3EA63C0364F}"/>
                </a:ext>
              </a:extLst>
            </p:cNvPr>
            <p:cNvSpPr/>
            <p:nvPr/>
          </p:nvSpPr>
          <p:spPr>
            <a:xfrm rot="10800000">
              <a:off x="10870171"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C81607AB-084A-B478-2A58-73C2A9863386}"/>
                </a:ext>
              </a:extLst>
            </p:cNvPr>
            <p:cNvSpPr/>
            <p:nvPr/>
          </p:nvSpPr>
          <p:spPr>
            <a:xfrm rot="10800000">
              <a:off x="10264858"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0BB75D5F-BDAB-8B8A-EB3B-DDB4A1634A17}"/>
                </a:ext>
              </a:extLst>
            </p:cNvPr>
            <p:cNvSpPr/>
            <p:nvPr/>
          </p:nvSpPr>
          <p:spPr>
            <a:xfrm rot="10800000">
              <a:off x="965944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grpSp>
      <p:sp>
        <p:nvSpPr>
          <p:cNvPr id="27" name="Freeform: Shape 26">
            <a:extLst>
              <a:ext uri="{FF2B5EF4-FFF2-40B4-BE49-F238E27FC236}">
                <a16:creationId xmlns:a16="http://schemas.microsoft.com/office/drawing/2014/main" id="{FCAFC1E3-8044-9EC8-17BA-0F7D843A0355}"/>
              </a:ext>
            </a:extLst>
          </p:cNvPr>
          <p:cNvSpPr/>
          <p:nvPr userDrawn="1"/>
        </p:nvSpPr>
        <p:spPr>
          <a:xfrm rot="10800000">
            <a:off x="9903524" y="0"/>
            <a:ext cx="2288476" cy="2288477"/>
          </a:xfrm>
          <a:custGeom>
            <a:avLst/>
            <a:gdLst>
              <a:gd name="connsiteX0" fmla="*/ 0 w 4907089"/>
              <a:gd name="connsiteY0" fmla="*/ 0 h 4907089"/>
              <a:gd name="connsiteX1" fmla="*/ 4907090 w 4907089"/>
              <a:gd name="connsiteY1" fmla="*/ 0 h 4907089"/>
              <a:gd name="connsiteX2" fmla="*/ 4907090 w 4907089"/>
              <a:gd name="connsiteY2" fmla="*/ 4907090 h 4907089"/>
              <a:gd name="connsiteX3" fmla="*/ 0 w 4907089"/>
              <a:gd name="connsiteY3" fmla="*/ 4907090 h 4907089"/>
            </a:gdLst>
            <a:ahLst/>
            <a:cxnLst>
              <a:cxn ang="0">
                <a:pos x="connsiteX0" y="connsiteY0"/>
              </a:cxn>
              <a:cxn ang="0">
                <a:pos x="connsiteX1" y="connsiteY1"/>
              </a:cxn>
              <a:cxn ang="0">
                <a:pos x="connsiteX2" y="connsiteY2"/>
              </a:cxn>
              <a:cxn ang="0">
                <a:pos x="connsiteX3" y="connsiteY3"/>
              </a:cxn>
            </a:cxnLst>
            <a:rect l="l" t="t" r="r" b="b"/>
            <a:pathLst>
              <a:path w="4907089" h="4907089">
                <a:moveTo>
                  <a:pt x="0" y="0"/>
                </a:moveTo>
                <a:lnTo>
                  <a:pt x="4907090" y="0"/>
                </a:lnTo>
                <a:lnTo>
                  <a:pt x="4907090" y="4907090"/>
                </a:lnTo>
                <a:lnTo>
                  <a:pt x="0" y="4907090"/>
                </a:lnTo>
                <a:close/>
              </a:path>
            </a:pathLst>
          </a:custGeom>
          <a:solidFill>
            <a:schemeClr val="accent1"/>
          </a:solidFill>
          <a:ln w="9525" cap="flat">
            <a:noFill/>
            <a:prstDash val="solid"/>
            <a:miter/>
          </a:ln>
        </p:spPr>
        <p:txBody>
          <a:bodyPr rtlCol="0" anchor="ctr"/>
          <a:lstStyle/>
          <a:p>
            <a:endParaRPr lang="en-ZA"/>
          </a:p>
        </p:txBody>
      </p:sp>
      <p:grpSp>
        <p:nvGrpSpPr>
          <p:cNvPr id="28" name="Graphic 10">
            <a:extLst>
              <a:ext uri="{FF2B5EF4-FFF2-40B4-BE49-F238E27FC236}">
                <a16:creationId xmlns:a16="http://schemas.microsoft.com/office/drawing/2014/main" id="{A3D50B3D-C2D8-A3BE-5782-71DE5FF954C3}"/>
              </a:ext>
            </a:extLst>
          </p:cNvPr>
          <p:cNvGrpSpPr/>
          <p:nvPr userDrawn="1"/>
        </p:nvGrpSpPr>
        <p:grpSpPr>
          <a:xfrm>
            <a:off x="9903480" y="0"/>
            <a:ext cx="2288476" cy="2288477"/>
            <a:chOff x="12114041" y="1952625"/>
            <a:chExt cx="4907089" cy="4907089"/>
          </a:xfrm>
          <a:solidFill>
            <a:schemeClr val="accent2"/>
          </a:solidFill>
        </p:grpSpPr>
        <p:sp>
          <p:nvSpPr>
            <p:cNvPr id="29" name="Freeform: Shape 28">
              <a:extLst>
                <a:ext uri="{FF2B5EF4-FFF2-40B4-BE49-F238E27FC236}">
                  <a16:creationId xmlns:a16="http://schemas.microsoft.com/office/drawing/2014/main" id="{1B5AAC01-B805-E7EB-D79E-55BF28E215A7}"/>
                </a:ext>
              </a:extLst>
            </p:cNvPr>
            <p:cNvSpPr/>
            <p:nvPr/>
          </p:nvSpPr>
          <p:spPr>
            <a:xfrm>
              <a:off x="15949377" y="5787008"/>
              <a:ext cx="1071753" cy="1072705"/>
            </a:xfrm>
            <a:custGeom>
              <a:avLst/>
              <a:gdLst>
                <a:gd name="connsiteX0" fmla="*/ 953 w 1071753"/>
                <a:gd name="connsiteY0" fmla="*/ 1072706 h 1072705"/>
                <a:gd name="connsiteX1" fmla="*/ 503777 w 1071753"/>
                <a:gd name="connsiteY1" fmla="*/ 1072706 h 1072705"/>
                <a:gd name="connsiteX2" fmla="*/ 1071753 w 1071753"/>
                <a:gd name="connsiteY2" fmla="*/ 504730 h 1072705"/>
                <a:gd name="connsiteX3" fmla="*/ 1071753 w 1071753"/>
                <a:gd name="connsiteY3" fmla="*/ 0 h 1072705"/>
                <a:gd name="connsiteX4" fmla="*/ 0 w 1071753"/>
                <a:gd name="connsiteY4" fmla="*/ 1071849 h 1072705"/>
                <a:gd name="connsiteX5" fmla="*/ 953 w 1071753"/>
                <a:gd name="connsiteY5" fmla="*/ 1072706 h 107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753" h="1072705">
                  <a:moveTo>
                    <a:pt x="953" y="1072706"/>
                  </a:moveTo>
                  <a:lnTo>
                    <a:pt x="503777" y="1072706"/>
                  </a:lnTo>
                  <a:lnTo>
                    <a:pt x="1071753" y="504730"/>
                  </a:lnTo>
                  <a:lnTo>
                    <a:pt x="1071753" y="0"/>
                  </a:lnTo>
                  <a:lnTo>
                    <a:pt x="0" y="1071849"/>
                  </a:lnTo>
                  <a:lnTo>
                    <a:pt x="953" y="1072706"/>
                  </a:lnTo>
                  <a:close/>
                </a:path>
              </a:pathLst>
            </a:custGeom>
            <a:grpFill/>
            <a:ln w="9525" cap="flat">
              <a:noFill/>
              <a:prstDash val="solid"/>
              <a:miter/>
            </a:ln>
          </p:spPr>
          <p:txBody>
            <a:bodyPr rtlCol="0" anchor="ctr"/>
            <a:lstStyle/>
            <a:p>
              <a:endParaRPr lang="en-ZA"/>
            </a:p>
          </p:txBody>
        </p:sp>
        <p:sp>
          <p:nvSpPr>
            <p:cNvPr id="30" name="Freeform: Shape 29">
              <a:extLst>
                <a:ext uri="{FF2B5EF4-FFF2-40B4-BE49-F238E27FC236}">
                  <a16:creationId xmlns:a16="http://schemas.microsoft.com/office/drawing/2014/main" id="{30345E4E-E6D6-4873-20AF-D610926F3A2E}"/>
                </a:ext>
              </a:extLst>
            </p:cNvPr>
            <p:cNvSpPr/>
            <p:nvPr/>
          </p:nvSpPr>
          <p:spPr>
            <a:xfrm>
              <a:off x="14579587" y="4417218"/>
              <a:ext cx="2441543" cy="2442495"/>
            </a:xfrm>
            <a:custGeom>
              <a:avLst/>
              <a:gdLst>
                <a:gd name="connsiteX0" fmla="*/ 858 w 2441543"/>
                <a:gd name="connsiteY0" fmla="*/ 2442496 h 2442495"/>
                <a:gd name="connsiteX1" fmla="*/ 503777 w 2441543"/>
                <a:gd name="connsiteY1" fmla="*/ 2442496 h 2442495"/>
                <a:gd name="connsiteX2" fmla="*/ 2441544 w 2441543"/>
                <a:gd name="connsiteY2" fmla="*/ 504635 h 2442495"/>
                <a:gd name="connsiteX3" fmla="*/ 2441544 w 2441543"/>
                <a:gd name="connsiteY3" fmla="*/ 0 h 2442495"/>
                <a:gd name="connsiteX4" fmla="*/ 0 w 2441543"/>
                <a:gd name="connsiteY4" fmla="*/ 2441639 h 2442495"/>
                <a:gd name="connsiteX5" fmla="*/ 858 w 2441543"/>
                <a:gd name="connsiteY5" fmla="*/ 2442496 h 244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1543" h="2442495">
                  <a:moveTo>
                    <a:pt x="858" y="2442496"/>
                  </a:moveTo>
                  <a:lnTo>
                    <a:pt x="503777" y="2442496"/>
                  </a:lnTo>
                  <a:lnTo>
                    <a:pt x="2441544" y="504635"/>
                  </a:lnTo>
                  <a:lnTo>
                    <a:pt x="2441544" y="0"/>
                  </a:lnTo>
                  <a:lnTo>
                    <a:pt x="0" y="2441639"/>
                  </a:lnTo>
                  <a:lnTo>
                    <a:pt x="858" y="2442496"/>
                  </a:lnTo>
                  <a:close/>
                </a:path>
              </a:pathLst>
            </a:custGeom>
            <a:grpFill/>
            <a:ln w="9525" cap="flat">
              <a:noFill/>
              <a:prstDash val="solid"/>
              <a:miter/>
            </a:ln>
          </p:spPr>
          <p:txBody>
            <a:bodyPr rtlCol="0" anchor="ctr"/>
            <a:lstStyle/>
            <a:p>
              <a:endParaRPr lang="en-ZA"/>
            </a:p>
          </p:txBody>
        </p:sp>
        <p:sp>
          <p:nvSpPr>
            <p:cNvPr id="31" name="Freeform: Shape 30">
              <a:extLst>
                <a:ext uri="{FF2B5EF4-FFF2-40B4-BE49-F238E27FC236}">
                  <a16:creationId xmlns:a16="http://schemas.microsoft.com/office/drawing/2014/main" id="{59E30E0A-2925-D13B-C17D-3852DCD7305F}"/>
                </a:ext>
              </a:extLst>
            </p:cNvPr>
            <p:cNvSpPr/>
            <p:nvPr/>
          </p:nvSpPr>
          <p:spPr>
            <a:xfrm>
              <a:off x="13209702" y="3047333"/>
              <a:ext cx="3811428" cy="3812381"/>
            </a:xfrm>
            <a:custGeom>
              <a:avLst/>
              <a:gdLst>
                <a:gd name="connsiteX0" fmla="*/ 952 w 3811428"/>
                <a:gd name="connsiteY0" fmla="*/ 3812381 h 3812381"/>
                <a:gd name="connsiteX1" fmla="*/ 503777 w 3811428"/>
                <a:gd name="connsiteY1" fmla="*/ 3812381 h 3812381"/>
                <a:gd name="connsiteX2" fmla="*/ 3811429 w 3811428"/>
                <a:gd name="connsiteY2" fmla="*/ 504730 h 3812381"/>
                <a:gd name="connsiteX3" fmla="*/ 3811429 w 3811428"/>
                <a:gd name="connsiteY3" fmla="*/ 0 h 3812381"/>
                <a:gd name="connsiteX4" fmla="*/ 0 w 3811428"/>
                <a:gd name="connsiteY4" fmla="*/ 3811524 h 3812381"/>
                <a:gd name="connsiteX5" fmla="*/ 952 w 3811428"/>
                <a:gd name="connsiteY5" fmla="*/ 3812381 h 38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1428" h="3812381">
                  <a:moveTo>
                    <a:pt x="952" y="3812381"/>
                  </a:moveTo>
                  <a:lnTo>
                    <a:pt x="503777" y="3812381"/>
                  </a:lnTo>
                  <a:lnTo>
                    <a:pt x="3811429" y="504730"/>
                  </a:lnTo>
                  <a:lnTo>
                    <a:pt x="3811429" y="0"/>
                  </a:lnTo>
                  <a:lnTo>
                    <a:pt x="0" y="3811524"/>
                  </a:lnTo>
                  <a:lnTo>
                    <a:pt x="952" y="3812381"/>
                  </a:lnTo>
                  <a:close/>
                </a:path>
              </a:pathLst>
            </a:custGeom>
            <a:grpFill/>
            <a:ln w="9525" cap="flat">
              <a:noFill/>
              <a:prstDash val="solid"/>
              <a:miter/>
            </a:ln>
          </p:spPr>
          <p:txBody>
            <a:bodyPr rtlCol="0" anchor="ctr"/>
            <a:lstStyle/>
            <a:p>
              <a:endParaRPr lang="en-ZA"/>
            </a:p>
          </p:txBody>
        </p:sp>
        <p:sp>
          <p:nvSpPr>
            <p:cNvPr id="32" name="Freeform: Shape 31">
              <a:extLst>
                <a:ext uri="{FF2B5EF4-FFF2-40B4-BE49-F238E27FC236}">
                  <a16:creationId xmlns:a16="http://schemas.microsoft.com/office/drawing/2014/main" id="{34D90E7C-0467-5452-FF89-38C193884973}"/>
                </a:ext>
              </a:extLst>
            </p:cNvPr>
            <p:cNvSpPr/>
            <p:nvPr/>
          </p:nvSpPr>
          <p:spPr>
            <a:xfrm>
              <a:off x="12114041" y="1952625"/>
              <a:ext cx="4907089" cy="4907089"/>
            </a:xfrm>
            <a:custGeom>
              <a:avLst/>
              <a:gdLst>
                <a:gd name="connsiteX0" fmla="*/ 0 w 4907089"/>
                <a:gd name="connsiteY0" fmla="*/ 4907090 h 4907089"/>
                <a:gd name="connsiteX1" fmla="*/ 229648 w 4907089"/>
                <a:gd name="connsiteY1" fmla="*/ 4907090 h 4907089"/>
                <a:gd name="connsiteX2" fmla="*/ 4907090 w 4907089"/>
                <a:gd name="connsiteY2" fmla="*/ 229553 h 4907089"/>
                <a:gd name="connsiteX3" fmla="*/ 4907090 w 4907089"/>
                <a:gd name="connsiteY3" fmla="*/ 0 h 4907089"/>
                <a:gd name="connsiteX4" fmla="*/ 4632008 w 4907089"/>
                <a:gd name="connsiteY4" fmla="*/ 0 h 4907089"/>
                <a:gd name="connsiteX5" fmla="*/ 0 w 4907089"/>
                <a:gd name="connsiteY5" fmla="*/ 4632008 h 4907089"/>
                <a:gd name="connsiteX6" fmla="*/ 0 w 4907089"/>
                <a:gd name="connsiteY6" fmla="*/ 4907090 h 49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7089" h="4907089">
                  <a:moveTo>
                    <a:pt x="0" y="4907090"/>
                  </a:moveTo>
                  <a:lnTo>
                    <a:pt x="229648" y="4907090"/>
                  </a:lnTo>
                  <a:lnTo>
                    <a:pt x="4907090" y="229553"/>
                  </a:lnTo>
                  <a:lnTo>
                    <a:pt x="4907090" y="0"/>
                  </a:lnTo>
                  <a:lnTo>
                    <a:pt x="4632008" y="0"/>
                  </a:lnTo>
                  <a:lnTo>
                    <a:pt x="0" y="4632008"/>
                  </a:lnTo>
                  <a:lnTo>
                    <a:pt x="0" y="4907090"/>
                  </a:lnTo>
                  <a:close/>
                </a:path>
              </a:pathLst>
            </a:custGeom>
            <a:grpFill/>
            <a:ln w="9525"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12403D84-03CA-0631-5A53-1C82A599FE7B}"/>
                </a:ext>
              </a:extLst>
            </p:cNvPr>
            <p:cNvSpPr/>
            <p:nvPr/>
          </p:nvSpPr>
          <p:spPr>
            <a:xfrm>
              <a:off x="12114041" y="1952625"/>
              <a:ext cx="3766851" cy="3766851"/>
            </a:xfrm>
            <a:custGeom>
              <a:avLst/>
              <a:gdLst>
                <a:gd name="connsiteX0" fmla="*/ 0 w 3766851"/>
                <a:gd name="connsiteY0" fmla="*/ 3766852 h 3766851"/>
                <a:gd name="connsiteX1" fmla="*/ 3766852 w 3766851"/>
                <a:gd name="connsiteY1" fmla="*/ 0 h 3766851"/>
                <a:gd name="connsiteX2" fmla="*/ 3262217 w 3766851"/>
                <a:gd name="connsiteY2" fmla="*/ 0 h 3766851"/>
                <a:gd name="connsiteX3" fmla="*/ 0 w 3766851"/>
                <a:gd name="connsiteY3" fmla="*/ 3262122 h 3766851"/>
                <a:gd name="connsiteX4" fmla="*/ 0 w 3766851"/>
                <a:gd name="connsiteY4" fmla="*/ 3766852 h 3766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6851" h="3766851">
                  <a:moveTo>
                    <a:pt x="0" y="3766852"/>
                  </a:moveTo>
                  <a:lnTo>
                    <a:pt x="3766852" y="0"/>
                  </a:lnTo>
                  <a:lnTo>
                    <a:pt x="3262217" y="0"/>
                  </a:lnTo>
                  <a:lnTo>
                    <a:pt x="0" y="3262122"/>
                  </a:lnTo>
                  <a:lnTo>
                    <a:pt x="0" y="3766852"/>
                  </a:lnTo>
                  <a:close/>
                </a:path>
              </a:pathLst>
            </a:custGeom>
            <a:grpFill/>
            <a:ln w="9525"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0B0A6EB0-8B07-CFE8-47B8-0164AEDAEC94}"/>
                </a:ext>
              </a:extLst>
            </p:cNvPr>
            <p:cNvSpPr/>
            <p:nvPr/>
          </p:nvSpPr>
          <p:spPr>
            <a:xfrm>
              <a:off x="12114041" y="1952625"/>
              <a:ext cx="2397061" cy="2396966"/>
            </a:xfrm>
            <a:custGeom>
              <a:avLst/>
              <a:gdLst>
                <a:gd name="connsiteX0" fmla="*/ 0 w 2397061"/>
                <a:gd name="connsiteY0" fmla="*/ 2396966 h 2396966"/>
                <a:gd name="connsiteX1" fmla="*/ 2397061 w 2397061"/>
                <a:gd name="connsiteY1" fmla="*/ 0 h 2396966"/>
                <a:gd name="connsiteX2" fmla="*/ 1892332 w 2397061"/>
                <a:gd name="connsiteY2" fmla="*/ 0 h 2396966"/>
                <a:gd name="connsiteX3" fmla="*/ 0 w 2397061"/>
                <a:gd name="connsiteY3" fmla="*/ 1892332 h 2396966"/>
                <a:gd name="connsiteX4" fmla="*/ 0 w 2397061"/>
                <a:gd name="connsiteY4" fmla="*/ 2396966 h 239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061" h="2396966">
                  <a:moveTo>
                    <a:pt x="0" y="2396966"/>
                  </a:moveTo>
                  <a:lnTo>
                    <a:pt x="2397061" y="0"/>
                  </a:lnTo>
                  <a:lnTo>
                    <a:pt x="1892332" y="0"/>
                  </a:lnTo>
                  <a:lnTo>
                    <a:pt x="0" y="1892332"/>
                  </a:lnTo>
                  <a:lnTo>
                    <a:pt x="0" y="2396966"/>
                  </a:lnTo>
                  <a:close/>
                </a:path>
              </a:pathLst>
            </a:custGeom>
            <a:grpFill/>
            <a:ln w="9525"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46A35C73-ACA6-519B-4F11-C3C11B75F98B}"/>
                </a:ext>
              </a:extLst>
            </p:cNvPr>
            <p:cNvSpPr/>
            <p:nvPr/>
          </p:nvSpPr>
          <p:spPr>
            <a:xfrm>
              <a:off x="12114041" y="1952625"/>
              <a:ext cx="1027175" cy="1027175"/>
            </a:xfrm>
            <a:custGeom>
              <a:avLst/>
              <a:gdLst>
                <a:gd name="connsiteX0" fmla="*/ 0 w 1027175"/>
                <a:gd name="connsiteY0" fmla="*/ 1027176 h 1027175"/>
                <a:gd name="connsiteX1" fmla="*/ 1027176 w 1027175"/>
                <a:gd name="connsiteY1" fmla="*/ 0 h 1027175"/>
                <a:gd name="connsiteX2" fmla="*/ 522541 w 1027175"/>
                <a:gd name="connsiteY2" fmla="*/ 0 h 1027175"/>
                <a:gd name="connsiteX3" fmla="*/ 0 w 1027175"/>
                <a:gd name="connsiteY3" fmla="*/ 522446 h 1027175"/>
                <a:gd name="connsiteX4" fmla="*/ 0 w 1027175"/>
                <a:gd name="connsiteY4" fmla="*/ 1027176 h 1027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175" h="1027175">
                  <a:moveTo>
                    <a:pt x="0" y="1027176"/>
                  </a:moveTo>
                  <a:lnTo>
                    <a:pt x="1027176" y="0"/>
                  </a:lnTo>
                  <a:lnTo>
                    <a:pt x="522541" y="0"/>
                  </a:lnTo>
                  <a:lnTo>
                    <a:pt x="0" y="522446"/>
                  </a:lnTo>
                  <a:lnTo>
                    <a:pt x="0" y="1027176"/>
                  </a:lnTo>
                  <a:close/>
                </a:path>
              </a:pathLst>
            </a:custGeom>
            <a:grpFill/>
            <a:ln w="9525" cap="flat">
              <a:noFill/>
              <a:prstDash val="solid"/>
              <a:miter/>
            </a:ln>
          </p:spPr>
          <p:txBody>
            <a:bodyPr rtlCol="0" anchor="ctr"/>
            <a:lstStyle/>
            <a:p>
              <a:endParaRPr lang="en-ZA"/>
            </a:p>
          </p:txBody>
        </p:sp>
      </p:grpSp>
      <p:sp>
        <p:nvSpPr>
          <p:cNvPr id="3" name="Date Placeholder 2">
            <a:extLst>
              <a:ext uri="{FF2B5EF4-FFF2-40B4-BE49-F238E27FC236}">
                <a16:creationId xmlns:a16="http://schemas.microsoft.com/office/drawing/2014/main" id="{59C82C10-7969-39FF-17B0-7B74DDD4780F}"/>
              </a:ext>
            </a:extLst>
          </p:cNvPr>
          <p:cNvSpPr>
            <a:spLocks noGrp="1"/>
          </p:cNvSpPr>
          <p:nvPr>
            <p:ph type="dt" sz="half" idx="10"/>
          </p:nvPr>
        </p:nvSpPr>
        <p:spPr/>
        <p:txBody>
          <a:bodyPr/>
          <a:lstStyle/>
          <a:p>
            <a:fld id="{2F0024F3-716D-4858-A47B-A94DB0594318}" type="datetimeFigureOut">
              <a:rPr lang="en-ZA" smtClean="0"/>
              <a:t>26 May 2026</a:t>
            </a:fld>
            <a:endParaRPr lang="en-ZA"/>
          </a:p>
        </p:txBody>
      </p:sp>
      <p:sp>
        <p:nvSpPr>
          <p:cNvPr id="4" name="Footer Placeholder 3">
            <a:extLst>
              <a:ext uri="{FF2B5EF4-FFF2-40B4-BE49-F238E27FC236}">
                <a16:creationId xmlns:a16="http://schemas.microsoft.com/office/drawing/2014/main" id="{CDE9C9E4-A35C-D1E9-AC21-04B325BE067A}"/>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3A198D65-4AF5-EFDF-8A93-97F2F01F6829}"/>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3124629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9B5637-C73F-A33C-69D9-80BB032709D2}"/>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Date Placeholder 1">
            <a:extLst>
              <a:ext uri="{FF2B5EF4-FFF2-40B4-BE49-F238E27FC236}">
                <a16:creationId xmlns:a16="http://schemas.microsoft.com/office/drawing/2014/main" id="{AA2FCCC7-D92E-BD1B-A17B-B60875C5435B}"/>
              </a:ext>
            </a:extLst>
          </p:cNvPr>
          <p:cNvSpPr>
            <a:spLocks noGrp="1"/>
          </p:cNvSpPr>
          <p:nvPr>
            <p:ph type="dt" sz="half" idx="10"/>
          </p:nvPr>
        </p:nvSpPr>
        <p:spPr/>
        <p:txBody>
          <a:bodyPr/>
          <a:lstStyle/>
          <a:p>
            <a:fld id="{2F0024F3-716D-4858-A47B-A94DB0594318}" type="datetimeFigureOut">
              <a:rPr lang="en-ZA" smtClean="0"/>
              <a:t>26 May 2026</a:t>
            </a:fld>
            <a:endParaRPr lang="en-ZA"/>
          </a:p>
        </p:txBody>
      </p:sp>
      <p:sp>
        <p:nvSpPr>
          <p:cNvPr id="3" name="Footer Placeholder 2">
            <a:extLst>
              <a:ext uri="{FF2B5EF4-FFF2-40B4-BE49-F238E27FC236}">
                <a16:creationId xmlns:a16="http://schemas.microsoft.com/office/drawing/2014/main" id="{D97871E1-BF0C-5D87-2007-97BD0AFE3F2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B55CA06-5EB3-AA9B-BFE3-D6BC91BE0951}"/>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288074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Agenda Basi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hasCustomPrompt="1"/>
          </p:nvPr>
        </p:nvSpPr>
        <p:spPr>
          <a:xfrm>
            <a:off x="550863" y="2629922"/>
            <a:ext cx="5026977" cy="905758"/>
          </a:xfrm>
        </p:spPr>
        <p:txBody>
          <a:bodyPr lIns="0" tIns="0" rIns="0" bIns="0" anchor="ctr">
            <a:noAutofit/>
          </a:bodyPr>
          <a:lstStyle>
            <a:lvl1pPr>
              <a:defRPr sz="7200">
                <a:solidFill>
                  <a:schemeClr val="bg1"/>
                </a:solidFill>
              </a:defRPr>
            </a:lvl1pPr>
          </a:lstStyle>
          <a:p>
            <a:r>
              <a:rPr lang="en-US" dirty="0"/>
              <a:t>Agenda</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550863" y="6165602"/>
            <a:ext cx="4114800" cy="402838"/>
          </a:xfrm>
        </p:spPr>
        <p:txBody>
          <a:bodyPr lIns="0"/>
          <a:lstStyle>
            <a:lvl1pPr algn="l">
              <a:defRPr/>
            </a:lvl1pPr>
          </a:lstStyle>
          <a:p>
            <a:r>
              <a:rPr lang="en-ZA" dirty="0"/>
              <a:t>eduvos.com</a:t>
            </a:r>
          </a:p>
        </p:txBody>
      </p:sp>
      <p:sp>
        <p:nvSpPr>
          <p:cNvPr id="5" name="Slide Number Placeholder 4">
            <a:extLst>
              <a:ext uri="{FF2B5EF4-FFF2-40B4-BE49-F238E27FC236}">
                <a16:creationId xmlns:a16="http://schemas.microsoft.com/office/drawing/2014/main" id="{A35B01D9-91B7-552D-C0F6-D7A6B04F7914}"/>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550863" y="236440"/>
            <a:ext cx="494424" cy="636685"/>
          </a:xfrm>
          <a:prstGeom prst="rect">
            <a:avLst/>
          </a:prstGeom>
        </p:spPr>
      </p:pic>
    </p:spTree>
    <p:extLst>
      <p:ext uri="{BB962C8B-B14F-4D97-AF65-F5344CB8AC3E}">
        <p14:creationId xmlns:p14="http://schemas.microsoft.com/office/powerpoint/2010/main" val="3190474688"/>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guide id="10"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big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userDrawn="1"/>
        </p:nvSpPr>
        <p:spPr>
          <a:xfrm>
            <a:off x="0" y="0"/>
            <a:ext cx="210659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Graphic 4">
            <a:extLst>
              <a:ext uri="{FF2B5EF4-FFF2-40B4-BE49-F238E27FC236}">
                <a16:creationId xmlns:a16="http://schemas.microsoft.com/office/drawing/2014/main" id="{B20D89BC-F490-FA0D-AFE1-5D8773783A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38" y="0"/>
            <a:ext cx="2097353" cy="1398235"/>
          </a:xfrm>
          <a:prstGeom prst="rect">
            <a:avLst/>
          </a:prstGeom>
        </p:spPr>
      </p:pic>
      <p:pic>
        <p:nvPicPr>
          <p:cNvPr id="25" name="Graphic 24">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174683" y="334768"/>
            <a:ext cx="611910" cy="787976"/>
          </a:xfrm>
          <a:prstGeom prst="rect">
            <a:avLst/>
          </a:prstGeom>
        </p:spPr>
      </p:pic>
      <p:grpSp>
        <p:nvGrpSpPr>
          <p:cNvPr id="31" name="Group 30">
            <a:extLst>
              <a:ext uri="{FF2B5EF4-FFF2-40B4-BE49-F238E27FC236}">
                <a16:creationId xmlns:a16="http://schemas.microsoft.com/office/drawing/2014/main" id="{B95CB992-7942-FE05-0F32-FAC294737D30}"/>
              </a:ext>
            </a:extLst>
          </p:cNvPr>
          <p:cNvGrpSpPr/>
          <p:nvPr userDrawn="1"/>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533544" y="1470519"/>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sp>
        <p:nvSpPr>
          <p:cNvPr id="9" name="Media Placeholder 8">
            <a:extLst>
              <a:ext uri="{FF2B5EF4-FFF2-40B4-BE49-F238E27FC236}">
                <a16:creationId xmlns:a16="http://schemas.microsoft.com/office/drawing/2014/main" id="{2A2F79EB-CD8F-3C2C-8516-11E1B2210E11}"/>
              </a:ext>
            </a:extLst>
          </p:cNvPr>
          <p:cNvSpPr>
            <a:spLocks noGrp="1"/>
          </p:cNvSpPr>
          <p:nvPr>
            <p:ph type="media" sz="quarter" idx="13"/>
          </p:nvPr>
        </p:nvSpPr>
        <p:spPr>
          <a:xfrm>
            <a:off x="7883208" y="1881277"/>
            <a:ext cx="3054350" cy="1743234"/>
          </a:xfrm>
        </p:spPr>
        <p:txBody>
          <a:bodyPr/>
          <a:lstStyle/>
          <a:p>
            <a:endParaRPr lang="en-ZA"/>
          </a:p>
        </p:txBody>
      </p:sp>
      <p:sp>
        <p:nvSpPr>
          <p:cNvPr id="11" name="Picture Placeholder 10">
            <a:extLst>
              <a:ext uri="{FF2B5EF4-FFF2-40B4-BE49-F238E27FC236}">
                <a16:creationId xmlns:a16="http://schemas.microsoft.com/office/drawing/2014/main" id="{B2DADA37-9CCC-F846-E08F-05011ED2076D}"/>
              </a:ext>
            </a:extLst>
          </p:cNvPr>
          <p:cNvSpPr>
            <a:spLocks noGrp="1"/>
          </p:cNvSpPr>
          <p:nvPr>
            <p:ph type="pic" sz="quarter" idx="14"/>
          </p:nvPr>
        </p:nvSpPr>
        <p:spPr>
          <a:xfrm>
            <a:off x="7858125" y="3967005"/>
            <a:ext cx="3079433" cy="1743234"/>
          </a:xfrm>
        </p:spPr>
        <p:txBody>
          <a:bodyPr/>
          <a:lstStyle/>
          <a:p>
            <a:endParaRPr lang="en-ZA"/>
          </a:p>
        </p:txBody>
      </p:sp>
    </p:spTree>
    <p:extLst>
      <p:ext uri="{BB962C8B-B14F-4D97-AF65-F5344CB8AC3E}">
        <p14:creationId xmlns:p14="http://schemas.microsoft.com/office/powerpoint/2010/main" val="285426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Agenda small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userDrawn="1"/>
        </p:nvSpPr>
        <p:spPr>
          <a:xfrm>
            <a:off x="0" y="0"/>
            <a:ext cx="185829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1" name="Group 30">
            <a:extLst>
              <a:ext uri="{FF2B5EF4-FFF2-40B4-BE49-F238E27FC236}">
                <a16:creationId xmlns:a16="http://schemas.microsoft.com/office/drawing/2014/main" id="{B95CB992-7942-FE05-0F32-FAC294737D30}"/>
              </a:ext>
            </a:extLst>
          </p:cNvPr>
          <p:cNvGrpSpPr/>
          <p:nvPr userDrawn="1"/>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33544" y="1238864"/>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2" name="Graphic 1">
            <a:extLst>
              <a:ext uri="{FF2B5EF4-FFF2-40B4-BE49-F238E27FC236}">
                <a16:creationId xmlns:a16="http://schemas.microsoft.com/office/drawing/2014/main" id="{8F17FD4F-A937-CC07-BC16-DDE5B544F77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pic>
        <p:nvPicPr>
          <p:cNvPr id="3" name="Graphic 2">
            <a:extLst>
              <a:ext uri="{FF2B5EF4-FFF2-40B4-BE49-F238E27FC236}">
                <a16:creationId xmlns:a16="http://schemas.microsoft.com/office/drawing/2014/main" id="{9385B0F9-BEFF-3F2F-D9E4-77781AEB246B}"/>
              </a:ext>
            </a:extLst>
          </p:cNvPr>
          <p:cNvPicPr>
            <a:picLocks noChangeAspect="1"/>
          </p:cNvPicPr>
          <p:nvPr userDrawn="1"/>
        </p:nvPicPr>
        <p:blipFill>
          <a:blip>
            <a:extLst>
              <a:ext uri="{96DAC541-7B7A-43D3-8B79-37D633B846F1}">
                <asvg:svgBlip xmlns:asvg="http://schemas.microsoft.com/office/drawing/2016/SVG/main" r:embed="rId5"/>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2555749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8430363" cy="681707"/>
          </a:xfrm>
        </p:spPr>
        <p:txBody>
          <a:bodyPr/>
          <a:lstStyle>
            <a:lvl1pPr marL="0" indent="0">
              <a:buNone/>
              <a:defRPr/>
            </a:lvl1pPr>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endParaRPr lang="en-US" dirty="0"/>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93E0C155-5EAC-EA15-2D3D-ABD3DB349E0C}"/>
              </a:ext>
            </a:extLst>
          </p:cNvPr>
          <p:cNvSpPr>
            <a:spLocks noGrp="1"/>
          </p:cNvSpPr>
          <p:nvPr>
            <p:ph type="media" sz="quarter" idx="14"/>
          </p:nvPr>
        </p:nvSpPr>
        <p:spPr>
          <a:xfrm>
            <a:off x="2249139" y="2597150"/>
            <a:ext cx="8344249" cy="3062288"/>
          </a:xfrm>
        </p:spPr>
        <p:txBody>
          <a:bodyPr/>
          <a:lstStyle/>
          <a:p>
            <a:endParaRPr lang="en-ZA"/>
          </a:p>
        </p:txBody>
      </p:sp>
    </p:spTree>
    <p:extLst>
      <p:ext uri="{BB962C8B-B14F-4D97-AF65-F5344CB8AC3E}">
        <p14:creationId xmlns:p14="http://schemas.microsoft.com/office/powerpoint/2010/main" val="221842201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6B68B24D-83D0-B632-2A56-DD52F65D5901}"/>
              </a:ext>
            </a:extLst>
          </p:cNvPr>
          <p:cNvSpPr>
            <a:spLocks noGrp="1"/>
          </p:cNvSpPr>
          <p:nvPr>
            <p:ph type="media" sz="quarter" idx="10" hasCustomPrompt="1"/>
          </p:nvPr>
        </p:nvSpPr>
        <p:spPr>
          <a:xfrm>
            <a:off x="-1" y="1238250"/>
            <a:ext cx="12192001" cy="5375275"/>
          </a:xfrm>
        </p:spPr>
        <p:txBody>
          <a:bodyPr anchor="ctr"/>
          <a:lstStyle>
            <a:lvl1pPr algn="ctr">
              <a:defRPr/>
            </a:lvl1pPr>
          </a:lstStyle>
          <a:p>
            <a:r>
              <a:rPr lang="en-US" dirty="0"/>
              <a:t>Insert big video</a:t>
            </a:r>
            <a:endParaRPr lang="en-ZA" dirty="0"/>
          </a:p>
        </p:txBody>
      </p:sp>
    </p:spTree>
    <p:extLst>
      <p:ext uri="{BB962C8B-B14F-4D97-AF65-F5344CB8AC3E}">
        <p14:creationId xmlns:p14="http://schemas.microsoft.com/office/powerpoint/2010/main" val="233514545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spo V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sp>
        <p:nvSpPr>
          <p:cNvPr id="4" name="Picture Placeholder 3">
            <a:extLst>
              <a:ext uri="{FF2B5EF4-FFF2-40B4-BE49-F238E27FC236}">
                <a16:creationId xmlns:a16="http://schemas.microsoft.com/office/drawing/2014/main" id="{55923CFD-2B92-7DA5-C0A7-5604D20CE177}"/>
              </a:ext>
            </a:extLst>
          </p:cNvPr>
          <p:cNvSpPr>
            <a:spLocks noGrp="1"/>
          </p:cNvSpPr>
          <p:nvPr>
            <p:ph type="pic" sz="quarter" idx="10"/>
          </p:nvPr>
        </p:nvSpPr>
        <p:spPr>
          <a:xfrm>
            <a:off x="0" y="0"/>
            <a:ext cx="12192000" cy="6616804"/>
          </a:xfrm>
        </p:spPr>
        <p:txBody>
          <a:bodyPr/>
          <a:lstStyle/>
          <a:p>
            <a:endParaRPr lang="en-ZA"/>
          </a:p>
        </p:txBody>
      </p:sp>
    </p:spTree>
    <p:extLst>
      <p:ext uri="{BB962C8B-B14F-4D97-AF65-F5344CB8AC3E}">
        <p14:creationId xmlns:p14="http://schemas.microsoft.com/office/powerpoint/2010/main" val="212903938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Inspo V1">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userDrawn="1"/>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30" name="Rectangle: Rounded Corners 29">
            <a:extLst>
              <a:ext uri="{FF2B5EF4-FFF2-40B4-BE49-F238E27FC236}">
                <a16:creationId xmlns:a16="http://schemas.microsoft.com/office/drawing/2014/main" id="{16A48E94-FBBB-B7DE-FCB0-E2B9F76EAC62}"/>
              </a:ext>
            </a:extLst>
          </p:cNvPr>
          <p:cNvSpPr/>
          <p:nvPr userDrawn="1"/>
        </p:nvSpPr>
        <p:spPr>
          <a:xfrm>
            <a:off x="320040" y="289560"/>
            <a:ext cx="11486137" cy="5726635"/>
          </a:xfrm>
          <a:prstGeom prst="roundRect">
            <a:avLst>
              <a:gd name="adj" fmla="val 6934"/>
            </a:avLst>
          </a:pr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9" name="Graphic 28">
            <a:extLst>
              <a:ext uri="{FF2B5EF4-FFF2-40B4-BE49-F238E27FC236}">
                <a16:creationId xmlns:a16="http://schemas.microsoft.com/office/drawing/2014/main" id="{C7C2DF4C-9B75-06B6-C1D1-7B480840FB4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30116" y="3540134"/>
            <a:ext cx="2476061" cy="2476061"/>
          </a:xfrm>
          <a:prstGeom prst="rect">
            <a:avLst/>
          </a:prstGeom>
        </p:spPr>
      </p:pic>
      <p:grpSp>
        <p:nvGrpSpPr>
          <p:cNvPr id="44" name="Graphic 9">
            <a:extLst>
              <a:ext uri="{FF2B5EF4-FFF2-40B4-BE49-F238E27FC236}">
                <a16:creationId xmlns:a16="http://schemas.microsoft.com/office/drawing/2014/main" id="{53BF6592-91A7-F9CB-EBDE-466FD418B655}"/>
              </a:ext>
            </a:extLst>
          </p:cNvPr>
          <p:cNvGrpSpPr/>
          <p:nvPr userDrawn="1"/>
        </p:nvGrpSpPr>
        <p:grpSpPr>
          <a:xfrm>
            <a:off x="736482" y="576424"/>
            <a:ext cx="434604" cy="732076"/>
            <a:chOff x="11234574" y="516131"/>
            <a:chExt cx="489199" cy="824039"/>
          </a:xfrm>
          <a:solidFill>
            <a:schemeClr val="bg1"/>
          </a:solidFill>
        </p:grpSpPr>
        <p:sp>
          <p:nvSpPr>
            <p:cNvPr id="45" name="Freeform: Shape 44">
              <a:extLst>
                <a:ext uri="{FF2B5EF4-FFF2-40B4-BE49-F238E27FC236}">
                  <a16:creationId xmlns:a16="http://schemas.microsoft.com/office/drawing/2014/main" id="{A4FE9D96-EAD9-A2A4-820A-1FD079D47448}"/>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3CF51A3A-7FF3-7916-C2A2-C92AEBB78942}"/>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F14E089B-42B1-7FC7-091A-E1913C345A69}"/>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endParaRPr lang="en-ZA"/>
            </a:p>
          </p:txBody>
        </p:sp>
        <p:sp>
          <p:nvSpPr>
            <p:cNvPr id="48" name="Freeform: Shape 47">
              <a:extLst>
                <a:ext uri="{FF2B5EF4-FFF2-40B4-BE49-F238E27FC236}">
                  <a16:creationId xmlns:a16="http://schemas.microsoft.com/office/drawing/2014/main" id="{576B5879-0821-7985-A951-716069CCB5C9}"/>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endParaRPr lang="en-ZA"/>
            </a:p>
          </p:txBody>
        </p:sp>
        <p:sp>
          <p:nvSpPr>
            <p:cNvPr id="49" name="Freeform: Shape 48">
              <a:extLst>
                <a:ext uri="{FF2B5EF4-FFF2-40B4-BE49-F238E27FC236}">
                  <a16:creationId xmlns:a16="http://schemas.microsoft.com/office/drawing/2014/main" id="{01F940DE-00C1-F86C-EB18-381BC65DCAC0}"/>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31D36CAA-F185-6355-80B4-DC2D8B57577E}"/>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endParaRPr lang="en-ZA"/>
            </a:p>
          </p:txBody>
        </p:sp>
      </p:grpSp>
    </p:spTree>
    <p:extLst>
      <p:ext uri="{BB962C8B-B14F-4D97-AF65-F5344CB8AC3E}">
        <p14:creationId xmlns:p14="http://schemas.microsoft.com/office/powerpoint/2010/main" val="48562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ap V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2" name="Rectangle 1">
            <a:extLst>
              <a:ext uri="{FF2B5EF4-FFF2-40B4-BE49-F238E27FC236}">
                <a16:creationId xmlns:a16="http://schemas.microsoft.com/office/drawing/2014/main" id="{2CD0A036-4C1F-A0E0-4CD8-259AEE9FB070}"/>
              </a:ext>
            </a:extLst>
          </p:cNvPr>
          <p:cNvSpPr/>
          <p:nvPr userDrawn="1"/>
        </p:nvSpPr>
        <p:spPr>
          <a:xfrm>
            <a:off x="-21838" y="1238864"/>
            <a:ext cx="12213838" cy="536419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93709E35-612A-6FFE-2A76-4D58CD4CFF6B}"/>
              </a:ext>
            </a:extLst>
          </p:cNvPr>
          <p:cNvGrpSpPr/>
          <p:nvPr userDrawn="1"/>
        </p:nvGrpSpPr>
        <p:grpSpPr>
          <a:xfrm>
            <a:off x="-1451" y="1238864"/>
            <a:ext cx="7170780" cy="5404612"/>
            <a:chOff x="0" y="0"/>
            <a:chExt cx="9099120" cy="6858000"/>
          </a:xfrm>
        </p:grpSpPr>
        <p:sp>
          <p:nvSpPr>
            <p:cNvPr id="4" name="Freeform: Shape 3">
              <a:extLst>
                <a:ext uri="{FF2B5EF4-FFF2-40B4-BE49-F238E27FC236}">
                  <a16:creationId xmlns:a16="http://schemas.microsoft.com/office/drawing/2014/main" id="{E4AEC0AF-EAEF-D826-52B1-EBA273516D3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5" name="Freeform: Shape 4">
              <a:extLst>
                <a:ext uri="{FF2B5EF4-FFF2-40B4-BE49-F238E27FC236}">
                  <a16:creationId xmlns:a16="http://schemas.microsoft.com/office/drawing/2014/main" id="{56E32DC6-D326-9103-C7AB-E5E636A0910A}"/>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6" name="Freeform: Shape 5">
              <a:extLst>
                <a:ext uri="{FF2B5EF4-FFF2-40B4-BE49-F238E27FC236}">
                  <a16:creationId xmlns:a16="http://schemas.microsoft.com/office/drawing/2014/main" id="{97E7FA50-ADCB-CEF1-270D-01DBFE6C947D}"/>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7C14CA09-66A5-90E0-AAB2-88192FE46F60}"/>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230B8F14-77ED-4F75-642C-DB632AFBA8D4}"/>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EE11607D-4D1A-F730-9923-C0FD33D7CB7E}"/>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9D38FF8A-FB6C-EEA0-B4A2-26ED4E28FCC7}"/>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991ABE6B-97A6-BC34-A278-B639769342EE}"/>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E34BDE6D-3D07-830B-18AF-474864A7D135}"/>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CCBE110-00BB-817F-D7B7-7DE21D36BDC9}"/>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087C557A-84F9-6418-C1D2-3212CB7D7C4E}"/>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5ECBD1CB-9ED5-8A70-6E6E-CCE7F400FF1E}"/>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F9B969DF-B135-F210-6324-DCE6699325F3}"/>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05C6C257-8AAD-CFDC-7541-A4B72D4F1587}"/>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C1F2E0DC-D4CE-F6D6-4B96-D639DE500A02}"/>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BBEDA1E4-A7D4-80C2-D00A-8AC6552C08E2}"/>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686CA721-641B-4A00-B696-8E255278B733}"/>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36" name="Freeform: Shape 35">
              <a:extLst>
                <a:ext uri="{FF2B5EF4-FFF2-40B4-BE49-F238E27FC236}">
                  <a16:creationId xmlns:a16="http://schemas.microsoft.com/office/drawing/2014/main" id="{DF314D20-CA04-EF54-A9BC-842530BCD5D4}"/>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37" name="Freeform: Shape 36">
              <a:extLst>
                <a:ext uri="{FF2B5EF4-FFF2-40B4-BE49-F238E27FC236}">
                  <a16:creationId xmlns:a16="http://schemas.microsoft.com/office/drawing/2014/main" id="{8661875D-8C4E-5AA8-0EE7-E8C8EAEA286F}"/>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38" name="Freeform: Shape 37">
              <a:extLst>
                <a:ext uri="{FF2B5EF4-FFF2-40B4-BE49-F238E27FC236}">
                  <a16:creationId xmlns:a16="http://schemas.microsoft.com/office/drawing/2014/main" id="{405B1292-17CB-20AD-CA66-E0DB0D0A0ACE}"/>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41" name="Freeform: Shape 40">
            <a:extLst>
              <a:ext uri="{FF2B5EF4-FFF2-40B4-BE49-F238E27FC236}">
                <a16:creationId xmlns:a16="http://schemas.microsoft.com/office/drawing/2014/main" id="{82732684-D19C-1021-5498-0F070EC75E9E}"/>
              </a:ext>
            </a:extLst>
          </p:cNvPr>
          <p:cNvSpPr/>
          <p:nvPr userDrawn="1"/>
        </p:nvSpPr>
        <p:spPr>
          <a:xfrm>
            <a:off x="547841" y="1238864"/>
            <a:ext cx="5136679" cy="4809796"/>
          </a:xfrm>
          <a:custGeom>
            <a:avLst/>
            <a:gdLst>
              <a:gd name="connsiteX0" fmla="*/ 0 w 5136679"/>
              <a:gd name="connsiteY0" fmla="*/ 0 h 4809796"/>
              <a:gd name="connsiteX1" fmla="*/ 5136679 w 5136679"/>
              <a:gd name="connsiteY1" fmla="*/ 0 h 4809796"/>
              <a:gd name="connsiteX2" fmla="*/ 5136679 w 5136679"/>
              <a:gd name="connsiteY2" fmla="*/ 4548031 h 4809796"/>
              <a:gd name="connsiteX3" fmla="*/ 4874914 w 5136679"/>
              <a:gd name="connsiteY3" fmla="*/ 4809796 h 4809796"/>
              <a:gd name="connsiteX4" fmla="*/ 261765 w 5136679"/>
              <a:gd name="connsiteY4" fmla="*/ 4809796 h 4809796"/>
              <a:gd name="connsiteX5" fmla="*/ 0 w 5136679"/>
              <a:gd name="connsiteY5" fmla="*/ 4548031 h 480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6679" h="4809796">
                <a:moveTo>
                  <a:pt x="0" y="0"/>
                </a:moveTo>
                <a:lnTo>
                  <a:pt x="5136679" y="0"/>
                </a:lnTo>
                <a:lnTo>
                  <a:pt x="5136679" y="4548031"/>
                </a:lnTo>
                <a:cubicBezTo>
                  <a:pt x="5136679" y="4692600"/>
                  <a:pt x="5019483" y="4809796"/>
                  <a:pt x="4874914" y="4809796"/>
                </a:cubicBezTo>
                <a:lnTo>
                  <a:pt x="261765" y="4809796"/>
                </a:lnTo>
                <a:cubicBezTo>
                  <a:pt x="117196" y="4809796"/>
                  <a:pt x="0" y="4692600"/>
                  <a:pt x="0" y="4548031"/>
                </a:cubicBezTo>
                <a:close/>
              </a:path>
            </a:pathLst>
          </a:cu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112722607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and peo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4718459"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grpSp>
        <p:nvGrpSpPr>
          <p:cNvPr id="9" name="Graphic 1">
            <a:extLst>
              <a:ext uri="{FF2B5EF4-FFF2-40B4-BE49-F238E27FC236}">
                <a16:creationId xmlns:a16="http://schemas.microsoft.com/office/drawing/2014/main" id="{3240AF35-3D1E-D8D3-04DD-778B9ABA000A}"/>
              </a:ext>
            </a:extLst>
          </p:cNvPr>
          <p:cNvGrpSpPr/>
          <p:nvPr/>
        </p:nvGrpSpPr>
        <p:grpSpPr>
          <a:xfrm>
            <a:off x="6852214" y="1238863"/>
            <a:ext cx="1789471" cy="1789468"/>
            <a:chOff x="6852214" y="1238863"/>
            <a:chExt cx="1789471" cy="1789468"/>
          </a:xfrm>
        </p:grpSpPr>
        <p:sp>
          <p:nvSpPr>
            <p:cNvPr id="16" name="Freeform: Shape 15">
              <a:extLst>
                <a:ext uri="{FF2B5EF4-FFF2-40B4-BE49-F238E27FC236}">
                  <a16:creationId xmlns:a16="http://schemas.microsoft.com/office/drawing/2014/main" id="{4B72B4D2-6282-166A-5544-632B45BE2ED7}"/>
                </a:ext>
              </a:extLst>
            </p:cNvPr>
            <p:cNvSpPr/>
            <p:nvPr/>
          </p:nvSpPr>
          <p:spPr>
            <a:xfrm>
              <a:off x="6852214" y="1238863"/>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0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cubicBezTo>
                    <a:pt x="1789472" y="0"/>
                    <a:pt x="1789472" y="1789468"/>
                    <a:pt x="1789472" y="1789468"/>
                  </a:cubicBezTo>
                  <a:cubicBezTo>
                    <a:pt x="801090" y="1789586"/>
                    <a:pt x="0" y="988380"/>
                    <a:pt x="0" y="0"/>
                  </a:cubicBezTo>
                  <a:close/>
                </a:path>
              </a:pathLst>
            </a:custGeom>
            <a:solidFill>
              <a:srgbClr val="2554CE"/>
            </a:solidFill>
            <a:ln w="8716"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D9847974-6127-A5A6-5E8A-7045FE5269D1}"/>
                </a:ext>
              </a:extLst>
            </p:cNvPr>
            <p:cNvSpPr/>
            <p:nvPr/>
          </p:nvSpPr>
          <p:spPr>
            <a:xfrm>
              <a:off x="7143934" y="1238863"/>
              <a:ext cx="1497750" cy="1497865"/>
            </a:xfrm>
            <a:custGeom>
              <a:avLst/>
              <a:gdLst>
                <a:gd name="connsiteX0" fmla="*/ 1497751 w 1497750"/>
                <a:gd name="connsiteY0" fmla="*/ 1497865 h 1497865"/>
                <a:gd name="connsiteX1" fmla="*/ 0 w 1497750"/>
                <a:gd name="connsiteY1" fmla="*/ 0 h 1497865"/>
              </a:gdLst>
              <a:ahLst/>
              <a:cxnLst>
                <a:cxn ang="0">
                  <a:pos x="connsiteX0" y="connsiteY0"/>
                </a:cxn>
                <a:cxn ang="0">
                  <a:pos x="connsiteX1" y="connsiteY1"/>
                </a:cxn>
              </a:cxnLst>
              <a:rect l="l" t="t" r="r" b="b"/>
              <a:pathLst>
                <a:path w="1497750" h="1497865">
                  <a:moveTo>
                    <a:pt x="1497751" y="1497865"/>
                  </a:moveTo>
                  <a:cubicBezTo>
                    <a:pt x="670525" y="1497865"/>
                    <a:pt x="0" y="827225"/>
                    <a:pt x="0" y="0"/>
                  </a:cubicBezTo>
                </a:path>
              </a:pathLst>
            </a:custGeom>
            <a:noFill/>
            <a:ln w="8716" cap="flat">
              <a:solidFill>
                <a:srgbClr val="29ABE2"/>
              </a:solid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64DBC29F-4A64-DD7F-77D7-AFE1EDAF65DD}"/>
                </a:ext>
              </a:extLst>
            </p:cNvPr>
            <p:cNvSpPr/>
            <p:nvPr/>
          </p:nvSpPr>
          <p:spPr>
            <a:xfrm>
              <a:off x="7431436" y="1238863"/>
              <a:ext cx="1210249" cy="1210247"/>
            </a:xfrm>
            <a:custGeom>
              <a:avLst/>
              <a:gdLst>
                <a:gd name="connsiteX0" fmla="*/ 1210249 w 1210249"/>
                <a:gd name="connsiteY0" fmla="*/ 1210247 h 1210247"/>
                <a:gd name="connsiteX1" fmla="*/ 0 w 1210249"/>
                <a:gd name="connsiteY1" fmla="*/ 0 h 1210247"/>
              </a:gdLst>
              <a:ahLst/>
              <a:cxnLst>
                <a:cxn ang="0">
                  <a:pos x="connsiteX0" y="connsiteY0"/>
                </a:cxn>
                <a:cxn ang="0">
                  <a:pos x="connsiteX1" y="connsiteY1"/>
                </a:cxn>
              </a:cxnLst>
              <a:rect l="l" t="t" r="r" b="b"/>
              <a:pathLst>
                <a:path w="1210249" h="1210247">
                  <a:moveTo>
                    <a:pt x="1210249" y="1210247"/>
                  </a:moveTo>
                  <a:cubicBezTo>
                    <a:pt x="541835" y="1210247"/>
                    <a:pt x="0" y="668531"/>
                    <a:pt x="0" y="0"/>
                  </a:cubicBezTo>
                </a:path>
              </a:pathLst>
            </a:custGeom>
            <a:noFill/>
            <a:ln w="8716"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6BC04323-C9F4-18FE-37D2-3A188A54CC8D}"/>
                </a:ext>
              </a:extLst>
            </p:cNvPr>
            <p:cNvSpPr/>
            <p:nvPr/>
          </p:nvSpPr>
          <p:spPr>
            <a:xfrm>
              <a:off x="7729252" y="1238863"/>
              <a:ext cx="912433" cy="912432"/>
            </a:xfrm>
            <a:custGeom>
              <a:avLst/>
              <a:gdLst>
                <a:gd name="connsiteX0" fmla="*/ 912434 w 912433"/>
                <a:gd name="connsiteY0" fmla="*/ 912432 h 912432"/>
                <a:gd name="connsiteX1" fmla="*/ 0 w 912433"/>
                <a:gd name="connsiteY1" fmla="*/ 0 h 912432"/>
              </a:gdLst>
              <a:ahLst/>
              <a:cxnLst>
                <a:cxn ang="0">
                  <a:pos x="connsiteX0" y="connsiteY0"/>
                </a:cxn>
                <a:cxn ang="0">
                  <a:pos x="connsiteX1" y="connsiteY1"/>
                </a:cxn>
              </a:cxnLst>
              <a:rect l="l" t="t" r="r" b="b"/>
              <a:pathLst>
                <a:path w="912433" h="912432">
                  <a:moveTo>
                    <a:pt x="912434" y="912432"/>
                  </a:moveTo>
                  <a:cubicBezTo>
                    <a:pt x="408456" y="912432"/>
                    <a:pt x="0" y="503977"/>
                    <a:pt x="0" y="0"/>
                  </a:cubicBezTo>
                </a:path>
              </a:pathLst>
            </a:custGeom>
            <a:noFill/>
            <a:ln w="8716"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2EE7306-FAB9-F426-28D6-DD3135EB4E09}"/>
                </a:ext>
              </a:extLst>
            </p:cNvPr>
            <p:cNvSpPr/>
            <p:nvPr/>
          </p:nvSpPr>
          <p:spPr>
            <a:xfrm>
              <a:off x="8036561" y="1238863"/>
              <a:ext cx="605124" cy="605123"/>
            </a:xfrm>
            <a:custGeom>
              <a:avLst/>
              <a:gdLst>
                <a:gd name="connsiteX0" fmla="*/ 605125 w 605124"/>
                <a:gd name="connsiteY0" fmla="*/ 605124 h 605123"/>
                <a:gd name="connsiteX1" fmla="*/ 0 w 605124"/>
                <a:gd name="connsiteY1" fmla="*/ 0 h 605123"/>
              </a:gdLst>
              <a:ahLst/>
              <a:cxnLst>
                <a:cxn ang="0">
                  <a:pos x="connsiteX0" y="connsiteY0"/>
                </a:cxn>
                <a:cxn ang="0">
                  <a:pos x="connsiteX1" y="connsiteY1"/>
                </a:cxn>
              </a:cxnLst>
              <a:rect l="l" t="t" r="r" b="b"/>
              <a:pathLst>
                <a:path w="605124" h="605123">
                  <a:moveTo>
                    <a:pt x="605125" y="605124"/>
                  </a:moveTo>
                  <a:cubicBezTo>
                    <a:pt x="270976" y="605124"/>
                    <a:pt x="0" y="334265"/>
                    <a:pt x="0" y="0"/>
                  </a:cubicBezTo>
                </a:path>
              </a:pathLst>
            </a:custGeom>
            <a:noFill/>
            <a:ln w="8716" cap="flat">
              <a:solidFill>
                <a:srgbClr val="29ABE2"/>
              </a:solidFill>
              <a:prstDash val="solid"/>
              <a:miter/>
            </a:ln>
          </p:spPr>
          <p:txBody>
            <a:bodyPr rtlCol="0" anchor="ctr"/>
            <a:lstStyle/>
            <a:p>
              <a:endParaRPr lang="en-ZA"/>
            </a:p>
          </p:txBody>
        </p:sp>
      </p:grpSp>
      <p:grpSp>
        <p:nvGrpSpPr>
          <p:cNvPr id="26" name="Graphic 1">
            <a:extLst>
              <a:ext uri="{FF2B5EF4-FFF2-40B4-BE49-F238E27FC236}">
                <a16:creationId xmlns:a16="http://schemas.microsoft.com/office/drawing/2014/main" id="{7BD88ECC-C691-C61E-651A-07C890FB19F1}"/>
              </a:ext>
            </a:extLst>
          </p:cNvPr>
          <p:cNvGrpSpPr/>
          <p:nvPr/>
        </p:nvGrpSpPr>
        <p:grpSpPr>
          <a:xfrm>
            <a:off x="10454012" y="4817917"/>
            <a:ext cx="2403781" cy="1789585"/>
            <a:chOff x="10454012" y="4817917"/>
            <a:chExt cx="2403781" cy="1789585"/>
          </a:xfrm>
        </p:grpSpPr>
        <p:sp>
          <p:nvSpPr>
            <p:cNvPr id="27" name="Freeform: Shape 26">
              <a:extLst>
                <a:ext uri="{FF2B5EF4-FFF2-40B4-BE49-F238E27FC236}">
                  <a16:creationId xmlns:a16="http://schemas.microsoft.com/office/drawing/2014/main" id="{4F8C0AD1-B4ED-C3F7-40F8-CCC81CC3C209}"/>
                </a:ext>
              </a:extLst>
            </p:cNvPr>
            <p:cNvSpPr/>
            <p:nvPr/>
          </p:nvSpPr>
          <p:spPr>
            <a:xfrm>
              <a:off x="10454012" y="4817917"/>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lnTo>
                    <a:pt x="1789472" y="1789468"/>
                  </a:lnTo>
                  <a:lnTo>
                    <a:pt x="0" y="1789468"/>
                  </a:lnTo>
                  <a:close/>
                </a:path>
              </a:pathLst>
            </a:custGeom>
            <a:solidFill>
              <a:srgbClr val="15305D"/>
            </a:solidFill>
            <a:ln w="8716"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06CF3CB1-0B6E-AA6A-00AB-1E236BF5D285}"/>
                </a:ext>
              </a:extLst>
            </p:cNvPr>
            <p:cNvSpPr/>
            <p:nvPr/>
          </p:nvSpPr>
          <p:spPr>
            <a:xfrm>
              <a:off x="10454012" y="4817917"/>
              <a:ext cx="1789471" cy="1789468"/>
            </a:xfrm>
            <a:custGeom>
              <a:avLst/>
              <a:gdLst>
                <a:gd name="connsiteX0" fmla="*/ 1789472 w 1789471"/>
                <a:gd name="connsiteY0" fmla="*/ 1789468 h 1789468"/>
                <a:gd name="connsiteX1" fmla="*/ 0 w 1789471"/>
                <a:gd name="connsiteY1" fmla="*/ 1789468 h 1789468"/>
                <a:gd name="connsiteX2" fmla="*/ 0 w 1789471"/>
                <a:gd name="connsiteY2" fmla="*/ 0 h 1789468"/>
                <a:gd name="connsiteX3" fmla="*/ 1789472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1789472" y="1789468"/>
                  </a:moveTo>
                  <a:lnTo>
                    <a:pt x="0" y="1789468"/>
                  </a:lnTo>
                  <a:cubicBezTo>
                    <a:pt x="0" y="1789468"/>
                    <a:pt x="0" y="0"/>
                    <a:pt x="0" y="0"/>
                  </a:cubicBezTo>
                  <a:cubicBezTo>
                    <a:pt x="988382" y="0"/>
                    <a:pt x="1789472" y="801088"/>
                    <a:pt x="1789472" y="1789468"/>
                  </a:cubicBezTo>
                  <a:close/>
                </a:path>
              </a:pathLst>
            </a:custGeom>
            <a:solidFill>
              <a:srgbClr val="FFFFFF"/>
            </a:solidFill>
            <a:ln w="8716"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49E5081B-A9E0-FB23-9726-613B5BF9B3D3}"/>
                </a:ext>
              </a:extLst>
            </p:cNvPr>
            <p:cNvSpPr/>
            <p:nvPr/>
          </p:nvSpPr>
          <p:spPr>
            <a:xfrm>
              <a:off x="10454012" y="5109637"/>
              <a:ext cx="1497867" cy="1497865"/>
            </a:xfrm>
            <a:custGeom>
              <a:avLst/>
              <a:gdLst>
                <a:gd name="connsiteX0" fmla="*/ 0 w 1497867"/>
                <a:gd name="connsiteY0" fmla="*/ 0 h 1497865"/>
                <a:gd name="connsiteX1" fmla="*/ 1497868 w 1497867"/>
                <a:gd name="connsiteY1" fmla="*/ 1497865 h 1497865"/>
              </a:gdLst>
              <a:ahLst/>
              <a:cxnLst>
                <a:cxn ang="0">
                  <a:pos x="connsiteX0" y="connsiteY0"/>
                </a:cxn>
                <a:cxn ang="0">
                  <a:pos x="connsiteX1" y="connsiteY1"/>
                </a:cxn>
              </a:cxnLst>
              <a:rect l="l" t="t" r="r" b="b"/>
              <a:pathLst>
                <a:path w="1497867" h="1497865">
                  <a:moveTo>
                    <a:pt x="0" y="0"/>
                  </a:moveTo>
                  <a:cubicBezTo>
                    <a:pt x="827227" y="0"/>
                    <a:pt x="1497868" y="670523"/>
                    <a:pt x="1497868" y="1497865"/>
                  </a:cubicBezTo>
                </a:path>
              </a:pathLst>
            </a:custGeom>
            <a:noFill/>
            <a:ln w="8716" cap="flat">
              <a:solidFill>
                <a:srgbClr val="29ABE2"/>
              </a:solid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F350DD07-E336-0059-A082-08C8AB37DD76}"/>
                </a:ext>
              </a:extLst>
            </p:cNvPr>
            <p:cNvSpPr/>
            <p:nvPr/>
          </p:nvSpPr>
          <p:spPr>
            <a:xfrm>
              <a:off x="10454012" y="5397138"/>
              <a:ext cx="1210249" cy="1210246"/>
            </a:xfrm>
            <a:custGeom>
              <a:avLst/>
              <a:gdLst>
                <a:gd name="connsiteX0" fmla="*/ 0 w 1210249"/>
                <a:gd name="connsiteY0" fmla="*/ 0 h 1210246"/>
                <a:gd name="connsiteX1" fmla="*/ 1210250 w 1210249"/>
                <a:gd name="connsiteY1" fmla="*/ 1210247 h 1210246"/>
              </a:gdLst>
              <a:ahLst/>
              <a:cxnLst>
                <a:cxn ang="0">
                  <a:pos x="connsiteX0" y="connsiteY0"/>
                </a:cxn>
                <a:cxn ang="0">
                  <a:pos x="connsiteX1" y="connsiteY1"/>
                </a:cxn>
              </a:cxnLst>
              <a:rect l="l" t="t" r="r" b="b"/>
              <a:pathLst>
                <a:path w="1210249" h="1210246">
                  <a:moveTo>
                    <a:pt x="0" y="0"/>
                  </a:moveTo>
                  <a:cubicBezTo>
                    <a:pt x="668532" y="0"/>
                    <a:pt x="1210250" y="541833"/>
                    <a:pt x="1210250" y="1210247"/>
                  </a:cubicBezTo>
                </a:path>
              </a:pathLst>
            </a:custGeom>
            <a:noFill/>
            <a:ln w="8716" cap="flat">
              <a:solidFill>
                <a:srgbClr val="29ABE2"/>
              </a:solid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9871E03D-7ACF-FA8D-32DE-077F6684C3BA}"/>
                </a:ext>
              </a:extLst>
            </p:cNvPr>
            <p:cNvSpPr/>
            <p:nvPr/>
          </p:nvSpPr>
          <p:spPr>
            <a:xfrm>
              <a:off x="10454012" y="5694953"/>
              <a:ext cx="912433" cy="912431"/>
            </a:xfrm>
            <a:custGeom>
              <a:avLst/>
              <a:gdLst>
                <a:gd name="connsiteX0" fmla="*/ 0 w 912433"/>
                <a:gd name="connsiteY0" fmla="*/ 0 h 912431"/>
                <a:gd name="connsiteX1" fmla="*/ 912434 w 912433"/>
                <a:gd name="connsiteY1" fmla="*/ 912432 h 912431"/>
              </a:gdLst>
              <a:ahLst/>
              <a:cxnLst>
                <a:cxn ang="0">
                  <a:pos x="connsiteX0" y="connsiteY0"/>
                </a:cxn>
                <a:cxn ang="0">
                  <a:pos x="connsiteX1" y="connsiteY1"/>
                </a:cxn>
              </a:cxnLst>
              <a:rect l="l" t="t" r="r" b="b"/>
              <a:pathLst>
                <a:path w="912433" h="912431">
                  <a:moveTo>
                    <a:pt x="0" y="0"/>
                  </a:moveTo>
                  <a:cubicBezTo>
                    <a:pt x="503978" y="0"/>
                    <a:pt x="912434" y="408455"/>
                    <a:pt x="912434" y="912432"/>
                  </a:cubicBezTo>
                </a:path>
              </a:pathLst>
            </a:custGeom>
            <a:noFill/>
            <a:ln w="8716" cap="flat">
              <a:solidFill>
                <a:srgbClr val="29ABE2"/>
              </a:solid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9A88011C-4F7D-9610-B94F-9ACC90E7BE15}"/>
                </a:ext>
              </a:extLst>
            </p:cNvPr>
            <p:cNvSpPr/>
            <p:nvPr/>
          </p:nvSpPr>
          <p:spPr>
            <a:xfrm>
              <a:off x="10454012" y="6002262"/>
              <a:ext cx="605124" cy="605123"/>
            </a:xfrm>
            <a:custGeom>
              <a:avLst/>
              <a:gdLst>
                <a:gd name="connsiteX0" fmla="*/ 0 w 605124"/>
                <a:gd name="connsiteY0" fmla="*/ 0 h 605123"/>
                <a:gd name="connsiteX1" fmla="*/ 605125 w 605124"/>
                <a:gd name="connsiteY1" fmla="*/ 605123 h 605123"/>
              </a:gdLst>
              <a:ahLst/>
              <a:cxnLst>
                <a:cxn ang="0">
                  <a:pos x="connsiteX0" y="connsiteY0"/>
                </a:cxn>
                <a:cxn ang="0">
                  <a:pos x="connsiteX1" y="connsiteY1"/>
                </a:cxn>
              </a:cxnLst>
              <a:rect l="l" t="t" r="r" b="b"/>
              <a:pathLst>
                <a:path w="605124" h="605123">
                  <a:moveTo>
                    <a:pt x="0" y="0"/>
                  </a:moveTo>
                  <a:cubicBezTo>
                    <a:pt x="334266" y="0"/>
                    <a:pt x="605125" y="270858"/>
                    <a:pt x="605125" y="605123"/>
                  </a:cubicBezTo>
                </a:path>
              </a:pathLst>
            </a:custGeom>
            <a:noFill/>
            <a:ln w="8716" cap="flat">
              <a:solidFill>
                <a:srgbClr val="29ABE2"/>
              </a:solidFill>
              <a:prstDash val="solid"/>
              <a:miter/>
            </a:ln>
          </p:spPr>
          <p:txBody>
            <a:bodyPr rtlCol="0" anchor="ctr"/>
            <a:lstStyle/>
            <a:p>
              <a:endParaRPr lang="en-ZA"/>
            </a:p>
          </p:txBody>
        </p:sp>
      </p:grpSp>
      <p:grpSp>
        <p:nvGrpSpPr>
          <p:cNvPr id="40" name="Graphic 1">
            <a:extLst>
              <a:ext uri="{FF2B5EF4-FFF2-40B4-BE49-F238E27FC236}">
                <a16:creationId xmlns:a16="http://schemas.microsoft.com/office/drawing/2014/main" id="{BF7F389B-2899-ACD1-F3E4-54ECF81564A7}"/>
              </a:ext>
            </a:extLst>
          </p:cNvPr>
          <p:cNvGrpSpPr/>
          <p:nvPr/>
        </p:nvGrpSpPr>
        <p:grpSpPr>
          <a:xfrm>
            <a:off x="6852214" y="4817917"/>
            <a:ext cx="1805059" cy="1804938"/>
            <a:chOff x="6852214" y="4817917"/>
            <a:chExt cx="1805059" cy="1804938"/>
          </a:xfrm>
        </p:grpSpPr>
        <p:sp>
          <p:nvSpPr>
            <p:cNvPr id="42" name="Freeform: Shape 41">
              <a:extLst>
                <a:ext uri="{FF2B5EF4-FFF2-40B4-BE49-F238E27FC236}">
                  <a16:creationId xmlns:a16="http://schemas.microsoft.com/office/drawing/2014/main" id="{3868A7ED-413F-1710-F78E-77E4A22C2D89}"/>
                </a:ext>
              </a:extLst>
            </p:cNvPr>
            <p:cNvSpPr/>
            <p:nvPr/>
          </p:nvSpPr>
          <p:spPr>
            <a:xfrm>
              <a:off x="6852214" y="5720386"/>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1B4087"/>
            </a:solidFill>
            <a:ln w="8716" cap="flat">
              <a:noFill/>
              <a:prstDash val="solid"/>
              <a:miter/>
            </a:ln>
          </p:spPr>
          <p:txBody>
            <a:bodyPr rtlCol="0" anchor="ctr"/>
            <a:lstStyle/>
            <a:p>
              <a:endParaRPr lang="en-ZA"/>
            </a:p>
          </p:txBody>
        </p:sp>
        <p:sp>
          <p:nvSpPr>
            <p:cNvPr id="43" name="Freeform: Shape 42">
              <a:extLst>
                <a:ext uri="{FF2B5EF4-FFF2-40B4-BE49-F238E27FC236}">
                  <a16:creationId xmlns:a16="http://schemas.microsoft.com/office/drawing/2014/main" id="{35C79FB3-A198-DDD7-D6BD-5AC86659669B}"/>
                </a:ext>
              </a:extLst>
            </p:cNvPr>
            <p:cNvSpPr/>
            <p:nvPr/>
          </p:nvSpPr>
          <p:spPr>
            <a:xfrm>
              <a:off x="6852214" y="4817917"/>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CFAD80"/>
            </a:solidFill>
            <a:ln w="8716" cap="flat">
              <a:noFill/>
              <a:prstDash val="solid"/>
              <a:miter/>
            </a:ln>
          </p:spPr>
          <p:txBody>
            <a:bodyPr rtlCol="0" anchor="ctr"/>
            <a:lstStyle/>
            <a:p>
              <a:endParaRPr lang="en-ZA"/>
            </a:p>
          </p:txBody>
        </p:sp>
      </p:grpSp>
      <p:grpSp>
        <p:nvGrpSpPr>
          <p:cNvPr id="44" name="Graphic 1">
            <a:extLst>
              <a:ext uri="{FF2B5EF4-FFF2-40B4-BE49-F238E27FC236}">
                <a16:creationId xmlns:a16="http://schemas.microsoft.com/office/drawing/2014/main" id="{CB08A6D7-F4FF-C50A-819B-8C3BB88D9D51}"/>
              </a:ext>
            </a:extLst>
          </p:cNvPr>
          <p:cNvGrpSpPr/>
          <p:nvPr/>
        </p:nvGrpSpPr>
        <p:grpSpPr>
          <a:xfrm>
            <a:off x="8656805" y="4817799"/>
            <a:ext cx="2424721" cy="1805173"/>
            <a:chOff x="8656805" y="4817799"/>
            <a:chExt cx="2424721" cy="1805173"/>
          </a:xfrm>
        </p:grpSpPr>
        <p:sp>
          <p:nvSpPr>
            <p:cNvPr id="45" name="Freeform: Shape 44">
              <a:extLst>
                <a:ext uri="{FF2B5EF4-FFF2-40B4-BE49-F238E27FC236}">
                  <a16:creationId xmlns:a16="http://schemas.microsoft.com/office/drawing/2014/main" id="{DCCC7CD3-F77B-C755-D079-ADC0A585ADB5}"/>
                </a:ext>
              </a:extLst>
            </p:cNvPr>
            <p:cNvSpPr/>
            <p:nvPr/>
          </p:nvSpPr>
          <p:spPr>
            <a:xfrm>
              <a:off x="8656805" y="4817917"/>
              <a:ext cx="1805060" cy="1805056"/>
            </a:xfrm>
            <a:custGeom>
              <a:avLst/>
              <a:gdLst>
                <a:gd name="connsiteX0" fmla="*/ 0 w 1805060"/>
                <a:gd name="connsiteY0" fmla="*/ 0 h 1805056"/>
                <a:gd name="connsiteX1" fmla="*/ 1805060 w 1805060"/>
                <a:gd name="connsiteY1" fmla="*/ 0 h 1805056"/>
                <a:gd name="connsiteX2" fmla="*/ 1805060 w 1805060"/>
                <a:gd name="connsiteY2" fmla="*/ 1805057 h 1805056"/>
                <a:gd name="connsiteX3" fmla="*/ 0 w 1805060"/>
                <a:gd name="connsiteY3" fmla="*/ 1805057 h 1805056"/>
              </a:gdLst>
              <a:ahLst/>
              <a:cxnLst>
                <a:cxn ang="0">
                  <a:pos x="connsiteX0" y="connsiteY0"/>
                </a:cxn>
                <a:cxn ang="0">
                  <a:pos x="connsiteX1" y="connsiteY1"/>
                </a:cxn>
                <a:cxn ang="0">
                  <a:pos x="connsiteX2" y="connsiteY2"/>
                </a:cxn>
                <a:cxn ang="0">
                  <a:pos x="connsiteX3" y="connsiteY3"/>
                </a:cxn>
              </a:cxnLst>
              <a:rect l="l" t="t" r="r" b="b"/>
              <a:pathLst>
                <a:path w="1805060" h="1805056">
                  <a:moveTo>
                    <a:pt x="0" y="0"/>
                  </a:moveTo>
                  <a:lnTo>
                    <a:pt x="1805060" y="0"/>
                  </a:lnTo>
                  <a:lnTo>
                    <a:pt x="1805060" y="1805057"/>
                  </a:lnTo>
                  <a:lnTo>
                    <a:pt x="0" y="1805057"/>
                  </a:lnTo>
                  <a:close/>
                </a:path>
              </a:pathLst>
            </a:custGeom>
            <a:solidFill>
              <a:srgbClr val="15305D"/>
            </a:solidFill>
            <a:ln w="8716"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AD3DD99D-7EB9-9864-F5CB-6131039ACEC1}"/>
                </a:ext>
              </a:extLst>
            </p:cNvPr>
            <p:cNvSpPr/>
            <p:nvPr/>
          </p:nvSpPr>
          <p:spPr>
            <a:xfrm>
              <a:off x="9559276"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F4F4F4"/>
            </a:solidFill>
            <a:ln w="8716"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0E96A062-947A-8419-D70B-4AC73414B6E0}"/>
                </a:ext>
              </a:extLst>
            </p:cNvPr>
            <p:cNvSpPr/>
            <p:nvPr/>
          </p:nvSpPr>
          <p:spPr>
            <a:xfrm>
              <a:off x="8656805"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2554CE"/>
            </a:solidFill>
            <a:ln w="8716" cap="flat">
              <a:noFill/>
              <a:prstDash val="solid"/>
              <a:miter/>
            </a:ln>
          </p:spPr>
          <p:txBody>
            <a:bodyPr rtlCol="0" anchor="ctr"/>
            <a:lstStyle/>
            <a:p>
              <a:endParaRPr lang="en-ZA"/>
            </a:p>
          </p:txBody>
        </p:sp>
      </p:grpSp>
      <p:grpSp>
        <p:nvGrpSpPr>
          <p:cNvPr id="48" name="Graphic 1">
            <a:extLst>
              <a:ext uri="{FF2B5EF4-FFF2-40B4-BE49-F238E27FC236}">
                <a16:creationId xmlns:a16="http://schemas.microsoft.com/office/drawing/2014/main" id="{A905D226-E1DC-A468-4916-6E333FE43AD3}"/>
              </a:ext>
            </a:extLst>
          </p:cNvPr>
          <p:cNvGrpSpPr/>
          <p:nvPr/>
        </p:nvGrpSpPr>
        <p:grpSpPr>
          <a:xfrm>
            <a:off x="8641685" y="1238863"/>
            <a:ext cx="4807721" cy="3579054"/>
            <a:chOff x="8641685" y="1238863"/>
            <a:chExt cx="4807721" cy="3579054"/>
          </a:xfrm>
        </p:grpSpPr>
        <p:sp>
          <p:nvSpPr>
            <p:cNvPr id="49" name="Freeform: Shape 48">
              <a:extLst>
                <a:ext uri="{FF2B5EF4-FFF2-40B4-BE49-F238E27FC236}">
                  <a16:creationId xmlns:a16="http://schemas.microsoft.com/office/drawing/2014/main" id="{E2156E56-25EA-4E59-4755-C6A66FB98751}"/>
                </a:ext>
              </a:extLst>
            </p:cNvPr>
            <p:cNvSpPr/>
            <p:nvPr/>
          </p:nvSpPr>
          <p:spPr>
            <a:xfrm>
              <a:off x="8641685" y="1238863"/>
              <a:ext cx="3579060" cy="3579054"/>
            </a:xfrm>
            <a:custGeom>
              <a:avLst/>
              <a:gdLst>
                <a:gd name="connsiteX0" fmla="*/ 0 w 3579060"/>
                <a:gd name="connsiteY0" fmla="*/ 0 h 3579054"/>
                <a:gd name="connsiteX1" fmla="*/ 3579061 w 3579060"/>
                <a:gd name="connsiteY1" fmla="*/ 0 h 3579054"/>
                <a:gd name="connsiteX2" fmla="*/ 3579061 w 3579060"/>
                <a:gd name="connsiteY2" fmla="*/ 3579054 h 3579054"/>
                <a:gd name="connsiteX3" fmla="*/ 0 w 3579060"/>
                <a:gd name="connsiteY3" fmla="*/ 3579054 h 3579054"/>
              </a:gdLst>
              <a:ahLst/>
              <a:cxnLst>
                <a:cxn ang="0">
                  <a:pos x="connsiteX0" y="connsiteY0"/>
                </a:cxn>
                <a:cxn ang="0">
                  <a:pos x="connsiteX1" y="connsiteY1"/>
                </a:cxn>
                <a:cxn ang="0">
                  <a:pos x="connsiteX2" y="connsiteY2"/>
                </a:cxn>
                <a:cxn ang="0">
                  <a:pos x="connsiteX3" y="connsiteY3"/>
                </a:cxn>
              </a:cxnLst>
              <a:rect l="l" t="t" r="r" b="b"/>
              <a:pathLst>
                <a:path w="3579060" h="3579054">
                  <a:moveTo>
                    <a:pt x="0" y="0"/>
                  </a:moveTo>
                  <a:lnTo>
                    <a:pt x="3579061" y="0"/>
                  </a:lnTo>
                  <a:lnTo>
                    <a:pt x="3579061" y="3579054"/>
                  </a:lnTo>
                  <a:lnTo>
                    <a:pt x="0" y="3579054"/>
                  </a:lnTo>
                  <a:close/>
                </a:path>
              </a:pathLst>
            </a:custGeom>
            <a:solidFill>
              <a:srgbClr val="15305D"/>
            </a:solidFill>
            <a:ln w="8716"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8B17FD7D-FEDD-58CB-AFF9-D6D39B27E189}"/>
                </a:ext>
              </a:extLst>
            </p:cNvPr>
            <p:cNvSpPr/>
            <p:nvPr/>
          </p:nvSpPr>
          <p:spPr>
            <a:xfrm>
              <a:off x="10431274" y="1238863"/>
              <a:ext cx="1789471" cy="3579054"/>
            </a:xfrm>
            <a:custGeom>
              <a:avLst/>
              <a:gdLst>
                <a:gd name="connsiteX0" fmla="*/ 0 w 1789471"/>
                <a:gd name="connsiteY0" fmla="*/ 3579054 h 3579054"/>
                <a:gd name="connsiteX1" fmla="*/ 0 w 1789471"/>
                <a:gd name="connsiteY1" fmla="*/ 0 h 3579054"/>
                <a:gd name="connsiteX2" fmla="*/ 1789472 w 1789471"/>
                <a:gd name="connsiteY2" fmla="*/ 0 h 3579054"/>
                <a:gd name="connsiteX3" fmla="*/ 1789472 w 1789471"/>
                <a:gd name="connsiteY3" fmla="*/ 1789468 h 3579054"/>
                <a:gd name="connsiteX4" fmla="*/ 0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0" y="3579054"/>
                  </a:moveTo>
                  <a:lnTo>
                    <a:pt x="0" y="0"/>
                  </a:lnTo>
                  <a:lnTo>
                    <a:pt x="1789472" y="0"/>
                  </a:lnTo>
                  <a:lnTo>
                    <a:pt x="1789472" y="1789468"/>
                  </a:lnTo>
                  <a:cubicBezTo>
                    <a:pt x="1789472" y="2777732"/>
                    <a:pt x="988265" y="3578937"/>
                    <a:pt x="0" y="3578937"/>
                  </a:cubicBezTo>
                  <a:close/>
                </a:path>
              </a:pathLst>
            </a:custGeom>
            <a:solidFill>
              <a:srgbClr val="214FB1"/>
            </a:solidFill>
            <a:ln w="8716" cap="flat">
              <a:noFill/>
              <a:prstDash val="solid"/>
              <a:miter/>
            </a:ln>
          </p:spPr>
          <p:txBody>
            <a:bodyPr rtlCol="0" anchor="ctr"/>
            <a:lstStyle/>
            <a:p>
              <a:endParaRPr lang="en-ZA"/>
            </a:p>
          </p:txBody>
        </p:sp>
        <p:sp>
          <p:nvSpPr>
            <p:cNvPr id="51" name="Freeform: Shape 50">
              <a:extLst>
                <a:ext uri="{FF2B5EF4-FFF2-40B4-BE49-F238E27FC236}">
                  <a16:creationId xmlns:a16="http://schemas.microsoft.com/office/drawing/2014/main" id="{8764D973-14E4-C9A1-8450-E56411393EB1}"/>
                </a:ext>
              </a:extLst>
            </p:cNvPr>
            <p:cNvSpPr/>
            <p:nvPr/>
          </p:nvSpPr>
          <p:spPr>
            <a:xfrm>
              <a:off x="8641803" y="1238863"/>
              <a:ext cx="1789471" cy="3579054"/>
            </a:xfrm>
            <a:custGeom>
              <a:avLst/>
              <a:gdLst>
                <a:gd name="connsiteX0" fmla="*/ 1789472 w 1789471"/>
                <a:gd name="connsiteY0" fmla="*/ 3579054 h 3579054"/>
                <a:gd name="connsiteX1" fmla="*/ 1789472 w 1789471"/>
                <a:gd name="connsiteY1" fmla="*/ 0 h 3579054"/>
                <a:gd name="connsiteX2" fmla="*/ 0 w 1789471"/>
                <a:gd name="connsiteY2" fmla="*/ 0 h 3579054"/>
                <a:gd name="connsiteX3" fmla="*/ 0 w 1789471"/>
                <a:gd name="connsiteY3" fmla="*/ 1789468 h 3579054"/>
                <a:gd name="connsiteX4" fmla="*/ 1789472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1789472" y="3579054"/>
                  </a:moveTo>
                  <a:lnTo>
                    <a:pt x="1789472" y="0"/>
                  </a:lnTo>
                  <a:lnTo>
                    <a:pt x="0" y="0"/>
                  </a:lnTo>
                  <a:lnTo>
                    <a:pt x="0" y="1789468"/>
                  </a:lnTo>
                  <a:cubicBezTo>
                    <a:pt x="0" y="2777732"/>
                    <a:pt x="801207" y="3578937"/>
                    <a:pt x="1789472" y="3578937"/>
                  </a:cubicBezTo>
                  <a:close/>
                </a:path>
              </a:pathLst>
            </a:custGeom>
            <a:solidFill>
              <a:srgbClr val="1B4087"/>
            </a:solidFill>
            <a:ln w="8716" cap="flat">
              <a:noFill/>
              <a:prstDash val="solid"/>
              <a:miter/>
            </a:ln>
          </p:spPr>
          <p:txBody>
            <a:bodyPr rtlCol="0" anchor="ctr"/>
            <a:lstStyle/>
            <a:p>
              <a:endParaRPr lang="en-ZA"/>
            </a:p>
          </p:txBody>
        </p:sp>
      </p:grpSp>
      <p:sp>
        <p:nvSpPr>
          <p:cNvPr id="5" name="Picture Placeholder 4">
            <a:extLst>
              <a:ext uri="{FF2B5EF4-FFF2-40B4-BE49-F238E27FC236}">
                <a16:creationId xmlns:a16="http://schemas.microsoft.com/office/drawing/2014/main" id="{5BCF3521-5BCE-BFEC-4DF9-AB8411DE3303}"/>
              </a:ext>
            </a:extLst>
          </p:cNvPr>
          <p:cNvSpPr>
            <a:spLocks noGrp="1"/>
          </p:cNvSpPr>
          <p:nvPr>
            <p:ph type="pic" sz="quarter" idx="14" hasCustomPrompt="1"/>
          </p:nvPr>
        </p:nvSpPr>
        <p:spPr>
          <a:xfrm>
            <a:off x="7896225" y="1526365"/>
            <a:ext cx="3883420" cy="5070567"/>
          </a:xfrm>
        </p:spPr>
        <p:txBody>
          <a:bodyPr/>
          <a:lstStyle>
            <a:lvl1pPr>
              <a:defRPr/>
            </a:lvl1pPr>
          </a:lstStyle>
          <a:p>
            <a:r>
              <a:rPr lang="en-US" dirty="0"/>
              <a:t>Picture if needed</a:t>
            </a:r>
            <a:endParaRPr lang="en-ZA" dirty="0"/>
          </a:p>
        </p:txBody>
      </p:sp>
    </p:spTree>
    <p:extLst>
      <p:ext uri="{BB962C8B-B14F-4D97-AF65-F5344CB8AC3E}">
        <p14:creationId xmlns:p14="http://schemas.microsoft.com/office/powerpoint/2010/main" val="331389008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allery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AEE9287-A9BB-67BD-BE75-FC74BAD8CE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59524" y="3127341"/>
            <a:ext cx="3456349" cy="3456349"/>
          </a:xfrm>
          <a:prstGeom prst="rect">
            <a:avLst/>
          </a:prstGeom>
        </p:spPr>
      </p:pic>
      <p:sp>
        <p:nvSpPr>
          <p:cNvPr id="15" name="Picture Placeholder 14">
            <a:extLst>
              <a:ext uri="{FF2B5EF4-FFF2-40B4-BE49-F238E27FC236}">
                <a16:creationId xmlns:a16="http://schemas.microsoft.com/office/drawing/2014/main" id="{67F0283E-ADB8-09A1-3222-E36E04AC8696}"/>
              </a:ext>
            </a:extLst>
          </p:cNvPr>
          <p:cNvSpPr>
            <a:spLocks noGrp="1"/>
          </p:cNvSpPr>
          <p:nvPr>
            <p:ph type="pic" sz="quarter" idx="14" hasCustomPrompt="1"/>
          </p:nvPr>
        </p:nvSpPr>
        <p:spPr>
          <a:xfrm>
            <a:off x="6096000" y="1620838"/>
            <a:ext cx="3371850" cy="2209800"/>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first</a:t>
            </a:r>
            <a:endParaRPr lang="en-ZA" dirty="0"/>
          </a:p>
        </p:txBody>
      </p:sp>
      <p:sp>
        <p:nvSpPr>
          <p:cNvPr id="22" name="Picture Placeholder 14">
            <a:extLst>
              <a:ext uri="{FF2B5EF4-FFF2-40B4-BE49-F238E27FC236}">
                <a16:creationId xmlns:a16="http://schemas.microsoft.com/office/drawing/2014/main" id="{F4EF5853-0B39-E749-5264-CE8F152EDF71}"/>
              </a:ext>
            </a:extLst>
          </p:cNvPr>
          <p:cNvSpPr>
            <a:spLocks noGrp="1"/>
          </p:cNvSpPr>
          <p:nvPr>
            <p:ph type="pic" sz="quarter" idx="15" hasCustomPrompt="1"/>
          </p:nvPr>
        </p:nvSpPr>
        <p:spPr>
          <a:xfrm>
            <a:off x="9132915" y="2004832"/>
            <a:ext cx="1812376" cy="1187772"/>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2de</a:t>
            </a:r>
            <a:endParaRPr lang="en-ZA" dirty="0"/>
          </a:p>
        </p:txBody>
      </p:sp>
      <p:sp>
        <p:nvSpPr>
          <p:cNvPr id="24" name="Picture Placeholder 14">
            <a:extLst>
              <a:ext uri="{FF2B5EF4-FFF2-40B4-BE49-F238E27FC236}">
                <a16:creationId xmlns:a16="http://schemas.microsoft.com/office/drawing/2014/main" id="{2435612C-1B31-CA00-5526-86AF259DF5AD}"/>
              </a:ext>
            </a:extLst>
          </p:cNvPr>
          <p:cNvSpPr>
            <a:spLocks noGrp="1"/>
          </p:cNvSpPr>
          <p:nvPr>
            <p:ph type="pic" sz="quarter" idx="16" hasCustomPrompt="1"/>
          </p:nvPr>
        </p:nvSpPr>
        <p:spPr>
          <a:xfrm>
            <a:off x="8597217" y="3721226"/>
            <a:ext cx="2929887" cy="1939305"/>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3de</a:t>
            </a:r>
            <a:endParaRPr lang="en-ZA" dirty="0"/>
          </a:p>
        </p:txBody>
      </p:sp>
      <p:sp>
        <p:nvSpPr>
          <p:cNvPr id="25" name="Picture Placeholder 14">
            <a:extLst>
              <a:ext uri="{FF2B5EF4-FFF2-40B4-BE49-F238E27FC236}">
                <a16:creationId xmlns:a16="http://schemas.microsoft.com/office/drawing/2014/main" id="{41199E48-E923-EA38-BA76-05424FAE36E8}"/>
              </a:ext>
            </a:extLst>
          </p:cNvPr>
          <p:cNvSpPr>
            <a:spLocks noGrp="1"/>
          </p:cNvSpPr>
          <p:nvPr>
            <p:ph type="pic" sz="quarter" idx="17" hasCustomPrompt="1"/>
          </p:nvPr>
        </p:nvSpPr>
        <p:spPr>
          <a:xfrm>
            <a:off x="6311112" y="4226545"/>
            <a:ext cx="1875930" cy="1263131"/>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4th</a:t>
            </a:r>
            <a:endParaRPr lang="en-ZA" dirty="0"/>
          </a:p>
        </p:txBody>
      </p:sp>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3846861"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82766923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mall Char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C085DC44-867E-A4D3-E1C8-7E9BB1385C79}"/>
              </a:ext>
            </a:extLst>
          </p:cNvPr>
          <p:cNvSpPr>
            <a:spLocks noGrp="1"/>
          </p:cNvSpPr>
          <p:nvPr>
            <p:ph type="body" sz="quarter" idx="13"/>
          </p:nvPr>
        </p:nvSpPr>
        <p:spPr>
          <a:xfrm>
            <a:off x="2249139" y="1626712"/>
            <a:ext cx="4043506" cy="4215288"/>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Rectangle 6">
            <a:extLst>
              <a:ext uri="{FF2B5EF4-FFF2-40B4-BE49-F238E27FC236}">
                <a16:creationId xmlns:a16="http://schemas.microsoft.com/office/drawing/2014/main" id="{128F689A-5533-00EF-92A2-77B56F662FBB}"/>
              </a:ext>
            </a:extLst>
          </p:cNvPr>
          <p:cNvSpPr/>
          <p:nvPr userDrawn="1"/>
        </p:nvSpPr>
        <p:spPr>
          <a:xfrm>
            <a:off x="6545578" y="1567706"/>
            <a:ext cx="5130483" cy="508476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6727219" y="1773238"/>
            <a:ext cx="4737245" cy="5084762"/>
          </a:xfrm>
        </p:spPr>
        <p:txBody>
          <a:bodyPr/>
          <a:lstStyle/>
          <a:p>
            <a:endParaRPr lang="en-ZA" dirty="0"/>
          </a:p>
        </p:txBody>
      </p:sp>
      <p:pic>
        <p:nvPicPr>
          <p:cNvPr id="5" name="Graphic 4">
            <a:extLst>
              <a:ext uri="{FF2B5EF4-FFF2-40B4-BE49-F238E27FC236}">
                <a16:creationId xmlns:a16="http://schemas.microsoft.com/office/drawing/2014/main" id="{5ACFC315-96BF-F0E3-7ABC-FC155115E1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8" name="Group 7">
            <a:extLst>
              <a:ext uri="{FF2B5EF4-FFF2-40B4-BE49-F238E27FC236}">
                <a16:creationId xmlns:a16="http://schemas.microsoft.com/office/drawing/2014/main" id="{A07B4121-803A-0118-F43B-642EF8E093E9}"/>
              </a:ext>
            </a:extLst>
          </p:cNvPr>
          <p:cNvGrpSpPr/>
          <p:nvPr userDrawn="1"/>
        </p:nvGrpSpPr>
        <p:grpSpPr>
          <a:xfrm>
            <a:off x="-228000" y="6613460"/>
            <a:ext cx="12420000" cy="256116"/>
            <a:chOff x="1934840" y="6601883"/>
            <a:chExt cx="12092580" cy="245079"/>
          </a:xfrm>
        </p:grpSpPr>
        <p:sp>
          <p:nvSpPr>
            <p:cNvPr id="11" name="Freeform: Shape 10">
              <a:extLst>
                <a:ext uri="{FF2B5EF4-FFF2-40B4-BE49-F238E27FC236}">
                  <a16:creationId xmlns:a16="http://schemas.microsoft.com/office/drawing/2014/main" id="{C5B5F771-DB78-3794-6474-5FA5A70F316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334677E2-5826-AAE2-432F-0AF83718C7AA}"/>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CC31256D-5F71-D5A9-8662-FBBC8AF43C46}"/>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4" name="Graphic 13">
              <a:extLst>
                <a:ext uri="{FF2B5EF4-FFF2-40B4-BE49-F238E27FC236}">
                  <a16:creationId xmlns:a16="http://schemas.microsoft.com/office/drawing/2014/main" id="{3A5717F0-E0B2-E2E4-B0BE-4E295F2CD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8" name="Graphic 17">
              <a:extLst>
                <a:ext uri="{FF2B5EF4-FFF2-40B4-BE49-F238E27FC236}">
                  <a16:creationId xmlns:a16="http://schemas.microsoft.com/office/drawing/2014/main" id="{8067E755-8ADB-3A1A-4CD4-76BAE89D3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9" name="Graphic 18">
              <a:extLst>
                <a:ext uri="{FF2B5EF4-FFF2-40B4-BE49-F238E27FC236}">
                  <a16:creationId xmlns:a16="http://schemas.microsoft.com/office/drawing/2014/main" id="{A14EFF67-7E0A-2B1D-A8FE-299217F33E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0" name="Graphic 19">
              <a:extLst>
                <a:ext uri="{FF2B5EF4-FFF2-40B4-BE49-F238E27FC236}">
                  <a16:creationId xmlns:a16="http://schemas.microsoft.com/office/drawing/2014/main" id="{083B1919-450D-8209-18B5-169828425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97727648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Big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8F689A-5533-00EF-92A2-77B56F662FBB}"/>
              </a:ext>
            </a:extLst>
          </p:cNvPr>
          <p:cNvSpPr/>
          <p:nvPr userDrawn="1"/>
        </p:nvSpPr>
        <p:spPr>
          <a:xfrm>
            <a:off x="2249139" y="1640163"/>
            <a:ext cx="9426923" cy="5217837"/>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550863" y="345370"/>
            <a:ext cx="10315256"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2537922" y="1958352"/>
            <a:ext cx="8747615" cy="3883648"/>
          </a:xfrm>
        </p:spPr>
        <p:txBody>
          <a:bodyPr/>
          <a:lstStyle/>
          <a:p>
            <a:endParaRPr lang="en-ZA" dirty="0"/>
          </a:p>
        </p:txBody>
      </p:sp>
      <p:pic>
        <p:nvPicPr>
          <p:cNvPr id="5" name="Graphic 4">
            <a:extLst>
              <a:ext uri="{FF2B5EF4-FFF2-40B4-BE49-F238E27FC236}">
                <a16:creationId xmlns:a16="http://schemas.microsoft.com/office/drawing/2014/main" id="{B20EAA04-1C2C-21A9-2049-F7ADB6E1D93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2" name="Group 11">
            <a:extLst>
              <a:ext uri="{FF2B5EF4-FFF2-40B4-BE49-F238E27FC236}">
                <a16:creationId xmlns:a16="http://schemas.microsoft.com/office/drawing/2014/main" id="{89604458-DF6C-B9DE-3D60-3F10660A16B8}"/>
              </a:ext>
            </a:extLst>
          </p:cNvPr>
          <p:cNvGrpSpPr/>
          <p:nvPr userDrawn="1"/>
        </p:nvGrpSpPr>
        <p:grpSpPr>
          <a:xfrm>
            <a:off x="-228000" y="6613460"/>
            <a:ext cx="12420000" cy="256116"/>
            <a:chOff x="1934840" y="6601883"/>
            <a:chExt cx="12092580" cy="245079"/>
          </a:xfrm>
        </p:grpSpPr>
        <p:sp>
          <p:nvSpPr>
            <p:cNvPr id="13" name="Freeform: Shape 12">
              <a:extLst>
                <a:ext uri="{FF2B5EF4-FFF2-40B4-BE49-F238E27FC236}">
                  <a16:creationId xmlns:a16="http://schemas.microsoft.com/office/drawing/2014/main" id="{FA5BC204-08C8-03A0-425D-E73BE95B7A2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7AE57873-71F1-BD7E-B8AE-DA201E7F5A0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1312AD1B-60B1-820F-BD8D-0D8FE4C290CF}"/>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6" name="Graphic 15">
              <a:extLst>
                <a:ext uri="{FF2B5EF4-FFF2-40B4-BE49-F238E27FC236}">
                  <a16:creationId xmlns:a16="http://schemas.microsoft.com/office/drawing/2014/main" id="{FA6E1B7F-9E99-6EC5-C1E9-5026E04E3C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7" name="Graphic 16">
              <a:extLst>
                <a:ext uri="{FF2B5EF4-FFF2-40B4-BE49-F238E27FC236}">
                  <a16:creationId xmlns:a16="http://schemas.microsoft.com/office/drawing/2014/main" id="{4609696D-5A9D-249D-206D-87F0A54257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8" name="Graphic 17">
              <a:extLst>
                <a:ext uri="{FF2B5EF4-FFF2-40B4-BE49-F238E27FC236}">
                  <a16:creationId xmlns:a16="http://schemas.microsoft.com/office/drawing/2014/main" id="{ED1F2AF3-A9F7-1AF0-60C5-B35F3456B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19" name="Graphic 18">
              <a:extLst>
                <a:ext uri="{FF2B5EF4-FFF2-40B4-BE49-F238E27FC236}">
                  <a16:creationId xmlns:a16="http://schemas.microsoft.com/office/drawing/2014/main" id="{543F5351-FCEA-B259-2C63-2E74287C0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76132893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361366928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D09C11-FA20-F60F-4548-65D89BD8D45A}"/>
              </a:ext>
            </a:extLst>
          </p:cNvPr>
          <p:cNvSpPr/>
          <p:nvPr userDrawn="1"/>
        </p:nvSpPr>
        <p:spPr>
          <a:xfrm>
            <a:off x="0" y="1238864"/>
            <a:ext cx="6979534"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6980238" y="1238250"/>
            <a:ext cx="5211762" cy="5383213"/>
          </a:xfrm>
        </p:spPr>
        <p:txBody>
          <a:bodyPr/>
          <a:lstStyle/>
          <a:p>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41409579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wo Colum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0" y="1238250"/>
            <a:ext cx="6979534" cy="5383213"/>
          </a:xfrm>
        </p:spPr>
        <p:txBody>
          <a:bodyPr/>
          <a:lstStyle/>
          <a:p>
            <a:endParaRPr lang="en-ZA"/>
          </a:p>
        </p:txBody>
      </p:sp>
      <p:sp>
        <p:nvSpPr>
          <p:cNvPr id="4" name="Rectangle 3">
            <a:extLst>
              <a:ext uri="{FF2B5EF4-FFF2-40B4-BE49-F238E27FC236}">
                <a16:creationId xmlns:a16="http://schemas.microsoft.com/office/drawing/2014/main" id="{07D09C11-FA20-F60F-4548-65D89BD8D45A}"/>
              </a:ext>
            </a:extLst>
          </p:cNvPr>
          <p:cNvSpPr/>
          <p:nvPr userDrawn="1"/>
        </p:nvSpPr>
        <p:spPr>
          <a:xfrm>
            <a:off x="6979534" y="1238864"/>
            <a:ext cx="5232839"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7207534"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7208764"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99475109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3260666398"/>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Bor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pic>
        <p:nvPicPr>
          <p:cNvPr id="2" name="Graphic 1">
            <a:extLst>
              <a:ext uri="{FF2B5EF4-FFF2-40B4-BE49-F238E27FC236}">
                <a16:creationId xmlns:a16="http://schemas.microsoft.com/office/drawing/2014/main" id="{E0078C6F-78C4-E3FC-86AA-BC85EE694E3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3598623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2485497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9322225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userDrawn="1"/>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266825"/>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178751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12874921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userDrawn="1"/>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4059061"/>
              <a:ext cx="655320" cy="2701746"/>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76643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742888208"/>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26 May 2026</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userDrawn="1"/>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userDrawn="1"/>
        </p:nvSpPr>
        <p:spPr>
          <a:xfrm>
            <a:off x="3200400" y="0"/>
            <a:ext cx="32004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userDrawn="1"/>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3" name="Text Placeholder 12">
            <a:extLst>
              <a:ext uri="{FF2B5EF4-FFF2-40B4-BE49-F238E27FC236}">
                <a16:creationId xmlns:a16="http://schemas.microsoft.com/office/drawing/2014/main" id="{277180BB-24A0-AE41-E3CF-4163A44EB158}"/>
              </a:ext>
            </a:extLst>
          </p:cNvPr>
          <p:cNvSpPr>
            <a:spLocks noGrp="1"/>
          </p:cNvSpPr>
          <p:nvPr>
            <p:ph type="body" sz="quarter" idx="13"/>
          </p:nvPr>
        </p:nvSpPr>
        <p:spPr>
          <a:xfrm>
            <a:off x="1219200" y="759937"/>
            <a:ext cx="7391400" cy="2941637"/>
          </a:xfrm>
        </p:spPr>
        <p:txBody>
          <a:bodyPr>
            <a:noAutofit/>
          </a:bodyPr>
          <a:lstStyle>
            <a:lvl1pPr marL="0" indent="0">
              <a:buNone/>
              <a:defRPr sz="6600">
                <a:solidFill>
                  <a:schemeClr val="bg1"/>
                </a:solidFill>
                <a:latin typeface="+mj-lt"/>
              </a:defRPr>
            </a:lvl1pPr>
            <a:lvl2pPr>
              <a:defRPr sz="4400">
                <a:solidFill>
                  <a:schemeClr val="bg1"/>
                </a:solidFill>
                <a:latin typeface="+mj-lt"/>
              </a:defRPr>
            </a:lvl2pPr>
            <a:lvl3pPr>
              <a:defRPr sz="4000">
                <a:solidFill>
                  <a:schemeClr val="bg1"/>
                </a:solidFill>
                <a:latin typeface="+mj-lt"/>
              </a:defRPr>
            </a:lvl3pPr>
            <a:lvl4pPr>
              <a:defRPr sz="3600">
                <a:solidFill>
                  <a:schemeClr val="bg1"/>
                </a:solidFill>
                <a:latin typeface="+mj-lt"/>
              </a:defRPr>
            </a:lvl4pPr>
            <a:lvl5pPr>
              <a:defRPr sz="3600">
                <a:solidFill>
                  <a:schemeClr val="bg1"/>
                </a:solidFill>
                <a:latin typeface="+mj-lt"/>
              </a:defRPr>
            </a:lvl5pPr>
          </a:lstStyle>
          <a:p>
            <a:pPr lvl="0"/>
            <a:r>
              <a:rPr lang="en-US" dirty="0"/>
              <a:t>Click to edit Master text styles</a:t>
            </a:r>
            <a:endParaRPr lang="en-ZA" dirty="0"/>
          </a:p>
        </p:txBody>
      </p:sp>
      <p:cxnSp>
        <p:nvCxnSpPr>
          <p:cNvPr id="15" name="Straight Connector 14">
            <a:extLst>
              <a:ext uri="{FF2B5EF4-FFF2-40B4-BE49-F238E27FC236}">
                <a16:creationId xmlns:a16="http://schemas.microsoft.com/office/drawing/2014/main" id="{09E4CD09-A226-66A4-D0B6-98CDBCA9DDBC}"/>
              </a:ext>
            </a:extLst>
          </p:cNvPr>
          <p:cNvCxnSpPr/>
          <p:nvPr userDrawn="1"/>
        </p:nvCxnSpPr>
        <p:spPr>
          <a:xfrm>
            <a:off x="609600" y="639432"/>
            <a:ext cx="0" cy="1890380"/>
          </a:xfrm>
          <a:prstGeom prst="line">
            <a:avLst/>
          </a:prstGeom>
          <a:ln w="57150">
            <a:solidFill>
              <a:srgbClr val="00B0F0"/>
            </a:solidFill>
          </a:ln>
        </p:spPr>
        <p:style>
          <a:lnRef idx="2">
            <a:schemeClr val="accent1"/>
          </a:lnRef>
          <a:fillRef idx="0">
            <a:schemeClr val="accent1"/>
          </a:fillRef>
          <a:effectRef idx="1">
            <a:schemeClr val="accent1"/>
          </a:effectRef>
          <a:fontRef idx="minor">
            <a:schemeClr val="tx1"/>
          </a:fontRef>
        </p:style>
      </p:cxnSp>
      <p:pic>
        <p:nvPicPr>
          <p:cNvPr id="17" name="Graphic 16">
            <a:extLst>
              <a:ext uri="{FF2B5EF4-FFF2-40B4-BE49-F238E27FC236}">
                <a16:creationId xmlns:a16="http://schemas.microsoft.com/office/drawing/2014/main" id="{6C0FCE06-49E9-C32C-E467-2DB15DC6C0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17295" y="4779440"/>
            <a:ext cx="1327785" cy="1576910"/>
          </a:xfrm>
          <a:prstGeom prst="rect">
            <a:avLst/>
          </a:prstGeom>
        </p:spPr>
      </p:pic>
      <p:sp>
        <p:nvSpPr>
          <p:cNvPr id="19" name="Picture Placeholder 18">
            <a:extLst>
              <a:ext uri="{FF2B5EF4-FFF2-40B4-BE49-F238E27FC236}">
                <a16:creationId xmlns:a16="http://schemas.microsoft.com/office/drawing/2014/main" id="{F5821D6A-5681-F190-BD3F-666F06999E97}"/>
              </a:ext>
            </a:extLst>
          </p:cNvPr>
          <p:cNvSpPr>
            <a:spLocks noGrp="1"/>
          </p:cNvSpPr>
          <p:nvPr>
            <p:ph type="pic" sz="quarter" idx="14"/>
          </p:nvPr>
        </p:nvSpPr>
        <p:spPr>
          <a:xfrm>
            <a:off x="6118225" y="639763"/>
            <a:ext cx="5616575" cy="6218237"/>
          </a:xfrm>
        </p:spPr>
        <p:txBody>
          <a:bodyPr/>
          <a:lstStyle/>
          <a:p>
            <a:endParaRPr lang="en-ZA"/>
          </a:p>
        </p:txBody>
      </p:sp>
    </p:spTree>
    <p:extLst>
      <p:ext uri="{BB962C8B-B14F-4D97-AF65-F5344CB8AC3E}">
        <p14:creationId xmlns:p14="http://schemas.microsoft.com/office/powerpoint/2010/main" val="20978282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26 May 2026</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userDrawn="1"/>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userDrawn="1"/>
        </p:nvSpPr>
        <p:spPr>
          <a:xfrm>
            <a:off x="3200400" y="0"/>
            <a:ext cx="32004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userDrawn="1"/>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bg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27999080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userDrawn="1"/>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userDrawn="1"/>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1607300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userDrawn="1"/>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userDrawn="1"/>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2916271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4A866-6991-C6DB-63B2-89D87C81C4CA}"/>
              </a:ext>
            </a:extLst>
          </p:cNvPr>
          <p:cNvSpPr/>
          <p:nvPr userDrawn="1"/>
        </p:nvSpPr>
        <p:spPr>
          <a:xfrm>
            <a:off x="0" y="0"/>
            <a:ext cx="5289630" cy="440995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F2275CE5-8A00-5D82-748F-46F3EE013F32}"/>
              </a:ext>
            </a:extLst>
          </p:cNvPr>
          <p:cNvSpPr/>
          <p:nvPr userDrawn="1"/>
        </p:nvSpPr>
        <p:spPr>
          <a:xfrm>
            <a:off x="0" y="4409954"/>
            <a:ext cx="5289630" cy="24480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Picture Placeholder 6">
            <a:extLst>
              <a:ext uri="{FF2B5EF4-FFF2-40B4-BE49-F238E27FC236}">
                <a16:creationId xmlns:a16="http://schemas.microsoft.com/office/drawing/2014/main" id="{208045D3-AC78-47A3-4350-79D7A9F83671}"/>
              </a:ext>
            </a:extLst>
          </p:cNvPr>
          <p:cNvSpPr>
            <a:spLocks noGrp="1"/>
          </p:cNvSpPr>
          <p:nvPr>
            <p:ph type="pic" sz="quarter" idx="10"/>
          </p:nvPr>
        </p:nvSpPr>
        <p:spPr>
          <a:xfrm>
            <a:off x="5289550" y="0"/>
            <a:ext cx="6902450" cy="6858000"/>
          </a:xfrm>
        </p:spPr>
        <p:txBody>
          <a:bodyPr/>
          <a:lstStyle/>
          <a:p>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B6BD30D4-1D98-51FE-3FF8-2FBA3409ECD8}"/>
              </a:ext>
            </a:extLst>
          </p:cNvPr>
          <p:cNvSpPr>
            <a:spLocks noGrp="1"/>
          </p:cNvSpPr>
          <p:nvPr>
            <p:ph type="body" sz="quarter" idx="11"/>
          </p:nvPr>
        </p:nvSpPr>
        <p:spPr>
          <a:xfrm>
            <a:off x="517524" y="873125"/>
            <a:ext cx="7224395" cy="2784475"/>
          </a:xfrm>
        </p:spPr>
        <p:txBody>
          <a:bodyPr>
            <a:noAutofit/>
          </a:bodyPr>
          <a:lstStyle>
            <a:lvl1pPr marL="0" indent="0">
              <a:buNone/>
              <a:defRPr sz="7200">
                <a:solidFill>
                  <a:schemeClr val="bg1"/>
                </a:solidFill>
                <a:latin typeface="+mj-lt"/>
              </a:defRPr>
            </a:lvl1pPr>
            <a:lvl2pPr>
              <a:defRPr sz="5400">
                <a:latin typeface="+mj-lt"/>
              </a:defRPr>
            </a:lvl2pPr>
            <a:lvl3pPr>
              <a:defRPr sz="4800">
                <a:latin typeface="+mj-lt"/>
              </a:defRPr>
            </a:lvl3pPr>
            <a:lvl4pPr>
              <a:defRPr sz="4400">
                <a:latin typeface="+mj-lt"/>
              </a:defRPr>
            </a:lvl4pPr>
            <a:lvl5pPr>
              <a:defRPr sz="4400">
                <a:latin typeface="+mj-lt"/>
              </a:defRPr>
            </a:lvl5pPr>
          </a:lstStyle>
          <a:p>
            <a:pPr lvl="0"/>
            <a:r>
              <a:rPr lang="en-US" dirty="0"/>
              <a:t>Click to edit Master text styles</a:t>
            </a:r>
            <a:endParaRPr lang="en-ZA" dirty="0"/>
          </a:p>
        </p:txBody>
      </p:sp>
      <p:sp>
        <p:nvSpPr>
          <p:cNvPr id="11" name="Text Placeholder 10">
            <a:extLst>
              <a:ext uri="{FF2B5EF4-FFF2-40B4-BE49-F238E27FC236}">
                <a16:creationId xmlns:a16="http://schemas.microsoft.com/office/drawing/2014/main" id="{53760D0A-B49B-4A0E-BCC8-EDFBAEB246A3}"/>
              </a:ext>
            </a:extLst>
          </p:cNvPr>
          <p:cNvSpPr>
            <a:spLocks noGrp="1"/>
          </p:cNvSpPr>
          <p:nvPr>
            <p:ph type="body" sz="quarter" idx="12"/>
          </p:nvPr>
        </p:nvSpPr>
        <p:spPr>
          <a:xfrm>
            <a:off x="517525" y="5089525"/>
            <a:ext cx="4054475" cy="1204913"/>
          </a:xfrm>
        </p:spPr>
        <p:txBody>
          <a:bodyPr>
            <a:no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extLst>
      <p:ext uri="{BB962C8B-B14F-4D97-AF65-F5344CB8AC3E}">
        <p14:creationId xmlns:p14="http://schemas.microsoft.com/office/powerpoint/2010/main" val="141871771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33702" y="-1"/>
            <a:ext cx="1858298" cy="1238865"/>
          </a:xfrm>
          <a:prstGeom prst="rect">
            <a:avLst/>
          </a:prstGeom>
        </p:spPr>
      </p:pic>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1510635"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1510635"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630146"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1510635" y="1621546"/>
            <a:ext cx="9426923"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83524426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4273C-3A3F-B555-8789-ED650B50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CCFC35-2457-ECBB-481F-76123FD22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a:extLst>
              <a:ext uri="{FF2B5EF4-FFF2-40B4-BE49-F238E27FC236}">
                <a16:creationId xmlns:a16="http://schemas.microsoft.com/office/drawing/2014/main" id="{09F95325-3DD8-BE2E-99FD-6CFCE5C1CC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024F3-716D-4858-A47B-A94DB0594318}" type="datetimeFigureOut">
              <a:rPr lang="en-ZA" smtClean="0"/>
              <a:t>26 May 2026</a:t>
            </a:fld>
            <a:endParaRPr lang="en-ZA"/>
          </a:p>
        </p:txBody>
      </p:sp>
      <p:sp>
        <p:nvSpPr>
          <p:cNvPr id="5" name="Footer Placeholder 4">
            <a:extLst>
              <a:ext uri="{FF2B5EF4-FFF2-40B4-BE49-F238E27FC236}">
                <a16:creationId xmlns:a16="http://schemas.microsoft.com/office/drawing/2014/main" id="{460F0A8D-ACC9-87FC-DD8A-3A3B65A03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9C8F8D83-5F58-5C1A-E403-F704D8DB4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4E149-6B8E-4F8F-B4E5-14C644F62B3E}" type="slidenum">
              <a:rPr lang="en-ZA" smtClean="0"/>
              <a:t>‹#›</a:t>
            </a:fld>
            <a:endParaRPr lang="en-ZA"/>
          </a:p>
        </p:txBody>
      </p:sp>
    </p:spTree>
    <p:extLst>
      <p:ext uri="{BB962C8B-B14F-4D97-AF65-F5344CB8AC3E}">
        <p14:creationId xmlns:p14="http://schemas.microsoft.com/office/powerpoint/2010/main" val="4399271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microsoft.com/office/2018/10/relationships/comments" Target="../comments/modernComment_131_79881A5D.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microsoft.com/office/2018/10/relationships/comments" Target="../comments/modernComment_132_FDDBD49A.xml"/><Relationship Id="rId1" Type="http://schemas.openxmlformats.org/officeDocument/2006/relationships/slideLayout" Target="../slideLayouts/slideLayout9.xml"/><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microsoft.com/office/2018/10/relationships/comments" Target="../comments/modernComment_100_D17BB4F7.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Graphic 361">
            <a:extLst>
              <a:ext uri="{FF2B5EF4-FFF2-40B4-BE49-F238E27FC236}">
                <a16:creationId xmlns:a16="http://schemas.microsoft.com/office/drawing/2014/main" id="{391A2ECC-3ECC-01B9-8A5C-BCB31CA468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696" y="476250"/>
            <a:ext cx="3458527" cy="1278508"/>
          </a:xfrm>
          <a:prstGeom prst="rect">
            <a:avLst/>
          </a:prstGeom>
        </p:spPr>
      </p:pic>
      <p:sp>
        <p:nvSpPr>
          <p:cNvPr id="363" name="Title 1">
            <a:extLst>
              <a:ext uri="{FF2B5EF4-FFF2-40B4-BE49-F238E27FC236}">
                <a16:creationId xmlns:a16="http://schemas.microsoft.com/office/drawing/2014/main" id="{32D37EA8-F6F3-C2D3-F66C-7176E45266B7}"/>
              </a:ext>
            </a:extLst>
          </p:cNvPr>
          <p:cNvSpPr txBox="1">
            <a:spLocks/>
          </p:cNvSpPr>
          <p:nvPr/>
        </p:nvSpPr>
        <p:spPr>
          <a:xfrm>
            <a:off x="597696" y="779184"/>
            <a:ext cx="8336280" cy="2852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t>Program Design</a:t>
            </a:r>
            <a:b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br>
            <a:r>
              <a:rPr lang="en-ZA" sz="4000" dirty="0">
                <a:solidFill>
                  <a:prstClr val="white"/>
                </a:solidFill>
                <a:latin typeface="Arial" panose="020B0604020202020204" pitchFamily="34" charset="0"/>
                <a:cs typeface="Arial" panose="020B0604020202020204" pitchFamily="34" charset="0"/>
              </a:rPr>
              <a:t>ITPRA0</a:t>
            </a:r>
            <a:endParaRPr kumimoji="0" lang="en-ZA"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03896278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Title 1">
            <a:extLst>
              <a:ext uri="{FF2B5EF4-FFF2-40B4-BE49-F238E27FC236}">
                <a16:creationId xmlns:a16="http://schemas.microsoft.com/office/drawing/2014/main" id="{32D37EA8-F6F3-C2D3-F66C-7176E45266B7}"/>
              </a:ext>
            </a:extLst>
          </p:cNvPr>
          <p:cNvSpPr txBox="1">
            <a:spLocks/>
          </p:cNvSpPr>
          <p:nvPr/>
        </p:nvSpPr>
        <p:spPr>
          <a:xfrm>
            <a:off x="933738" y="2090440"/>
            <a:ext cx="10324524" cy="26771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Disclaimer</a:t>
            </a:r>
          </a:p>
          <a:p>
            <a:pPr marL="0" marR="0" lvl="0" indent="0" algn="ctr" defTabSz="914400" rtl="0" eaLnBrk="1" fontAlgn="auto" latinLnBrk="0" hangingPunct="1">
              <a:lnSpc>
                <a:spcPct val="150000"/>
              </a:lnSpc>
              <a:spcBef>
                <a:spcPct val="0"/>
              </a:spcBef>
              <a:spcAft>
                <a:spcPts val="0"/>
              </a:spcAft>
              <a:buClrTx/>
              <a:buSzTx/>
              <a:buFontTx/>
              <a:buNone/>
              <a:tabLst/>
              <a:defRPr/>
            </a:pPr>
            <a:endPar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Please note that content made available on </a:t>
            </a:r>
            <a:r>
              <a:rPr kumimoji="0" lang="en-ZA" sz="2400" b="0" i="0" u="none" strike="noStrike" kern="100" cap="none" spc="0" normalizeH="0" baseline="0" noProof="0" dirty="0" err="1">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myLMS</a:t>
            </a: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 may deviate only slightly from what is covered in lecturer-led sessions, however, the content uploaded to </a:t>
            </a:r>
            <a:r>
              <a:rPr kumimoji="0" lang="en-ZA" sz="2400" b="0" i="0" u="none" strike="noStrike" kern="100" cap="none" spc="0" normalizeH="0" baseline="0" noProof="0" dirty="0" err="1">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myLMS</a:t>
            </a: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 represents all the material that you need to refer to in preparation for your assessments.</a:t>
            </a:r>
          </a:p>
        </p:txBody>
      </p:sp>
      <p:pic>
        <p:nvPicPr>
          <p:cNvPr id="2" name="Graphic 1">
            <a:extLst>
              <a:ext uri="{FF2B5EF4-FFF2-40B4-BE49-F238E27FC236}">
                <a16:creationId xmlns:a16="http://schemas.microsoft.com/office/drawing/2014/main" id="{8C0DA887-F084-A6A9-9611-08454386A7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04" y="476250"/>
            <a:ext cx="2259518" cy="832454"/>
          </a:xfrm>
          <a:prstGeom prst="rect">
            <a:avLst/>
          </a:prstGeom>
        </p:spPr>
      </p:pic>
      <p:pic>
        <p:nvPicPr>
          <p:cNvPr id="5" name="Graphic 4">
            <a:extLst>
              <a:ext uri="{FF2B5EF4-FFF2-40B4-BE49-F238E27FC236}">
                <a16:creationId xmlns:a16="http://schemas.microsoft.com/office/drawing/2014/main" id="{1D91EA01-69C8-29A5-F32B-BE41966011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685" y="7378034"/>
            <a:ext cx="7334250" cy="4905375"/>
          </a:xfrm>
          <a:prstGeom prst="rect">
            <a:avLst/>
          </a:prstGeom>
        </p:spPr>
      </p:pic>
    </p:spTree>
    <p:extLst>
      <p:ext uri="{BB962C8B-B14F-4D97-AF65-F5344CB8AC3E}">
        <p14:creationId xmlns:p14="http://schemas.microsoft.com/office/powerpoint/2010/main" val="425904245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F297E3-53A5-9CB4-8444-1D0477E55A18}"/>
              </a:ext>
            </a:extLst>
          </p:cNvPr>
          <p:cNvSpPr>
            <a:spLocks noGrp="1"/>
          </p:cNvSpPr>
          <p:nvPr>
            <p:ph type="title"/>
          </p:nvPr>
        </p:nvSpPr>
        <p:spPr/>
        <p:txBody>
          <a:bodyPr/>
          <a:lstStyle/>
          <a:p>
            <a:r>
              <a:rPr lang="en-US" sz="4000" dirty="0">
                <a:latin typeface="Arial" panose="020B0604020202020204" pitchFamily="34" charset="0"/>
                <a:cs typeface="Arial" panose="020B0604020202020204" pitchFamily="34" charset="0"/>
              </a:rPr>
              <a:t>Eduvos and the Flipped Classroom</a:t>
            </a:r>
          </a:p>
        </p:txBody>
      </p:sp>
      <p:sp>
        <p:nvSpPr>
          <p:cNvPr id="16" name="Text Placeholder 15">
            <a:extLst>
              <a:ext uri="{FF2B5EF4-FFF2-40B4-BE49-F238E27FC236}">
                <a16:creationId xmlns:a16="http://schemas.microsoft.com/office/drawing/2014/main" id="{EF4B11BA-7A9A-AAB9-8FF2-97334BFF590C}"/>
              </a:ext>
            </a:extLst>
          </p:cNvPr>
          <p:cNvSpPr>
            <a:spLocks noGrp="1"/>
          </p:cNvSpPr>
          <p:nvPr>
            <p:ph type="body" sz="quarter" idx="4294967295"/>
          </p:nvPr>
        </p:nvSpPr>
        <p:spPr>
          <a:xfrm>
            <a:off x="8220074" y="3189777"/>
            <a:ext cx="3132137" cy="2846387"/>
          </a:xfrm>
        </p:spPr>
        <p:txBody>
          <a:bodyPr vert="horz" lIns="91440" tIns="45720" rIns="91440" bIns="45720" rtlCol="0" anchor="t">
            <a:normAutofit/>
          </a:bodyPr>
          <a:lstStyle/>
          <a:p>
            <a:pPr marL="0" indent="0" algn="ctr">
              <a:lnSpc>
                <a:spcPct val="150000"/>
              </a:lnSpc>
              <a:spcBef>
                <a:spcPts val="1200"/>
              </a:spcBef>
              <a:buNone/>
              <a:defRPr/>
            </a:pPr>
            <a:r>
              <a:rPr lang="en-ZA" sz="1200" dirty="0">
                <a:latin typeface="Arial" panose="020B0604020202020204" pitchFamily="34" charset="0"/>
                <a:cs typeface="Arial" panose="020B0604020202020204" pitchFamily="34" charset="0"/>
              </a:rPr>
              <a:t>Depending on how difficult this lecturer-led session is, your lecturer may recommend some concepts to revise for this week's learning opportunities. Then you will focus on the following learning opportunities on myLMS in your self-study time to prepare for the next lecturer-led session(s). </a:t>
            </a:r>
            <a:endParaRPr lang="en-ZA" sz="12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cs typeface="Arial" panose="020B0604020202020204" pitchFamily="34" charset="0"/>
            </a:endParaRPr>
          </a:p>
          <a:p>
            <a:pPr algn="ctr"/>
            <a:endParaRPr lang="en-ZA" sz="1600" dirty="0">
              <a:solidFill>
                <a:schemeClr val="tx1">
                  <a:lumMod val="65000"/>
                  <a:lumOff val="35000"/>
                </a:schemeClr>
              </a:solidFill>
            </a:endParaRPr>
          </a:p>
        </p:txBody>
      </p:sp>
      <p:sp>
        <p:nvSpPr>
          <p:cNvPr id="17" name="Text Placeholder 16">
            <a:extLst>
              <a:ext uri="{FF2B5EF4-FFF2-40B4-BE49-F238E27FC236}">
                <a16:creationId xmlns:a16="http://schemas.microsoft.com/office/drawing/2014/main" id="{5ABE80F9-DE00-9C6B-3B42-D264CD6C7210}"/>
              </a:ext>
            </a:extLst>
          </p:cNvPr>
          <p:cNvSpPr>
            <a:spLocks noGrp="1"/>
          </p:cNvSpPr>
          <p:nvPr>
            <p:ph type="body" sz="quarter" idx="4294967295"/>
          </p:nvPr>
        </p:nvSpPr>
        <p:spPr>
          <a:xfrm>
            <a:off x="8218488" y="2644866"/>
            <a:ext cx="3362175" cy="393879"/>
          </a:xfrm>
        </p:spPr>
        <p:txBody>
          <a:bodyPr vert="horz" lIns="91440" tIns="45720" rIns="91440" bIns="45720" rtlCol="0" anchor="ctr">
            <a:normAutofit/>
          </a:bodyPr>
          <a:lstStyle/>
          <a:p>
            <a:pPr marL="0" indent="0" algn="ctr">
              <a:buNone/>
            </a:pPr>
            <a:r>
              <a:rPr lang="en-ZA" sz="1800" dirty="0">
                <a:solidFill>
                  <a:schemeClr val="accent2"/>
                </a:solidFill>
                <a:latin typeface="Arial" panose="020B0604020202020204" pitchFamily="34" charset="0"/>
                <a:cs typeface="Arial" panose="020B0604020202020204" pitchFamily="34" charset="0"/>
              </a:rPr>
              <a:t>After this lecturer-led session</a:t>
            </a:r>
            <a:endParaRPr lang="en-US" sz="2000" dirty="0">
              <a:solidFill>
                <a:schemeClr val="accent2"/>
              </a:solidFill>
              <a:latin typeface="Arial" panose="020B0604020202020204" pitchFamily="34" charset="0"/>
              <a:cs typeface="Arial" panose="020B0604020202020204" pitchFamily="34" charset="0"/>
            </a:endParaRPr>
          </a:p>
        </p:txBody>
      </p:sp>
      <p:sp>
        <p:nvSpPr>
          <p:cNvPr id="2" name="Oval 1">
            <a:extLst>
              <a:ext uri="{FF2B5EF4-FFF2-40B4-BE49-F238E27FC236}">
                <a16:creationId xmlns:a16="http://schemas.microsoft.com/office/drawing/2014/main" id="{922C3C54-8AB4-5D2A-7CC6-12ACF2571CD9}"/>
              </a:ext>
            </a:extLst>
          </p:cNvPr>
          <p:cNvSpPr/>
          <p:nvPr/>
        </p:nvSpPr>
        <p:spPr>
          <a:xfrm>
            <a:off x="1848950"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Oval 2">
            <a:extLst>
              <a:ext uri="{FF2B5EF4-FFF2-40B4-BE49-F238E27FC236}">
                <a16:creationId xmlns:a16="http://schemas.microsoft.com/office/drawing/2014/main" id="{BAA0E3CB-CE57-17B8-C66A-A2783FEB17C9}"/>
              </a:ext>
            </a:extLst>
          </p:cNvPr>
          <p:cNvSpPr/>
          <p:nvPr/>
        </p:nvSpPr>
        <p:spPr>
          <a:xfrm>
            <a:off x="5701812"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Oval 3">
            <a:extLst>
              <a:ext uri="{FF2B5EF4-FFF2-40B4-BE49-F238E27FC236}">
                <a16:creationId xmlns:a16="http://schemas.microsoft.com/office/drawing/2014/main" id="{E38D6B66-C64D-CA58-43A0-426BB41D95EB}"/>
              </a:ext>
            </a:extLst>
          </p:cNvPr>
          <p:cNvSpPr/>
          <p:nvPr/>
        </p:nvSpPr>
        <p:spPr>
          <a:xfrm>
            <a:off x="9391956"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3</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Slide Number Placeholder 3">
            <a:extLst>
              <a:ext uri="{FF2B5EF4-FFF2-40B4-BE49-F238E27FC236}">
                <a16:creationId xmlns:a16="http://schemas.microsoft.com/office/drawing/2014/main" id="{94BF3A28-6182-C78A-0AAC-CEFF192C055B}"/>
              </a:ext>
            </a:extLst>
          </p:cNvPr>
          <p:cNvSpPr txBox="1">
            <a:spLocks/>
          </p:cNvSpPr>
          <p:nvPr/>
        </p:nvSpPr>
        <p:spPr>
          <a:xfrm>
            <a:off x="11216640" y="6165602"/>
            <a:ext cx="459423" cy="4028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C45CFD10-50C9-47C7-9308-AA126F3F89FE}" type="slidenum">
              <a:rPr kumimoji="0" lang="en-ZA" sz="1400" b="0" i="0" u="none" strike="noStrike" kern="1200" cap="none" spc="0" normalizeH="0" baseline="0" noProof="0" smtClean="0">
                <a:ln>
                  <a:noFill/>
                </a:ln>
                <a:solidFill>
                  <a:srgbClr val="CFAD80"/>
                </a:solidFill>
                <a:effectLst/>
                <a:uLnTx/>
                <a:uFillTx/>
                <a:latin typeface="CocogoosePr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ZA" sz="1400" b="0" i="0" u="none" strike="noStrike" kern="1200" cap="none" spc="0" normalizeH="0" baseline="0" noProof="0" dirty="0">
              <a:ln>
                <a:noFill/>
              </a:ln>
              <a:solidFill>
                <a:srgbClr val="CFAD80"/>
              </a:solidFill>
              <a:effectLst/>
              <a:uLnTx/>
              <a:uFillTx/>
              <a:latin typeface="CocogoosePro Light"/>
              <a:ea typeface="+mn-ea"/>
              <a:cs typeface="+mn-cs"/>
            </a:endParaRPr>
          </a:p>
        </p:txBody>
      </p:sp>
      <p:sp>
        <p:nvSpPr>
          <p:cNvPr id="52" name="Text Placeholder 13">
            <a:extLst>
              <a:ext uri="{FF2B5EF4-FFF2-40B4-BE49-F238E27FC236}">
                <a16:creationId xmlns:a16="http://schemas.microsoft.com/office/drawing/2014/main" id="{5D09F38F-3BA0-74A7-A8DB-7433D3491CBA}"/>
              </a:ext>
            </a:extLst>
          </p:cNvPr>
          <p:cNvSpPr txBox="1">
            <a:spLocks/>
          </p:cNvSpPr>
          <p:nvPr/>
        </p:nvSpPr>
        <p:spPr>
          <a:xfrm>
            <a:off x="677068" y="3193316"/>
            <a:ext cx="3132137" cy="284718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0"/>
              </a:spcAft>
              <a:buClr>
                <a:srgbClr val="1B4087"/>
              </a:buClr>
              <a:buSzPct val="150000"/>
              <a:buFont typeface="Arial" panose="020B0604020202020204" pitchFamily="34" charset="0"/>
              <a:buNone/>
              <a:tabLst/>
              <a:defRPr/>
            </a:pP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At home, in your self-study time, you worked through </a:t>
            </a:r>
            <a:r>
              <a:rPr kumimoji="0" lang="en-ZA" sz="1200" b="0" i="0" u="none" strike="noStrike" kern="1200" cap="none" spc="0" normalizeH="0" baseline="0" noProof="0" dirty="0" err="1">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myLMS</a:t>
            </a: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 content to prepare you for this lecturer-led session. You have completed any practice activities and prepared any questions you may still have on the content. The lecturer-led session will not be a traditional lecture.</a:t>
            </a:r>
            <a:endParaRPr kumimoji="0" lang="en-US"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
        <p:nvSpPr>
          <p:cNvPr id="53" name="Text Placeholder 14">
            <a:extLst>
              <a:ext uri="{FF2B5EF4-FFF2-40B4-BE49-F238E27FC236}">
                <a16:creationId xmlns:a16="http://schemas.microsoft.com/office/drawing/2014/main" id="{A17E74CB-F460-0E37-394C-50A5DD89BBE1}"/>
              </a:ext>
            </a:extLst>
          </p:cNvPr>
          <p:cNvSpPr txBox="1">
            <a:spLocks/>
          </p:cNvSpPr>
          <p:nvPr/>
        </p:nvSpPr>
        <p:spPr>
          <a:xfrm>
            <a:off x="534089" y="2630488"/>
            <a:ext cx="3390930" cy="3938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1B4087"/>
              </a:buClr>
              <a:buSzPct val="150000"/>
              <a:buFont typeface="Arial" panose="020B0604020202020204" pitchFamily="34" charset="0"/>
              <a:buNone/>
              <a:tabLst/>
              <a:defRPr/>
            </a:pPr>
            <a:r>
              <a:rPr kumimoji="0" lang="en-ZA"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rPr>
              <a:t>Before this lecturer-led session</a:t>
            </a:r>
            <a:endParaRPr kumimoji="0" lang="en-US"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endParaRPr>
          </a:p>
        </p:txBody>
      </p:sp>
      <p:sp>
        <p:nvSpPr>
          <p:cNvPr id="10" name="Text Placeholder 15">
            <a:extLst>
              <a:ext uri="{FF2B5EF4-FFF2-40B4-BE49-F238E27FC236}">
                <a16:creationId xmlns:a16="http://schemas.microsoft.com/office/drawing/2014/main" id="{0DCCCFB0-2A75-977E-9B47-200451241701}"/>
              </a:ext>
            </a:extLst>
          </p:cNvPr>
          <p:cNvSpPr txBox="1">
            <a:spLocks/>
          </p:cNvSpPr>
          <p:nvPr/>
        </p:nvSpPr>
        <p:spPr>
          <a:xfrm>
            <a:off x="4529930" y="3189777"/>
            <a:ext cx="3132137" cy="28463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0"/>
              </a:spcAft>
              <a:buClr>
                <a:srgbClr val="1B4087"/>
              </a:buClr>
              <a:buSzPct val="150000"/>
              <a:buFont typeface="Arial" panose="020B0604020202020204" pitchFamily="34" charset="0"/>
              <a:buNone/>
              <a:tabLst/>
              <a:defRPr/>
            </a:pP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During your lecturer-led session(s), you will engage with your peers and lecturer in active learning. I.e. you will have an opportunity to ask your questions, to debate topics, and to practice working through the technical aspects of what you learnt at home. You will be exposed to higher-order thinking activities. Your lecturer will guide you on what to prepare before attending your next session.</a:t>
            </a:r>
            <a:endParaRPr kumimoji="0" lang="en-ZA"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Text Placeholder 16">
            <a:extLst>
              <a:ext uri="{FF2B5EF4-FFF2-40B4-BE49-F238E27FC236}">
                <a16:creationId xmlns:a16="http://schemas.microsoft.com/office/drawing/2014/main" id="{2298FB94-C75B-4433-92C0-2B83D33158A8}"/>
              </a:ext>
            </a:extLst>
          </p:cNvPr>
          <p:cNvSpPr txBox="1">
            <a:spLocks/>
          </p:cNvSpPr>
          <p:nvPr/>
        </p:nvSpPr>
        <p:spPr>
          <a:xfrm>
            <a:off x="4505684" y="2630488"/>
            <a:ext cx="3390930" cy="40825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1B4087"/>
              </a:buClr>
              <a:buSzPct val="150000"/>
              <a:buFont typeface="Arial" panose="020B0604020202020204" pitchFamily="34" charset="0"/>
              <a:buNone/>
              <a:tabLst/>
              <a:defRPr/>
            </a:pPr>
            <a:r>
              <a:rPr kumimoji="0" lang="en-ZA"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rPr>
              <a:t>During this lecturer-led session</a:t>
            </a:r>
            <a:endParaRPr kumimoji="0" lang="en-US" sz="24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5854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F958E30E-8BA7-6007-E227-FB3A8769B6DA}"/>
              </a:ext>
            </a:extLst>
          </p:cNvPr>
          <p:cNvSpPr txBox="1"/>
          <p:nvPr/>
        </p:nvSpPr>
        <p:spPr>
          <a:xfrm>
            <a:off x="1286105" y="423061"/>
            <a:ext cx="104486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rPr>
              <a:t>What will be covered in the rest of today’s session</a:t>
            </a:r>
            <a:r>
              <a:rPr kumimoji="0" lang="en-US" sz="36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rPr>
              <a:t>?</a:t>
            </a:r>
            <a:endParaRPr kumimoji="0" lang="en-ZA" sz="36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endParaRPr>
          </a:p>
        </p:txBody>
      </p:sp>
      <p:sp>
        <p:nvSpPr>
          <p:cNvPr id="39" name="TextBox 38">
            <a:extLst>
              <a:ext uri="{FF2B5EF4-FFF2-40B4-BE49-F238E27FC236}">
                <a16:creationId xmlns:a16="http://schemas.microsoft.com/office/drawing/2014/main" id="{926A2917-C7CE-45C4-E711-4939F583C89B}"/>
              </a:ext>
            </a:extLst>
          </p:cNvPr>
          <p:cNvSpPr txBox="1"/>
          <p:nvPr/>
        </p:nvSpPr>
        <p:spPr>
          <a:xfrm>
            <a:off x="3279914" y="1861086"/>
            <a:ext cx="8454887" cy="258532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What will be covered in the lecture-led session: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Explain what a module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Import and use the turtle module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Create Turtle objects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Draw basic shapes using turtle graphics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Apply loops with turtle graphics</a:t>
            </a:r>
            <a:endParaRPr lang="en-US" dirty="0">
              <a:solidFill>
                <a:prstClr val="white"/>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Understand basic object-oriented programming concepts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CocogoosePro Light"/>
              <a:ea typeface="+mn-ea"/>
              <a:cs typeface="+mn-cs"/>
            </a:endParaRPr>
          </a:p>
        </p:txBody>
      </p:sp>
      <p:pic>
        <p:nvPicPr>
          <p:cNvPr id="48" name="Graphic 47">
            <a:extLst>
              <a:ext uri="{FF2B5EF4-FFF2-40B4-BE49-F238E27FC236}">
                <a16:creationId xmlns:a16="http://schemas.microsoft.com/office/drawing/2014/main" id="{4A3C9EA7-50BB-EA71-FF86-C7EF505F99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264231" y="1276467"/>
            <a:ext cx="5556170" cy="125848"/>
          </a:xfrm>
          <a:prstGeom prst="rect">
            <a:avLst/>
          </a:prstGeom>
        </p:spPr>
      </p:pic>
      <p:grpSp>
        <p:nvGrpSpPr>
          <p:cNvPr id="4" name="Graphic 9">
            <a:extLst>
              <a:ext uri="{FF2B5EF4-FFF2-40B4-BE49-F238E27FC236}">
                <a16:creationId xmlns:a16="http://schemas.microsoft.com/office/drawing/2014/main" id="{77DA2A28-30DD-C5E9-08F5-D7A6A460E2CC}"/>
              </a:ext>
            </a:extLst>
          </p:cNvPr>
          <p:cNvGrpSpPr/>
          <p:nvPr/>
        </p:nvGrpSpPr>
        <p:grpSpPr>
          <a:xfrm>
            <a:off x="547841" y="373487"/>
            <a:ext cx="434604" cy="732076"/>
            <a:chOff x="11234574" y="516131"/>
            <a:chExt cx="489199" cy="824039"/>
          </a:xfrm>
          <a:solidFill>
            <a:schemeClr val="bg1"/>
          </a:solidFill>
        </p:grpSpPr>
        <p:sp>
          <p:nvSpPr>
            <p:cNvPr id="5" name="Freeform: Shape 4">
              <a:extLst>
                <a:ext uri="{FF2B5EF4-FFF2-40B4-BE49-F238E27FC236}">
                  <a16:creationId xmlns:a16="http://schemas.microsoft.com/office/drawing/2014/main" id="{11485288-7B2A-8473-D75C-04DD6BB58B8A}"/>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6" name="Freeform: Shape 5">
              <a:extLst>
                <a:ext uri="{FF2B5EF4-FFF2-40B4-BE49-F238E27FC236}">
                  <a16:creationId xmlns:a16="http://schemas.microsoft.com/office/drawing/2014/main" id="{7A026EF8-C282-9B3E-420D-5F19C54F6D4F}"/>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35" name="Freeform: Shape 34">
              <a:extLst>
                <a:ext uri="{FF2B5EF4-FFF2-40B4-BE49-F238E27FC236}">
                  <a16:creationId xmlns:a16="http://schemas.microsoft.com/office/drawing/2014/main" id="{BBB5A4F2-8BAF-A524-45F8-436D1DA00882}"/>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5" name="Freeform: Shape 44">
              <a:extLst>
                <a:ext uri="{FF2B5EF4-FFF2-40B4-BE49-F238E27FC236}">
                  <a16:creationId xmlns:a16="http://schemas.microsoft.com/office/drawing/2014/main" id="{DD9FF288-F339-E9D0-26E7-5B02B6A5EA0C}"/>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6" name="Freeform: Shape 45">
              <a:extLst>
                <a:ext uri="{FF2B5EF4-FFF2-40B4-BE49-F238E27FC236}">
                  <a16:creationId xmlns:a16="http://schemas.microsoft.com/office/drawing/2014/main" id="{50E33388-751A-DC30-A875-1FCC66588FCE}"/>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7" name="Freeform: Shape 46">
              <a:extLst>
                <a:ext uri="{FF2B5EF4-FFF2-40B4-BE49-F238E27FC236}">
                  <a16:creationId xmlns:a16="http://schemas.microsoft.com/office/drawing/2014/main" id="{74E689CE-C40A-9C4B-3E18-BDA971B85E11}"/>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grpSp>
    </p:spTree>
    <p:extLst>
      <p:ext uri="{BB962C8B-B14F-4D97-AF65-F5344CB8AC3E}">
        <p14:creationId xmlns:p14="http://schemas.microsoft.com/office/powerpoint/2010/main" val="351454539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E7F8-F096-02E1-AA0C-C65110901A3D}"/>
              </a:ext>
            </a:extLst>
          </p:cNvPr>
          <p:cNvSpPr>
            <a:spLocks noGrp="1"/>
          </p:cNvSpPr>
          <p:nvPr>
            <p:ph type="title"/>
          </p:nvPr>
        </p:nvSpPr>
        <p:spPr/>
        <p:txBody>
          <a:bodyPr/>
          <a:lstStyle/>
          <a:p>
            <a:r>
              <a:rPr lang="en-ZA" dirty="0"/>
              <a:t>What is a Module?</a:t>
            </a:r>
          </a:p>
        </p:txBody>
      </p:sp>
      <p:sp>
        <p:nvSpPr>
          <p:cNvPr id="3" name="Text Placeholder 2">
            <a:extLst>
              <a:ext uri="{FF2B5EF4-FFF2-40B4-BE49-F238E27FC236}">
                <a16:creationId xmlns:a16="http://schemas.microsoft.com/office/drawing/2014/main" id="{A62B4AF9-7265-7BBC-CD59-E6205F826D26}"/>
              </a:ext>
            </a:extLst>
          </p:cNvPr>
          <p:cNvSpPr>
            <a:spLocks noGrp="1"/>
          </p:cNvSpPr>
          <p:nvPr>
            <p:ph type="body" sz="quarter" idx="13"/>
          </p:nvPr>
        </p:nvSpPr>
        <p:spPr/>
        <p:txBody>
          <a:bodyPr>
            <a:normAutofit/>
          </a:bodyPr>
          <a:lstStyle/>
          <a:p>
            <a:r>
              <a:rPr lang="en-US" dirty="0"/>
              <a:t>A </a:t>
            </a:r>
            <a:r>
              <a:rPr lang="en-US" b="1" dirty="0"/>
              <a:t>module</a:t>
            </a:r>
            <a:r>
              <a:rPr lang="en-US" dirty="0"/>
              <a:t> is a file containing Python code. </a:t>
            </a:r>
          </a:p>
          <a:p>
            <a:r>
              <a:rPr lang="en-US" dirty="0"/>
              <a:t>Modules allow programmers to reuse code written by others. </a:t>
            </a:r>
          </a:p>
          <a:p>
            <a:r>
              <a:rPr lang="en-US" dirty="0"/>
              <a:t>Python includes many built-in modules. </a:t>
            </a:r>
          </a:p>
          <a:p>
            <a:r>
              <a:rPr lang="en-US" dirty="0"/>
              <a:t>Examples:</a:t>
            </a:r>
          </a:p>
          <a:p>
            <a:pPr lvl="1"/>
            <a:r>
              <a:rPr lang="en-US" dirty="0"/>
              <a:t>math </a:t>
            </a:r>
          </a:p>
          <a:p>
            <a:pPr lvl="1"/>
            <a:r>
              <a:rPr lang="en-US" dirty="0"/>
              <a:t>random </a:t>
            </a:r>
          </a:p>
          <a:p>
            <a:pPr lvl="1"/>
            <a:r>
              <a:rPr lang="en-US" dirty="0"/>
              <a:t>turtle </a:t>
            </a:r>
          </a:p>
          <a:p>
            <a:r>
              <a:rPr lang="en-US" dirty="0"/>
              <a:t>Python makes code sharing easy through modules. </a:t>
            </a:r>
          </a:p>
          <a:p>
            <a:endParaRPr lang="en-ZA" dirty="0"/>
          </a:p>
        </p:txBody>
      </p:sp>
    </p:spTree>
    <p:extLst>
      <p:ext uri="{BB962C8B-B14F-4D97-AF65-F5344CB8AC3E}">
        <p14:creationId xmlns:p14="http://schemas.microsoft.com/office/powerpoint/2010/main" val="24826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2CB49-246C-1F36-10BB-398979D97F59}"/>
              </a:ext>
            </a:extLst>
          </p:cNvPr>
          <p:cNvSpPr>
            <a:spLocks noGrp="1"/>
          </p:cNvSpPr>
          <p:nvPr>
            <p:ph type="title"/>
          </p:nvPr>
        </p:nvSpPr>
        <p:spPr/>
        <p:txBody>
          <a:bodyPr/>
          <a:lstStyle/>
          <a:p>
            <a:r>
              <a:rPr lang="en-US" dirty="0"/>
              <a:t>What is Turtle Graphics</a:t>
            </a:r>
            <a:endParaRPr lang="en-ZA" dirty="0"/>
          </a:p>
        </p:txBody>
      </p:sp>
      <p:sp>
        <p:nvSpPr>
          <p:cNvPr id="3" name="Text Placeholder 2">
            <a:extLst>
              <a:ext uri="{FF2B5EF4-FFF2-40B4-BE49-F238E27FC236}">
                <a16:creationId xmlns:a16="http://schemas.microsoft.com/office/drawing/2014/main" id="{76A9F9B6-3CC7-C6F7-0C29-EA01C6C1ACBC}"/>
              </a:ext>
            </a:extLst>
          </p:cNvPr>
          <p:cNvSpPr>
            <a:spLocks noGrp="1"/>
          </p:cNvSpPr>
          <p:nvPr>
            <p:ph type="body" sz="quarter" idx="13"/>
          </p:nvPr>
        </p:nvSpPr>
        <p:spPr/>
        <p:txBody>
          <a:bodyPr>
            <a:normAutofit lnSpcReduction="10000"/>
          </a:bodyPr>
          <a:lstStyle/>
          <a:p>
            <a:r>
              <a:rPr lang="en-US" dirty="0"/>
              <a:t>Turtle graphics allows programmers to draw shapes on the screen. </a:t>
            </a:r>
          </a:p>
          <a:p>
            <a:r>
              <a:rPr lang="en-US" dirty="0"/>
              <a:t>A turtle moves around like a pen. </a:t>
            </a:r>
          </a:p>
          <a:p>
            <a:r>
              <a:rPr lang="en-US" dirty="0"/>
              <a:t>When the pen is down → it draws. </a:t>
            </a:r>
          </a:p>
          <a:p>
            <a:r>
              <a:rPr lang="en-US" dirty="0"/>
              <a:t>When the pen is up → it moves without drawing. </a:t>
            </a:r>
          </a:p>
          <a:p>
            <a:r>
              <a:rPr lang="en-US" dirty="0"/>
              <a:t>Uses:</a:t>
            </a:r>
          </a:p>
          <a:p>
            <a:pPr lvl="1"/>
            <a:r>
              <a:rPr lang="en-US" dirty="0"/>
              <a:t>Learning programming </a:t>
            </a:r>
          </a:p>
          <a:p>
            <a:pPr lvl="1"/>
            <a:r>
              <a:rPr lang="en-US" dirty="0"/>
              <a:t>Understanding OOP </a:t>
            </a:r>
          </a:p>
          <a:p>
            <a:pPr lvl="1"/>
            <a:r>
              <a:rPr lang="en-US" dirty="0"/>
              <a:t>Creating graphics</a:t>
            </a:r>
          </a:p>
          <a:p>
            <a:endParaRPr lang="en-ZA" dirty="0"/>
          </a:p>
        </p:txBody>
      </p:sp>
    </p:spTree>
    <p:extLst>
      <p:ext uri="{BB962C8B-B14F-4D97-AF65-F5344CB8AC3E}">
        <p14:creationId xmlns:p14="http://schemas.microsoft.com/office/powerpoint/2010/main" val="1179159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4936-D079-256D-E38F-A1D251907D7A}"/>
              </a:ext>
            </a:extLst>
          </p:cNvPr>
          <p:cNvSpPr>
            <a:spLocks noGrp="1"/>
          </p:cNvSpPr>
          <p:nvPr>
            <p:ph type="title"/>
          </p:nvPr>
        </p:nvSpPr>
        <p:spPr/>
        <p:txBody>
          <a:bodyPr/>
          <a:lstStyle/>
          <a:p>
            <a:r>
              <a:rPr lang="en-US" dirty="0"/>
              <a:t>Importing Modules</a:t>
            </a:r>
            <a:endParaRPr lang="en-ZA" dirty="0"/>
          </a:p>
        </p:txBody>
      </p:sp>
      <p:sp>
        <p:nvSpPr>
          <p:cNvPr id="3" name="Text Placeholder 2">
            <a:extLst>
              <a:ext uri="{FF2B5EF4-FFF2-40B4-BE49-F238E27FC236}">
                <a16:creationId xmlns:a16="http://schemas.microsoft.com/office/drawing/2014/main" id="{2E79A7A3-6028-2CFF-9BE5-8C2A2E2443AA}"/>
              </a:ext>
            </a:extLst>
          </p:cNvPr>
          <p:cNvSpPr>
            <a:spLocks noGrp="1"/>
          </p:cNvSpPr>
          <p:nvPr>
            <p:ph type="body" sz="quarter" idx="16"/>
          </p:nvPr>
        </p:nvSpPr>
        <p:spPr/>
        <p:txBody>
          <a:bodyPr/>
          <a:lstStyle/>
          <a:p>
            <a:r>
              <a:rPr lang="en-US" dirty="0">
                <a:solidFill>
                  <a:srgbClr val="0070C0"/>
                </a:solidFill>
              </a:rPr>
              <a:t>import turtle</a:t>
            </a:r>
          </a:p>
          <a:p>
            <a:pPr marL="285750" indent="-285750">
              <a:buFont typeface="Arial" panose="020B0604020202020204" pitchFamily="34" charset="0"/>
              <a:buChar char="•"/>
            </a:pPr>
            <a:r>
              <a:rPr lang="en-US" dirty="0"/>
              <a:t>To use Turtle:</a:t>
            </a:r>
          </a:p>
          <a:p>
            <a:pPr marL="198438" lvl="1" indent="0">
              <a:buNone/>
            </a:pPr>
            <a:r>
              <a:rPr lang="en-US" dirty="0">
                <a:solidFill>
                  <a:srgbClr val="0070C0"/>
                </a:solidFill>
              </a:rPr>
              <a:t>t = </a:t>
            </a:r>
            <a:r>
              <a:rPr lang="en-US" dirty="0" err="1">
                <a:solidFill>
                  <a:srgbClr val="0070C0"/>
                </a:solidFill>
              </a:rPr>
              <a:t>turtle.Turtle</a:t>
            </a:r>
            <a:r>
              <a:rPr lang="en-US" dirty="0">
                <a:solidFill>
                  <a:srgbClr val="0070C0"/>
                </a:solidFill>
              </a:rPr>
              <a:t>()</a:t>
            </a:r>
          </a:p>
          <a:p>
            <a:pPr marL="198438" lvl="1" indent="0">
              <a:buNone/>
            </a:pPr>
            <a:endParaRPr lang="en-US" dirty="0">
              <a:solidFill>
                <a:srgbClr val="0070C0"/>
              </a:solidFill>
            </a:endParaRPr>
          </a:p>
          <a:p>
            <a:pPr marL="285750" indent="-285750">
              <a:buFont typeface="Arial" panose="020B0604020202020204" pitchFamily="34" charset="0"/>
              <a:buChar char="•"/>
            </a:pPr>
            <a:r>
              <a:rPr lang="en-US" dirty="0"/>
              <a:t>Advantages:</a:t>
            </a:r>
          </a:p>
          <a:p>
            <a:pPr marL="827088" lvl="1" indent="-285750"/>
            <a:r>
              <a:rPr lang="en-US" dirty="0"/>
              <a:t>Safe </a:t>
            </a:r>
          </a:p>
          <a:p>
            <a:pPr marL="827088" lvl="1" indent="-285750"/>
            <a:r>
              <a:rPr lang="en-US" dirty="0"/>
              <a:t>Prevents naming conflicts</a:t>
            </a:r>
          </a:p>
          <a:p>
            <a:endParaRPr lang="en-ZA" dirty="0"/>
          </a:p>
        </p:txBody>
      </p:sp>
      <p:sp>
        <p:nvSpPr>
          <p:cNvPr id="4" name="Text Placeholder 3">
            <a:extLst>
              <a:ext uri="{FF2B5EF4-FFF2-40B4-BE49-F238E27FC236}">
                <a16:creationId xmlns:a16="http://schemas.microsoft.com/office/drawing/2014/main" id="{40CC84F7-4911-D896-A0FA-FC110A19B3C2}"/>
              </a:ext>
            </a:extLst>
          </p:cNvPr>
          <p:cNvSpPr>
            <a:spLocks noGrp="1"/>
          </p:cNvSpPr>
          <p:nvPr>
            <p:ph type="body" sz="quarter" idx="17"/>
          </p:nvPr>
        </p:nvSpPr>
        <p:spPr/>
        <p:txBody>
          <a:bodyPr>
            <a:normAutofit fontScale="85000" lnSpcReduction="20000"/>
          </a:bodyPr>
          <a:lstStyle/>
          <a:p>
            <a:pPr marL="0" indent="0">
              <a:buNone/>
            </a:pPr>
            <a:r>
              <a:rPr lang="en-US" dirty="0"/>
              <a:t>Method 1: Safe import</a:t>
            </a:r>
            <a:endParaRPr lang="en-ZA" dirty="0"/>
          </a:p>
        </p:txBody>
      </p:sp>
      <p:sp>
        <p:nvSpPr>
          <p:cNvPr id="5" name="Text Placeholder 4">
            <a:extLst>
              <a:ext uri="{FF2B5EF4-FFF2-40B4-BE49-F238E27FC236}">
                <a16:creationId xmlns:a16="http://schemas.microsoft.com/office/drawing/2014/main" id="{89765944-AA45-EFAA-69CF-D57EBA110819}"/>
              </a:ext>
            </a:extLst>
          </p:cNvPr>
          <p:cNvSpPr>
            <a:spLocks noGrp="1"/>
          </p:cNvSpPr>
          <p:nvPr>
            <p:ph type="body" sz="quarter" idx="18"/>
          </p:nvPr>
        </p:nvSpPr>
        <p:spPr/>
        <p:txBody>
          <a:bodyPr/>
          <a:lstStyle/>
          <a:p>
            <a:r>
              <a:rPr lang="en-US" dirty="0">
                <a:solidFill>
                  <a:srgbClr val="0070C0"/>
                </a:solidFill>
              </a:rPr>
              <a:t>from turtle import *</a:t>
            </a:r>
          </a:p>
          <a:p>
            <a:pPr marL="285750" indent="-285750">
              <a:buFont typeface="Arial" panose="020B0604020202020204" pitchFamily="34" charset="0"/>
              <a:buChar char="•"/>
            </a:pPr>
            <a:r>
              <a:rPr lang="en-US" dirty="0"/>
              <a:t>Now you can write:</a:t>
            </a:r>
          </a:p>
          <a:p>
            <a:r>
              <a:rPr lang="en-US" dirty="0">
                <a:solidFill>
                  <a:srgbClr val="0070C0"/>
                </a:solidFill>
              </a:rPr>
              <a:t>t = Turtle()</a:t>
            </a:r>
          </a:p>
          <a:p>
            <a:endParaRPr lang="en-US" dirty="0">
              <a:solidFill>
                <a:srgbClr val="0070C0"/>
              </a:solidFill>
            </a:endParaRPr>
          </a:p>
          <a:p>
            <a:pPr marL="285750" indent="-285750">
              <a:buFont typeface="Arial" panose="020B0604020202020204" pitchFamily="34" charset="0"/>
              <a:buChar char="•"/>
            </a:pPr>
            <a:r>
              <a:rPr lang="en-US" dirty="0"/>
              <a:t>Advantages:</a:t>
            </a:r>
          </a:p>
          <a:p>
            <a:pPr marL="827088" lvl="1" indent="-285750"/>
            <a:r>
              <a:rPr lang="en-US" dirty="0"/>
              <a:t>Shorter code </a:t>
            </a:r>
          </a:p>
          <a:p>
            <a:pPr marL="827088" lvl="1" indent="-285750"/>
            <a:r>
              <a:rPr lang="en-US" dirty="0"/>
              <a:t>Disadvantages:</a:t>
            </a:r>
          </a:p>
          <a:p>
            <a:pPr marL="827088" lvl="1" indent="-285750"/>
            <a:r>
              <a:rPr lang="en-US" dirty="0"/>
              <a:t>Can overwrite names in your program</a:t>
            </a:r>
          </a:p>
          <a:p>
            <a:endParaRPr lang="en-ZA" dirty="0"/>
          </a:p>
        </p:txBody>
      </p:sp>
      <p:sp>
        <p:nvSpPr>
          <p:cNvPr id="6" name="Text Placeholder 5">
            <a:extLst>
              <a:ext uri="{FF2B5EF4-FFF2-40B4-BE49-F238E27FC236}">
                <a16:creationId xmlns:a16="http://schemas.microsoft.com/office/drawing/2014/main" id="{D97E6CB8-349A-ACE1-DECC-09CC2BD805C4}"/>
              </a:ext>
            </a:extLst>
          </p:cNvPr>
          <p:cNvSpPr>
            <a:spLocks noGrp="1"/>
          </p:cNvSpPr>
          <p:nvPr>
            <p:ph type="body" sz="quarter" idx="19"/>
          </p:nvPr>
        </p:nvSpPr>
        <p:spPr/>
        <p:txBody>
          <a:bodyPr>
            <a:normAutofit fontScale="85000" lnSpcReduction="20000"/>
          </a:bodyPr>
          <a:lstStyle/>
          <a:p>
            <a:pPr marL="0" indent="0">
              <a:buNone/>
            </a:pPr>
            <a:r>
              <a:rPr lang="en-ZA" dirty="0"/>
              <a:t>Method 2: Import Everything</a:t>
            </a:r>
          </a:p>
        </p:txBody>
      </p:sp>
    </p:spTree>
    <p:extLst>
      <p:ext uri="{BB962C8B-B14F-4D97-AF65-F5344CB8AC3E}">
        <p14:creationId xmlns:p14="http://schemas.microsoft.com/office/powerpoint/2010/main" val="387086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5803-9881-5FB9-25CA-A1579E263F66}"/>
              </a:ext>
            </a:extLst>
          </p:cNvPr>
          <p:cNvSpPr>
            <a:spLocks noGrp="1"/>
          </p:cNvSpPr>
          <p:nvPr>
            <p:ph type="title"/>
          </p:nvPr>
        </p:nvSpPr>
        <p:spPr/>
        <p:txBody>
          <a:bodyPr/>
          <a:lstStyle/>
          <a:p>
            <a:r>
              <a:rPr lang="en-US" dirty="0"/>
              <a:t>Creating a turtle object</a:t>
            </a:r>
            <a:endParaRPr lang="en-ZA" dirty="0"/>
          </a:p>
        </p:txBody>
      </p:sp>
      <p:sp>
        <p:nvSpPr>
          <p:cNvPr id="3" name="Text Placeholder 2">
            <a:extLst>
              <a:ext uri="{FF2B5EF4-FFF2-40B4-BE49-F238E27FC236}">
                <a16:creationId xmlns:a16="http://schemas.microsoft.com/office/drawing/2014/main" id="{E17FB232-48EE-B4D1-02DC-524BA9E766DF}"/>
              </a:ext>
            </a:extLst>
          </p:cNvPr>
          <p:cNvSpPr>
            <a:spLocks noGrp="1"/>
          </p:cNvSpPr>
          <p:nvPr>
            <p:ph type="body" sz="quarter" idx="16"/>
          </p:nvPr>
        </p:nvSpPr>
        <p:spPr/>
        <p:txBody>
          <a:bodyPr/>
          <a:lstStyle/>
          <a:p>
            <a:r>
              <a:rPr lang="en-ZA" dirty="0"/>
              <a:t>import turtle</a:t>
            </a:r>
          </a:p>
          <a:p>
            <a:r>
              <a:rPr lang="en-ZA" dirty="0"/>
              <a:t>t = </a:t>
            </a:r>
            <a:r>
              <a:rPr lang="en-ZA" dirty="0" err="1"/>
              <a:t>turtle.Turtle</a:t>
            </a:r>
            <a:r>
              <a:rPr lang="en-ZA" dirty="0"/>
              <a:t>()</a:t>
            </a:r>
          </a:p>
        </p:txBody>
      </p:sp>
      <p:sp>
        <p:nvSpPr>
          <p:cNvPr id="4" name="Text Placeholder 3">
            <a:extLst>
              <a:ext uri="{FF2B5EF4-FFF2-40B4-BE49-F238E27FC236}">
                <a16:creationId xmlns:a16="http://schemas.microsoft.com/office/drawing/2014/main" id="{41FC2C21-6627-CBC8-E14F-8DFAF3C650EE}"/>
              </a:ext>
            </a:extLst>
          </p:cNvPr>
          <p:cNvSpPr>
            <a:spLocks noGrp="1"/>
          </p:cNvSpPr>
          <p:nvPr>
            <p:ph type="body" sz="quarter" idx="17"/>
          </p:nvPr>
        </p:nvSpPr>
        <p:spPr/>
        <p:txBody>
          <a:bodyPr>
            <a:normAutofit fontScale="85000" lnSpcReduction="20000"/>
          </a:bodyPr>
          <a:lstStyle/>
          <a:p>
            <a:pPr marL="0" indent="0">
              <a:buNone/>
            </a:pPr>
            <a:r>
              <a:rPr lang="en-US" dirty="0"/>
              <a:t>How to create a turtle object</a:t>
            </a:r>
            <a:endParaRPr lang="en-ZA" dirty="0"/>
          </a:p>
        </p:txBody>
      </p:sp>
      <p:sp>
        <p:nvSpPr>
          <p:cNvPr id="5" name="Text Placeholder 4">
            <a:extLst>
              <a:ext uri="{FF2B5EF4-FFF2-40B4-BE49-F238E27FC236}">
                <a16:creationId xmlns:a16="http://schemas.microsoft.com/office/drawing/2014/main" id="{939E5E7E-C9E6-977E-E38F-8064A0F5C5EC}"/>
              </a:ext>
            </a:extLst>
          </p:cNvPr>
          <p:cNvSpPr>
            <a:spLocks noGrp="1"/>
          </p:cNvSpPr>
          <p:nvPr>
            <p:ph type="body" sz="quarter" idx="18"/>
          </p:nvPr>
        </p:nvSpPr>
        <p:spPr/>
        <p:txBody>
          <a:bodyPr/>
          <a:lstStyle/>
          <a:p>
            <a:pPr marL="285750" indent="-285750">
              <a:buFont typeface="Arial" panose="020B0604020202020204" pitchFamily="34" charset="0"/>
              <a:buChar char="•"/>
            </a:pPr>
            <a:r>
              <a:rPr lang="en-US" dirty="0"/>
              <a:t>t is a variable </a:t>
            </a:r>
          </a:p>
          <a:p>
            <a:pPr marL="285750" indent="-285750">
              <a:buFont typeface="Arial" panose="020B0604020202020204" pitchFamily="34" charset="0"/>
              <a:buChar char="•"/>
            </a:pPr>
            <a:r>
              <a:rPr lang="en-US" dirty="0"/>
              <a:t>It stores a reference to a Turtle object </a:t>
            </a:r>
          </a:p>
          <a:p>
            <a:pPr marL="285750" indent="-285750">
              <a:buFont typeface="Arial" panose="020B0604020202020204" pitchFamily="34" charset="0"/>
              <a:buChar char="•"/>
            </a:pPr>
            <a:r>
              <a:rPr lang="en-US" dirty="0"/>
              <a:t>Objects can perform actions using methods </a:t>
            </a:r>
          </a:p>
          <a:p>
            <a:pPr marL="285750" indent="-285750">
              <a:buFont typeface="Arial" panose="020B0604020202020204" pitchFamily="34" charset="0"/>
              <a:buChar char="•"/>
            </a:pPr>
            <a:r>
              <a:rPr lang="en-US" dirty="0"/>
              <a:t>Example methods:</a:t>
            </a:r>
          </a:p>
          <a:p>
            <a:pPr marL="827088" lvl="1" indent="-285750"/>
            <a:r>
              <a:rPr lang="en-US" dirty="0"/>
              <a:t>forward() </a:t>
            </a:r>
          </a:p>
          <a:p>
            <a:pPr marL="827088" lvl="1" indent="-285750"/>
            <a:r>
              <a:rPr lang="en-US" dirty="0"/>
              <a:t>left() </a:t>
            </a:r>
          </a:p>
          <a:p>
            <a:pPr marL="827088" lvl="1" indent="-285750"/>
            <a:r>
              <a:rPr lang="en-US" dirty="0"/>
              <a:t>right()</a:t>
            </a:r>
          </a:p>
          <a:p>
            <a:endParaRPr lang="en-ZA" dirty="0"/>
          </a:p>
        </p:txBody>
      </p:sp>
      <p:sp>
        <p:nvSpPr>
          <p:cNvPr id="6" name="Text Placeholder 5">
            <a:extLst>
              <a:ext uri="{FF2B5EF4-FFF2-40B4-BE49-F238E27FC236}">
                <a16:creationId xmlns:a16="http://schemas.microsoft.com/office/drawing/2014/main" id="{8EA9A409-4539-663D-3E00-E838F95E2187}"/>
              </a:ext>
            </a:extLst>
          </p:cNvPr>
          <p:cNvSpPr>
            <a:spLocks noGrp="1"/>
          </p:cNvSpPr>
          <p:nvPr>
            <p:ph type="body" sz="quarter" idx="19"/>
          </p:nvPr>
        </p:nvSpPr>
        <p:spPr/>
        <p:txBody>
          <a:bodyPr>
            <a:normAutofit fontScale="85000" lnSpcReduction="20000"/>
          </a:bodyPr>
          <a:lstStyle/>
          <a:p>
            <a:pPr marL="0" indent="0">
              <a:buNone/>
            </a:pPr>
            <a:r>
              <a:rPr lang="en-US" dirty="0"/>
              <a:t>Explanation</a:t>
            </a:r>
            <a:endParaRPr lang="en-ZA" dirty="0"/>
          </a:p>
        </p:txBody>
      </p:sp>
    </p:spTree>
    <p:extLst>
      <p:ext uri="{BB962C8B-B14F-4D97-AF65-F5344CB8AC3E}">
        <p14:creationId xmlns:p14="http://schemas.microsoft.com/office/powerpoint/2010/main" val="1446300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5BEE-38A1-4F60-FCC4-92FF14F6F06D}"/>
              </a:ext>
            </a:extLst>
          </p:cNvPr>
          <p:cNvSpPr>
            <a:spLocks noGrp="1"/>
          </p:cNvSpPr>
          <p:nvPr>
            <p:ph type="title"/>
          </p:nvPr>
        </p:nvSpPr>
        <p:spPr/>
        <p:txBody>
          <a:bodyPr/>
          <a:lstStyle/>
          <a:p>
            <a:r>
              <a:rPr lang="en-US" dirty="0"/>
              <a:t>Drawing a square</a:t>
            </a:r>
            <a:endParaRPr lang="en-ZA" dirty="0"/>
          </a:p>
        </p:txBody>
      </p:sp>
      <p:sp>
        <p:nvSpPr>
          <p:cNvPr id="3" name="Text Placeholder 2">
            <a:extLst>
              <a:ext uri="{FF2B5EF4-FFF2-40B4-BE49-F238E27FC236}">
                <a16:creationId xmlns:a16="http://schemas.microsoft.com/office/drawing/2014/main" id="{D5763C1F-630D-B902-0663-0FBB1D0C9B18}"/>
              </a:ext>
            </a:extLst>
          </p:cNvPr>
          <p:cNvSpPr>
            <a:spLocks noGrp="1"/>
          </p:cNvSpPr>
          <p:nvPr>
            <p:ph type="body" sz="quarter" idx="16"/>
          </p:nvPr>
        </p:nvSpPr>
        <p:spPr>
          <a:xfrm>
            <a:off x="1032680" y="1853449"/>
            <a:ext cx="4486822" cy="4035721"/>
          </a:xfrm>
        </p:spPr>
        <p:txBody>
          <a:bodyPr>
            <a:normAutofit/>
          </a:bodyPr>
          <a:lstStyle/>
          <a:p>
            <a:r>
              <a:rPr lang="en-ZA" sz="2000" dirty="0"/>
              <a:t>import turtle</a:t>
            </a:r>
          </a:p>
          <a:p>
            <a:endParaRPr lang="en-ZA" sz="2000" dirty="0"/>
          </a:p>
          <a:p>
            <a:r>
              <a:rPr lang="en-ZA" sz="2000" dirty="0"/>
              <a:t>t = </a:t>
            </a:r>
            <a:r>
              <a:rPr lang="en-ZA" sz="2000" dirty="0" err="1"/>
              <a:t>turtle.Turtle</a:t>
            </a:r>
            <a:r>
              <a:rPr lang="en-ZA" sz="2000" dirty="0"/>
              <a:t>()</a:t>
            </a:r>
          </a:p>
          <a:p>
            <a:endParaRPr lang="en-ZA" sz="2000" dirty="0"/>
          </a:p>
          <a:p>
            <a:r>
              <a:rPr lang="en-ZA" sz="2000" dirty="0"/>
              <a:t>for </a:t>
            </a:r>
            <a:r>
              <a:rPr lang="en-ZA" sz="2000" dirty="0" err="1"/>
              <a:t>i</a:t>
            </a:r>
            <a:r>
              <a:rPr lang="en-ZA" sz="2000" dirty="0"/>
              <a:t> in range(4):</a:t>
            </a:r>
          </a:p>
          <a:p>
            <a:r>
              <a:rPr lang="en-ZA" sz="2000" dirty="0"/>
              <a:t>    </a:t>
            </a:r>
            <a:r>
              <a:rPr lang="en-ZA" sz="2000" dirty="0" err="1"/>
              <a:t>t.forward</a:t>
            </a:r>
            <a:r>
              <a:rPr lang="en-ZA" sz="2000" dirty="0"/>
              <a:t>(100)</a:t>
            </a:r>
          </a:p>
          <a:p>
            <a:r>
              <a:rPr lang="en-ZA" sz="2000" dirty="0"/>
              <a:t>    </a:t>
            </a:r>
            <a:r>
              <a:rPr lang="en-ZA" sz="2000" dirty="0" err="1"/>
              <a:t>t.left</a:t>
            </a:r>
            <a:r>
              <a:rPr lang="en-ZA" sz="2000" dirty="0"/>
              <a:t>(90)</a:t>
            </a:r>
          </a:p>
          <a:p>
            <a:endParaRPr lang="en-ZA" sz="2000" dirty="0"/>
          </a:p>
          <a:p>
            <a:r>
              <a:rPr lang="en-ZA" sz="2000" dirty="0"/>
              <a:t>screen = </a:t>
            </a:r>
            <a:r>
              <a:rPr lang="en-ZA" sz="2000" dirty="0" err="1"/>
              <a:t>turtle.Screen</a:t>
            </a:r>
            <a:r>
              <a:rPr lang="en-ZA" sz="2000" dirty="0"/>
              <a:t>()</a:t>
            </a:r>
          </a:p>
          <a:p>
            <a:r>
              <a:rPr lang="en-ZA" sz="2000" dirty="0" err="1"/>
              <a:t>screen.exitonclick</a:t>
            </a:r>
            <a:r>
              <a:rPr lang="en-ZA" sz="2000" dirty="0"/>
              <a:t>()</a:t>
            </a:r>
          </a:p>
        </p:txBody>
      </p:sp>
      <p:sp>
        <p:nvSpPr>
          <p:cNvPr id="5" name="Text Placeholder 4">
            <a:extLst>
              <a:ext uri="{FF2B5EF4-FFF2-40B4-BE49-F238E27FC236}">
                <a16:creationId xmlns:a16="http://schemas.microsoft.com/office/drawing/2014/main" id="{B4438512-E06A-F601-1FE6-8DEA517C027F}"/>
              </a:ext>
            </a:extLst>
          </p:cNvPr>
          <p:cNvSpPr>
            <a:spLocks noGrp="1"/>
          </p:cNvSpPr>
          <p:nvPr>
            <p:ph type="body" sz="quarter" idx="18"/>
          </p:nvPr>
        </p:nvSpPr>
        <p:spPr>
          <a:xfrm>
            <a:off x="5893841" y="1706870"/>
            <a:ext cx="4486822" cy="3444260"/>
          </a:xfrm>
        </p:spPr>
        <p:txBody>
          <a:bodyPr>
            <a:normAutofit/>
          </a:bodyPr>
          <a:lstStyle/>
          <a:p>
            <a:pPr marL="457200" indent="-457200">
              <a:buFont typeface="Arial" panose="020B0604020202020204" pitchFamily="34" charset="0"/>
              <a:buChar char="•"/>
            </a:pPr>
            <a:r>
              <a:rPr lang="en-US" sz="2800" dirty="0"/>
              <a:t>Loop repeats 4 times</a:t>
            </a:r>
          </a:p>
          <a:p>
            <a:pPr marL="457200" indent="-457200">
              <a:buFont typeface="Arial" panose="020B0604020202020204" pitchFamily="34" charset="0"/>
              <a:buChar char="•"/>
            </a:pPr>
            <a:r>
              <a:rPr lang="en-US" sz="2800" dirty="0"/>
              <a:t>Turtle moves forward</a:t>
            </a:r>
          </a:p>
          <a:p>
            <a:pPr marL="457200" indent="-457200">
              <a:buFont typeface="Arial" panose="020B0604020202020204" pitchFamily="34" charset="0"/>
              <a:buChar char="•"/>
            </a:pPr>
            <a:r>
              <a:rPr lang="en-US" sz="2800" dirty="0"/>
              <a:t>Turns 90 degrees each time</a:t>
            </a:r>
            <a:endParaRPr lang="en-ZA" sz="2800" dirty="0"/>
          </a:p>
        </p:txBody>
      </p:sp>
    </p:spTree>
    <p:extLst>
      <p:ext uri="{BB962C8B-B14F-4D97-AF65-F5344CB8AC3E}">
        <p14:creationId xmlns:p14="http://schemas.microsoft.com/office/powerpoint/2010/main" val="148517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B133-354B-451D-AC59-D24EAB560709}"/>
              </a:ext>
            </a:extLst>
          </p:cNvPr>
          <p:cNvSpPr>
            <a:spLocks noGrp="1"/>
          </p:cNvSpPr>
          <p:nvPr>
            <p:ph type="title"/>
          </p:nvPr>
        </p:nvSpPr>
        <p:spPr/>
        <p:txBody>
          <a:bodyPr/>
          <a:lstStyle/>
          <a:p>
            <a:r>
              <a:rPr lang="en-US" dirty="0"/>
              <a:t>T</a:t>
            </a:r>
            <a:r>
              <a:rPr lang="en-ZA" dirty="0" err="1"/>
              <a:t>urtle</a:t>
            </a:r>
            <a:r>
              <a:rPr lang="en-ZA" dirty="0"/>
              <a:t> Methods</a:t>
            </a:r>
          </a:p>
        </p:txBody>
      </p:sp>
      <p:graphicFrame>
        <p:nvGraphicFramePr>
          <p:cNvPr id="5" name="Table 4">
            <a:extLst>
              <a:ext uri="{FF2B5EF4-FFF2-40B4-BE49-F238E27FC236}">
                <a16:creationId xmlns:a16="http://schemas.microsoft.com/office/drawing/2014/main" id="{0E1E5B89-678F-4E86-880F-111D6400090B}"/>
              </a:ext>
            </a:extLst>
          </p:cNvPr>
          <p:cNvGraphicFramePr>
            <a:graphicFrameLocks noGrp="1"/>
          </p:cNvGraphicFramePr>
          <p:nvPr>
            <p:extLst>
              <p:ext uri="{D42A27DB-BD31-4B8C-83A1-F6EECF244321}">
                <p14:modId xmlns:p14="http://schemas.microsoft.com/office/powerpoint/2010/main" val="3418253803"/>
              </p:ext>
            </p:extLst>
          </p:nvPr>
        </p:nvGraphicFramePr>
        <p:xfrm>
          <a:off x="1510635" y="1719944"/>
          <a:ext cx="7957457" cy="3853542"/>
        </p:xfrm>
        <a:graphic>
          <a:graphicData uri="http://schemas.openxmlformats.org/drawingml/2006/table">
            <a:tbl>
              <a:tblPr firstRow="1" firstCol="1" bandRow="1">
                <a:tableStyleId>{5C22544A-7EE6-4342-B048-85BDC9FD1C3A}</a:tableStyleId>
              </a:tblPr>
              <a:tblGrid>
                <a:gridCol w="2915612">
                  <a:extLst>
                    <a:ext uri="{9D8B030D-6E8A-4147-A177-3AD203B41FA5}">
                      <a16:colId xmlns:a16="http://schemas.microsoft.com/office/drawing/2014/main" val="2474398979"/>
                    </a:ext>
                  </a:extLst>
                </a:gridCol>
                <a:gridCol w="5041845">
                  <a:extLst>
                    <a:ext uri="{9D8B030D-6E8A-4147-A177-3AD203B41FA5}">
                      <a16:colId xmlns:a16="http://schemas.microsoft.com/office/drawing/2014/main" val="198173687"/>
                    </a:ext>
                  </a:extLst>
                </a:gridCol>
              </a:tblGrid>
              <a:tr h="550506">
                <a:tc>
                  <a:txBody>
                    <a:bodyPr/>
                    <a:lstStyle/>
                    <a:p>
                      <a:pPr>
                        <a:lnSpc>
                          <a:spcPct val="115000"/>
                        </a:lnSpc>
                        <a:spcAft>
                          <a:spcPts val="800"/>
                        </a:spcAft>
                        <a:buNone/>
                      </a:pPr>
                      <a:r>
                        <a:rPr lang="en-ZA" sz="1600" kern="100">
                          <a:effectLst/>
                        </a:rPr>
                        <a:t>Method</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dirty="0">
                          <a:effectLst/>
                        </a:rPr>
                        <a:t>Purpose</a:t>
                      </a:r>
                      <a:endParaRPr lang="en-ZA"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2744091"/>
                  </a:ext>
                </a:extLst>
              </a:tr>
              <a:tr h="550506">
                <a:tc>
                  <a:txBody>
                    <a:bodyPr/>
                    <a:lstStyle/>
                    <a:p>
                      <a:pPr>
                        <a:lnSpc>
                          <a:spcPct val="115000"/>
                        </a:lnSpc>
                        <a:spcAft>
                          <a:spcPts val="800"/>
                        </a:spcAft>
                        <a:buNone/>
                      </a:pPr>
                      <a:r>
                        <a:rPr lang="en-ZA" sz="1600" kern="100">
                          <a:effectLst/>
                        </a:rPr>
                        <a:t>forward(x)</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a:effectLst/>
                        </a:rPr>
                        <a:t>Moves turtle forward</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4164180"/>
                  </a:ext>
                </a:extLst>
              </a:tr>
              <a:tr h="550506">
                <a:tc>
                  <a:txBody>
                    <a:bodyPr/>
                    <a:lstStyle/>
                    <a:p>
                      <a:pPr>
                        <a:lnSpc>
                          <a:spcPct val="115000"/>
                        </a:lnSpc>
                        <a:spcAft>
                          <a:spcPts val="800"/>
                        </a:spcAft>
                        <a:buNone/>
                      </a:pPr>
                      <a:r>
                        <a:rPr lang="en-ZA" sz="1600" kern="100">
                          <a:effectLst/>
                        </a:rPr>
                        <a:t>backward(x)</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a:effectLst/>
                        </a:rPr>
                        <a:t>Moves turtle backward</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2018638"/>
                  </a:ext>
                </a:extLst>
              </a:tr>
              <a:tr h="550506">
                <a:tc>
                  <a:txBody>
                    <a:bodyPr/>
                    <a:lstStyle/>
                    <a:p>
                      <a:pPr>
                        <a:lnSpc>
                          <a:spcPct val="115000"/>
                        </a:lnSpc>
                        <a:spcAft>
                          <a:spcPts val="800"/>
                        </a:spcAft>
                        <a:buNone/>
                      </a:pPr>
                      <a:r>
                        <a:rPr lang="en-ZA" sz="1600" kern="100">
                          <a:effectLst/>
                        </a:rPr>
                        <a:t>left(angle)</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a:effectLst/>
                        </a:rPr>
                        <a:t>Turns left</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6742544"/>
                  </a:ext>
                </a:extLst>
              </a:tr>
              <a:tr h="550506">
                <a:tc>
                  <a:txBody>
                    <a:bodyPr/>
                    <a:lstStyle/>
                    <a:p>
                      <a:pPr>
                        <a:lnSpc>
                          <a:spcPct val="115000"/>
                        </a:lnSpc>
                        <a:spcAft>
                          <a:spcPts val="800"/>
                        </a:spcAft>
                        <a:buNone/>
                      </a:pPr>
                      <a:r>
                        <a:rPr lang="en-ZA" sz="1600" kern="100">
                          <a:effectLst/>
                        </a:rPr>
                        <a:t>right(angle)</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a:effectLst/>
                        </a:rPr>
                        <a:t>Turns right</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4975166"/>
                  </a:ext>
                </a:extLst>
              </a:tr>
              <a:tr h="550506">
                <a:tc>
                  <a:txBody>
                    <a:bodyPr/>
                    <a:lstStyle/>
                    <a:p>
                      <a:pPr>
                        <a:lnSpc>
                          <a:spcPct val="115000"/>
                        </a:lnSpc>
                        <a:spcAft>
                          <a:spcPts val="800"/>
                        </a:spcAft>
                        <a:buNone/>
                      </a:pPr>
                      <a:r>
                        <a:rPr lang="en-ZA" sz="1600" kern="100">
                          <a:effectLst/>
                        </a:rPr>
                        <a:t>penup()</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a:effectLst/>
                        </a:rPr>
                        <a:t>Stops drawing</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33777772"/>
                  </a:ext>
                </a:extLst>
              </a:tr>
              <a:tr h="550506">
                <a:tc>
                  <a:txBody>
                    <a:bodyPr/>
                    <a:lstStyle/>
                    <a:p>
                      <a:pPr>
                        <a:lnSpc>
                          <a:spcPct val="115000"/>
                        </a:lnSpc>
                        <a:spcAft>
                          <a:spcPts val="800"/>
                        </a:spcAft>
                        <a:buNone/>
                      </a:pPr>
                      <a:r>
                        <a:rPr lang="en-ZA" sz="1600" kern="100">
                          <a:effectLst/>
                        </a:rPr>
                        <a:t>pendown()</a:t>
                      </a:r>
                      <a:endParaRPr lang="en-ZA"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600" kern="100" dirty="0">
                          <a:effectLst/>
                        </a:rPr>
                        <a:t>Starts drawing</a:t>
                      </a:r>
                      <a:endParaRPr lang="en-ZA"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4216791"/>
                  </a:ext>
                </a:extLst>
              </a:tr>
            </a:tbl>
          </a:graphicData>
        </a:graphic>
      </p:graphicFrame>
    </p:spTree>
    <p:extLst>
      <p:ext uri="{BB962C8B-B14F-4D97-AF65-F5344CB8AC3E}">
        <p14:creationId xmlns:p14="http://schemas.microsoft.com/office/powerpoint/2010/main" val="148852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7EFB-BB0A-6773-1781-CC337E899830}"/>
              </a:ext>
            </a:extLst>
          </p:cNvPr>
          <p:cNvSpPr>
            <a:spLocks noGrp="1"/>
          </p:cNvSpPr>
          <p:nvPr>
            <p:ph type="title"/>
          </p:nvPr>
        </p:nvSpPr>
        <p:spPr/>
        <p:txBody>
          <a:bodyPr/>
          <a:lstStyle/>
          <a:p>
            <a:r>
              <a:rPr lang="en-ZA" dirty="0"/>
              <a:t>Using Loops with Turtle</a:t>
            </a:r>
          </a:p>
        </p:txBody>
      </p:sp>
      <p:sp>
        <p:nvSpPr>
          <p:cNvPr id="3" name="Text Placeholder 2">
            <a:extLst>
              <a:ext uri="{FF2B5EF4-FFF2-40B4-BE49-F238E27FC236}">
                <a16:creationId xmlns:a16="http://schemas.microsoft.com/office/drawing/2014/main" id="{6CB5691B-C671-4F3C-42CB-241DAB2AACAF}"/>
              </a:ext>
            </a:extLst>
          </p:cNvPr>
          <p:cNvSpPr>
            <a:spLocks noGrp="1"/>
          </p:cNvSpPr>
          <p:nvPr>
            <p:ph type="body" sz="quarter" idx="16"/>
          </p:nvPr>
        </p:nvSpPr>
        <p:spPr/>
        <p:txBody>
          <a:bodyPr>
            <a:normAutofit lnSpcReduction="10000"/>
          </a:bodyPr>
          <a:lstStyle/>
          <a:p>
            <a:r>
              <a:rPr lang="en-US" sz="2400" dirty="0"/>
              <a:t>Without loops:</a:t>
            </a:r>
          </a:p>
          <a:p>
            <a:r>
              <a:rPr lang="en-US" sz="2400" dirty="0" err="1"/>
              <a:t>t.forward</a:t>
            </a:r>
            <a:r>
              <a:rPr lang="en-US" sz="2400" dirty="0"/>
              <a:t>(50)</a:t>
            </a:r>
            <a:br>
              <a:rPr lang="en-US" sz="2400" dirty="0"/>
            </a:br>
            <a:r>
              <a:rPr lang="en-US" sz="2400" dirty="0" err="1"/>
              <a:t>t.left</a:t>
            </a:r>
            <a:r>
              <a:rPr lang="en-US" sz="2400" dirty="0"/>
              <a:t>(90)</a:t>
            </a:r>
          </a:p>
          <a:p>
            <a:r>
              <a:rPr lang="en-US" sz="2400" dirty="0" err="1"/>
              <a:t>t.forward</a:t>
            </a:r>
            <a:r>
              <a:rPr lang="en-US" sz="2400" dirty="0"/>
              <a:t>(50)</a:t>
            </a:r>
            <a:br>
              <a:rPr lang="en-US" sz="2400" dirty="0"/>
            </a:br>
            <a:r>
              <a:rPr lang="en-US" sz="2400" dirty="0" err="1"/>
              <a:t>t.left</a:t>
            </a:r>
            <a:r>
              <a:rPr lang="en-US" sz="2400" dirty="0"/>
              <a:t>(90)</a:t>
            </a:r>
          </a:p>
          <a:p>
            <a:r>
              <a:rPr lang="en-US" sz="2400" dirty="0" err="1"/>
              <a:t>t.forward</a:t>
            </a:r>
            <a:r>
              <a:rPr lang="en-US" sz="2400" dirty="0"/>
              <a:t>(50)</a:t>
            </a:r>
            <a:br>
              <a:rPr lang="en-US" sz="2400" dirty="0"/>
            </a:br>
            <a:r>
              <a:rPr lang="en-US" sz="2400" dirty="0" err="1"/>
              <a:t>t.left</a:t>
            </a:r>
            <a:r>
              <a:rPr lang="en-US" sz="2400" dirty="0"/>
              <a:t>(90)</a:t>
            </a:r>
          </a:p>
          <a:p>
            <a:r>
              <a:rPr lang="en-US" sz="2400" dirty="0" err="1"/>
              <a:t>t.forward</a:t>
            </a:r>
            <a:r>
              <a:rPr lang="en-US" sz="2400" dirty="0"/>
              <a:t>(50)</a:t>
            </a:r>
            <a:br>
              <a:rPr lang="en-US" sz="2400" dirty="0"/>
            </a:br>
            <a:r>
              <a:rPr lang="en-US" sz="2400" dirty="0" err="1"/>
              <a:t>t.left</a:t>
            </a:r>
            <a:r>
              <a:rPr lang="en-US" sz="2400" dirty="0"/>
              <a:t>(90)</a:t>
            </a:r>
          </a:p>
          <a:p>
            <a:endParaRPr lang="en-US" dirty="0"/>
          </a:p>
          <a:p>
            <a:endParaRPr lang="en-US" dirty="0"/>
          </a:p>
          <a:p>
            <a:endParaRPr lang="en-US" dirty="0"/>
          </a:p>
          <a:p>
            <a:endParaRPr lang="en-ZA" dirty="0"/>
          </a:p>
        </p:txBody>
      </p:sp>
      <p:sp>
        <p:nvSpPr>
          <p:cNvPr id="4" name="Text Placeholder 3">
            <a:extLst>
              <a:ext uri="{FF2B5EF4-FFF2-40B4-BE49-F238E27FC236}">
                <a16:creationId xmlns:a16="http://schemas.microsoft.com/office/drawing/2014/main" id="{D78C87F8-2CBA-DFCB-CC73-6AD4B4F083E7}"/>
              </a:ext>
            </a:extLst>
          </p:cNvPr>
          <p:cNvSpPr>
            <a:spLocks noGrp="1"/>
          </p:cNvSpPr>
          <p:nvPr>
            <p:ph type="body" sz="quarter" idx="17"/>
          </p:nvPr>
        </p:nvSpPr>
        <p:spPr>
          <a:xfrm>
            <a:off x="2263995" y="1616970"/>
            <a:ext cx="8284261" cy="298916"/>
          </a:xfrm>
        </p:spPr>
        <p:txBody>
          <a:bodyPr>
            <a:noAutofit/>
          </a:bodyPr>
          <a:lstStyle/>
          <a:p>
            <a:r>
              <a:rPr lang="en-US" dirty="0"/>
              <a:t>Loops help reduce repeated code.</a:t>
            </a:r>
            <a:endParaRPr lang="en-ZA" dirty="0"/>
          </a:p>
        </p:txBody>
      </p:sp>
      <p:sp>
        <p:nvSpPr>
          <p:cNvPr id="5" name="Text Placeholder 4">
            <a:extLst>
              <a:ext uri="{FF2B5EF4-FFF2-40B4-BE49-F238E27FC236}">
                <a16:creationId xmlns:a16="http://schemas.microsoft.com/office/drawing/2014/main" id="{ADDFE301-D0BC-9B4E-8631-235DC80F98D9}"/>
              </a:ext>
            </a:extLst>
          </p:cNvPr>
          <p:cNvSpPr>
            <a:spLocks noGrp="1"/>
          </p:cNvSpPr>
          <p:nvPr>
            <p:ph type="body" sz="quarter" idx="18"/>
          </p:nvPr>
        </p:nvSpPr>
        <p:spPr/>
        <p:txBody>
          <a:bodyPr>
            <a:normAutofit/>
          </a:bodyPr>
          <a:lstStyle/>
          <a:p>
            <a:r>
              <a:rPr lang="en-US" sz="2400" dirty="0"/>
              <a:t>With loops:</a:t>
            </a:r>
          </a:p>
          <a:p>
            <a:r>
              <a:rPr lang="en-US" sz="2400" dirty="0"/>
              <a:t>for </a:t>
            </a:r>
            <a:r>
              <a:rPr lang="en-US" sz="2400" dirty="0" err="1"/>
              <a:t>i</a:t>
            </a:r>
            <a:r>
              <a:rPr lang="en-US" sz="2400" dirty="0"/>
              <a:t> in range(4):</a:t>
            </a:r>
            <a:br>
              <a:rPr lang="en-US" sz="2400" dirty="0"/>
            </a:br>
            <a:r>
              <a:rPr lang="en-US" sz="2400" dirty="0"/>
              <a:t>      </a:t>
            </a:r>
            <a:r>
              <a:rPr lang="en-US" sz="2400" dirty="0" err="1"/>
              <a:t>t.forward</a:t>
            </a:r>
            <a:r>
              <a:rPr lang="en-US" sz="2400" dirty="0"/>
              <a:t>(50)</a:t>
            </a:r>
            <a:br>
              <a:rPr lang="en-US" sz="2400" dirty="0"/>
            </a:br>
            <a:r>
              <a:rPr lang="en-US" sz="2400" dirty="0"/>
              <a:t>      </a:t>
            </a:r>
            <a:r>
              <a:rPr lang="en-US" sz="2400" dirty="0" err="1"/>
              <a:t>t.left</a:t>
            </a:r>
            <a:r>
              <a:rPr lang="en-US" sz="2400" dirty="0"/>
              <a:t>(90)</a:t>
            </a:r>
          </a:p>
          <a:p>
            <a:endParaRPr lang="en-US" sz="2400" dirty="0"/>
          </a:p>
          <a:p>
            <a:r>
              <a:rPr lang="en-US" sz="2400" dirty="0"/>
              <a:t>Benefits:</a:t>
            </a:r>
          </a:p>
          <a:p>
            <a:pPr marL="342900" indent="-342900">
              <a:buFont typeface="Arial" panose="020B0604020202020204" pitchFamily="34" charset="0"/>
              <a:buChar char="•"/>
            </a:pPr>
            <a:r>
              <a:rPr lang="en-US" sz="2400" dirty="0"/>
              <a:t>Cleaner code </a:t>
            </a:r>
          </a:p>
          <a:p>
            <a:pPr marL="342900" indent="-342900">
              <a:buFont typeface="Arial" panose="020B0604020202020204" pitchFamily="34" charset="0"/>
              <a:buChar char="•"/>
            </a:pPr>
            <a:r>
              <a:rPr lang="en-US" sz="2400" dirty="0"/>
              <a:t>Easier to maintain</a:t>
            </a:r>
          </a:p>
          <a:p>
            <a:endParaRPr lang="en-ZA" sz="2400" dirty="0"/>
          </a:p>
        </p:txBody>
      </p:sp>
    </p:spTree>
    <p:extLst>
      <p:ext uri="{BB962C8B-B14F-4D97-AF65-F5344CB8AC3E}">
        <p14:creationId xmlns:p14="http://schemas.microsoft.com/office/powerpoint/2010/main" val="181412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7CAF4-649D-A145-CB2F-62FB792D9273}"/>
              </a:ext>
            </a:extLst>
          </p:cNvPr>
          <p:cNvSpPr>
            <a:spLocks noGrp="1"/>
          </p:cNvSpPr>
          <p:nvPr>
            <p:ph type="title"/>
          </p:nvPr>
        </p:nvSpPr>
        <p:spPr/>
        <p:txBody>
          <a:bodyPr/>
          <a:lstStyle/>
          <a:p>
            <a:r>
              <a:rPr lang="en-US" dirty="0"/>
              <a:t>Drawing a Pentagon</a:t>
            </a:r>
            <a:endParaRPr lang="en-ZA" dirty="0"/>
          </a:p>
        </p:txBody>
      </p:sp>
      <p:sp>
        <p:nvSpPr>
          <p:cNvPr id="3" name="Text Placeholder 2">
            <a:extLst>
              <a:ext uri="{FF2B5EF4-FFF2-40B4-BE49-F238E27FC236}">
                <a16:creationId xmlns:a16="http://schemas.microsoft.com/office/drawing/2014/main" id="{E9BEC368-2235-770F-3BF4-F50494D57E33}"/>
              </a:ext>
            </a:extLst>
          </p:cNvPr>
          <p:cNvSpPr>
            <a:spLocks noGrp="1"/>
          </p:cNvSpPr>
          <p:nvPr>
            <p:ph type="body" sz="quarter" idx="13"/>
          </p:nvPr>
        </p:nvSpPr>
        <p:spPr/>
        <p:txBody>
          <a:bodyPr>
            <a:normAutofit/>
          </a:bodyPr>
          <a:lstStyle/>
          <a:p>
            <a:pPr marL="0" indent="0">
              <a:buNone/>
            </a:pPr>
            <a:r>
              <a:rPr lang="en-US" sz="2000" dirty="0">
                <a:solidFill>
                  <a:srgbClr val="0070C0"/>
                </a:solidFill>
              </a:rPr>
              <a:t>from turtle import *</a:t>
            </a:r>
          </a:p>
          <a:p>
            <a:pPr marL="0" indent="0">
              <a:buNone/>
            </a:pPr>
            <a:r>
              <a:rPr lang="en-US" sz="2000" dirty="0">
                <a:solidFill>
                  <a:srgbClr val="0070C0"/>
                </a:solidFill>
              </a:rPr>
              <a:t>t = Turtle()</a:t>
            </a:r>
          </a:p>
          <a:p>
            <a:pPr marL="0" indent="0">
              <a:buNone/>
            </a:pPr>
            <a:r>
              <a:rPr lang="en-US" sz="2000" dirty="0">
                <a:solidFill>
                  <a:srgbClr val="0070C0"/>
                </a:solidFill>
              </a:rPr>
              <a:t>for </a:t>
            </a:r>
            <a:r>
              <a:rPr lang="en-US" sz="2000" dirty="0" err="1">
                <a:solidFill>
                  <a:srgbClr val="0070C0"/>
                </a:solidFill>
              </a:rPr>
              <a:t>i</a:t>
            </a:r>
            <a:r>
              <a:rPr lang="en-US" sz="2000" dirty="0">
                <a:solidFill>
                  <a:srgbClr val="0070C0"/>
                </a:solidFill>
              </a:rPr>
              <a:t> in range(5):</a:t>
            </a:r>
          </a:p>
          <a:p>
            <a:pPr marL="0" indent="0">
              <a:buNone/>
            </a:pPr>
            <a:r>
              <a:rPr lang="en-US" sz="2000" dirty="0">
                <a:solidFill>
                  <a:srgbClr val="0070C0"/>
                </a:solidFill>
              </a:rPr>
              <a:t>    </a:t>
            </a:r>
            <a:r>
              <a:rPr lang="en-US" sz="2000" dirty="0" err="1">
                <a:solidFill>
                  <a:srgbClr val="0070C0"/>
                </a:solidFill>
              </a:rPr>
              <a:t>t.forward</a:t>
            </a:r>
            <a:r>
              <a:rPr lang="en-US" sz="2000" dirty="0">
                <a:solidFill>
                  <a:srgbClr val="0070C0"/>
                </a:solidFill>
              </a:rPr>
              <a:t>(100)</a:t>
            </a:r>
          </a:p>
          <a:p>
            <a:pPr marL="0" indent="0">
              <a:buNone/>
            </a:pPr>
            <a:r>
              <a:rPr lang="en-US" sz="2000" dirty="0">
                <a:solidFill>
                  <a:srgbClr val="0070C0"/>
                </a:solidFill>
              </a:rPr>
              <a:t>    </a:t>
            </a:r>
            <a:r>
              <a:rPr lang="en-US" sz="2000" dirty="0" err="1">
                <a:solidFill>
                  <a:srgbClr val="0070C0"/>
                </a:solidFill>
              </a:rPr>
              <a:t>t.left</a:t>
            </a:r>
            <a:r>
              <a:rPr lang="en-US" sz="2000" dirty="0">
                <a:solidFill>
                  <a:srgbClr val="0070C0"/>
                </a:solidFill>
              </a:rPr>
              <a:t>(72)</a:t>
            </a:r>
          </a:p>
          <a:p>
            <a:pPr marL="0" indent="0">
              <a:buNone/>
            </a:pPr>
            <a:r>
              <a:rPr lang="en-US" sz="2000" dirty="0">
                <a:solidFill>
                  <a:srgbClr val="0070C0"/>
                </a:solidFill>
              </a:rPr>
              <a:t>done()</a:t>
            </a:r>
          </a:p>
          <a:p>
            <a:pPr marL="0" indent="0">
              <a:buNone/>
            </a:pPr>
            <a:endParaRPr lang="en-US" sz="2000" dirty="0">
              <a:solidFill>
                <a:srgbClr val="0070C0"/>
              </a:solidFill>
            </a:endParaRPr>
          </a:p>
          <a:p>
            <a:pPr marL="0" indent="0">
              <a:buNone/>
            </a:pPr>
            <a:r>
              <a:rPr lang="en-ZA" sz="2000" dirty="0"/>
              <a:t>Why 72°?</a:t>
            </a:r>
            <a:r>
              <a:rPr lang="en-US" sz="2000" dirty="0"/>
              <a:t>  →</a:t>
            </a:r>
            <a:r>
              <a:rPr lang="en-ZA" sz="2000" dirty="0"/>
              <a:t>  360÷5=72</a:t>
            </a:r>
          </a:p>
          <a:p>
            <a:pPr marL="0" indent="0">
              <a:buNone/>
            </a:pPr>
            <a:endParaRPr lang="en-ZA" sz="2000" dirty="0"/>
          </a:p>
          <a:p>
            <a:pPr marL="0" indent="0">
              <a:buNone/>
            </a:pPr>
            <a:endParaRPr lang="en-ZA" sz="2000" dirty="0">
              <a:solidFill>
                <a:srgbClr val="0070C0"/>
              </a:solidFill>
            </a:endParaRPr>
          </a:p>
        </p:txBody>
      </p:sp>
    </p:spTree>
    <p:extLst>
      <p:ext uri="{BB962C8B-B14F-4D97-AF65-F5344CB8AC3E}">
        <p14:creationId xmlns:p14="http://schemas.microsoft.com/office/powerpoint/2010/main" val="3010242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62618-9DD3-94DA-A946-906430B6C655}"/>
              </a:ext>
            </a:extLst>
          </p:cNvPr>
          <p:cNvSpPr>
            <a:spLocks noGrp="1"/>
          </p:cNvSpPr>
          <p:nvPr>
            <p:ph type="title"/>
          </p:nvPr>
        </p:nvSpPr>
        <p:spPr/>
        <p:txBody>
          <a:bodyPr/>
          <a:lstStyle/>
          <a:p>
            <a:r>
              <a:rPr lang="en-US" dirty="0"/>
              <a:t>User Input Example</a:t>
            </a:r>
            <a:endParaRPr lang="en-ZA" dirty="0"/>
          </a:p>
        </p:txBody>
      </p:sp>
      <p:sp>
        <p:nvSpPr>
          <p:cNvPr id="3" name="Text Placeholder 2">
            <a:extLst>
              <a:ext uri="{FF2B5EF4-FFF2-40B4-BE49-F238E27FC236}">
                <a16:creationId xmlns:a16="http://schemas.microsoft.com/office/drawing/2014/main" id="{F269E174-5F3C-7605-F0C7-62B5E37EBCFB}"/>
              </a:ext>
            </a:extLst>
          </p:cNvPr>
          <p:cNvSpPr>
            <a:spLocks noGrp="1"/>
          </p:cNvSpPr>
          <p:nvPr>
            <p:ph type="body" sz="quarter" idx="16"/>
          </p:nvPr>
        </p:nvSpPr>
        <p:spPr>
          <a:xfrm>
            <a:off x="1021794" y="1616970"/>
            <a:ext cx="4486822" cy="4194388"/>
          </a:xfrm>
        </p:spPr>
        <p:txBody>
          <a:bodyPr>
            <a:normAutofit fontScale="92500" lnSpcReduction="10000"/>
          </a:bodyPr>
          <a:lstStyle/>
          <a:p>
            <a:r>
              <a:rPr lang="en-ZA" sz="2000" dirty="0"/>
              <a:t>import turtle</a:t>
            </a:r>
          </a:p>
          <a:p>
            <a:r>
              <a:rPr lang="en-ZA" sz="2000" dirty="0"/>
              <a:t>sides = int(input("Enter number of sides: "))</a:t>
            </a:r>
          </a:p>
          <a:p>
            <a:r>
              <a:rPr lang="en-ZA" sz="2000" dirty="0"/>
              <a:t>t = </a:t>
            </a:r>
            <a:r>
              <a:rPr lang="en-ZA" sz="2000" dirty="0" err="1"/>
              <a:t>turtle.Turtle</a:t>
            </a:r>
            <a:r>
              <a:rPr lang="en-ZA" sz="2000" dirty="0"/>
              <a:t>()</a:t>
            </a:r>
          </a:p>
          <a:p>
            <a:r>
              <a:rPr lang="en-ZA" sz="2000" dirty="0"/>
              <a:t>angle = 360 / sides</a:t>
            </a:r>
          </a:p>
          <a:p>
            <a:endParaRPr lang="en-ZA" sz="2000" dirty="0"/>
          </a:p>
          <a:p>
            <a:r>
              <a:rPr lang="en-ZA" sz="2000" dirty="0"/>
              <a:t>for </a:t>
            </a:r>
            <a:r>
              <a:rPr lang="en-ZA" sz="2000" dirty="0" err="1"/>
              <a:t>i</a:t>
            </a:r>
            <a:r>
              <a:rPr lang="en-ZA" sz="2000" dirty="0"/>
              <a:t> in range(sides):</a:t>
            </a:r>
          </a:p>
          <a:p>
            <a:r>
              <a:rPr lang="en-ZA" sz="2000" dirty="0"/>
              <a:t>    </a:t>
            </a:r>
            <a:r>
              <a:rPr lang="en-ZA" sz="2000" dirty="0" err="1"/>
              <a:t>t.forward</a:t>
            </a:r>
            <a:r>
              <a:rPr lang="en-ZA" sz="2000" dirty="0"/>
              <a:t>(80)</a:t>
            </a:r>
          </a:p>
          <a:p>
            <a:r>
              <a:rPr lang="en-ZA" sz="2000" dirty="0"/>
              <a:t>    </a:t>
            </a:r>
            <a:r>
              <a:rPr lang="en-ZA" sz="2000" dirty="0" err="1"/>
              <a:t>t.left</a:t>
            </a:r>
            <a:r>
              <a:rPr lang="en-ZA" sz="2000" dirty="0"/>
              <a:t>(angle)</a:t>
            </a:r>
          </a:p>
          <a:p>
            <a:endParaRPr lang="en-ZA" sz="2000" dirty="0"/>
          </a:p>
          <a:p>
            <a:r>
              <a:rPr lang="en-ZA" sz="2000" dirty="0"/>
              <a:t>screen = </a:t>
            </a:r>
            <a:r>
              <a:rPr lang="en-ZA" sz="2000" dirty="0" err="1"/>
              <a:t>turtle.Screen</a:t>
            </a:r>
            <a:r>
              <a:rPr lang="en-ZA" sz="2000" dirty="0"/>
              <a:t>()</a:t>
            </a:r>
          </a:p>
          <a:p>
            <a:r>
              <a:rPr lang="en-ZA" sz="2000" dirty="0" err="1"/>
              <a:t>screen.exitonclick</a:t>
            </a:r>
            <a:r>
              <a:rPr lang="en-ZA" sz="2000" dirty="0"/>
              <a:t>()</a:t>
            </a:r>
          </a:p>
        </p:txBody>
      </p:sp>
      <p:sp>
        <p:nvSpPr>
          <p:cNvPr id="5" name="Text Placeholder 4">
            <a:extLst>
              <a:ext uri="{FF2B5EF4-FFF2-40B4-BE49-F238E27FC236}">
                <a16:creationId xmlns:a16="http://schemas.microsoft.com/office/drawing/2014/main" id="{76D3DB18-CE1F-1B11-9D06-BE62C9B72F71}"/>
              </a:ext>
            </a:extLst>
          </p:cNvPr>
          <p:cNvSpPr>
            <a:spLocks noGrp="1"/>
          </p:cNvSpPr>
          <p:nvPr>
            <p:ph type="body" sz="quarter" idx="18"/>
          </p:nvPr>
        </p:nvSpPr>
        <p:spPr>
          <a:xfrm>
            <a:off x="6209526" y="1827814"/>
            <a:ext cx="4486822" cy="3444260"/>
          </a:xfrm>
        </p:spPr>
        <p:txBody>
          <a:bodyPr>
            <a:normAutofit/>
          </a:bodyPr>
          <a:lstStyle/>
          <a:p>
            <a:r>
              <a:rPr lang="en-US" sz="2800" dirty="0"/>
              <a:t>This program:</a:t>
            </a:r>
          </a:p>
          <a:p>
            <a:pPr marL="457200" indent="-457200">
              <a:buFont typeface="Arial" panose="020B0604020202020204" pitchFamily="34" charset="0"/>
              <a:buChar char="•"/>
            </a:pPr>
            <a:r>
              <a:rPr lang="en-US" sz="2800" dirty="0"/>
              <a:t>Accepts user input </a:t>
            </a:r>
          </a:p>
          <a:p>
            <a:pPr marL="457200" indent="-457200">
              <a:buFont typeface="Arial" panose="020B0604020202020204" pitchFamily="34" charset="0"/>
              <a:buChar char="•"/>
            </a:pPr>
            <a:r>
              <a:rPr lang="en-US" sz="2800" dirty="0"/>
              <a:t>Draws a regular polygon</a:t>
            </a:r>
          </a:p>
          <a:p>
            <a:endParaRPr lang="en-ZA" sz="2800" dirty="0"/>
          </a:p>
        </p:txBody>
      </p:sp>
    </p:spTree>
    <p:extLst>
      <p:ext uri="{BB962C8B-B14F-4D97-AF65-F5344CB8AC3E}">
        <p14:creationId xmlns:p14="http://schemas.microsoft.com/office/powerpoint/2010/main" val="399033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0F20-70FC-45E8-2A8E-0909B8F0CA09}"/>
              </a:ext>
            </a:extLst>
          </p:cNvPr>
          <p:cNvSpPr>
            <a:spLocks noGrp="1"/>
          </p:cNvSpPr>
          <p:nvPr>
            <p:ph type="title"/>
          </p:nvPr>
        </p:nvSpPr>
        <p:spPr/>
        <p:txBody>
          <a:bodyPr/>
          <a:lstStyle/>
          <a:p>
            <a:r>
              <a:rPr lang="en-ZA" dirty="0"/>
              <a:t>Common Mistake</a:t>
            </a:r>
          </a:p>
        </p:txBody>
      </p:sp>
      <p:sp>
        <p:nvSpPr>
          <p:cNvPr id="3" name="Text Placeholder 2">
            <a:extLst>
              <a:ext uri="{FF2B5EF4-FFF2-40B4-BE49-F238E27FC236}">
                <a16:creationId xmlns:a16="http://schemas.microsoft.com/office/drawing/2014/main" id="{87794938-4302-ED70-BA6A-E9EF070D9B0F}"/>
              </a:ext>
            </a:extLst>
          </p:cNvPr>
          <p:cNvSpPr>
            <a:spLocks noGrp="1"/>
          </p:cNvSpPr>
          <p:nvPr>
            <p:ph type="body" sz="quarter" idx="16"/>
          </p:nvPr>
        </p:nvSpPr>
        <p:spPr>
          <a:xfrm>
            <a:off x="2262765" y="2241471"/>
            <a:ext cx="8383463" cy="3444260"/>
          </a:xfrm>
        </p:spPr>
        <p:txBody>
          <a:bodyPr>
            <a:normAutofit/>
          </a:bodyPr>
          <a:lstStyle/>
          <a:p>
            <a:pPr marL="285750" indent="-285750">
              <a:buFont typeface="Arial" panose="020B0604020202020204" pitchFamily="34" charset="0"/>
              <a:buChar char="•"/>
            </a:pPr>
            <a:r>
              <a:rPr lang="en-US" sz="2400" dirty="0"/>
              <a:t>Do NOT name your file turtle.py</a:t>
            </a:r>
          </a:p>
          <a:p>
            <a:pPr marL="285750" indent="-285750">
              <a:buFont typeface="Arial" panose="020B0604020202020204" pitchFamily="34" charset="0"/>
              <a:buChar char="•"/>
            </a:pPr>
            <a:r>
              <a:rPr lang="en-US" sz="2400" dirty="0"/>
              <a:t>Why?</a:t>
            </a:r>
          </a:p>
          <a:p>
            <a:pPr marL="827088" lvl="1" indent="-285750"/>
            <a:r>
              <a:rPr lang="en-US" sz="2400" dirty="0"/>
              <a:t>Python may import your file instead of the real turtle module. </a:t>
            </a:r>
          </a:p>
          <a:p>
            <a:pPr marL="285750" indent="-285750">
              <a:buFont typeface="Arial" panose="020B0604020202020204" pitchFamily="34" charset="0"/>
              <a:buChar char="•"/>
            </a:pPr>
            <a:r>
              <a:rPr lang="en-US" sz="2400" dirty="0"/>
              <a:t>Solution:</a:t>
            </a:r>
          </a:p>
          <a:p>
            <a:pPr marL="827088" lvl="1" indent="-285750"/>
            <a:r>
              <a:rPr lang="en-US" sz="2400" dirty="0"/>
              <a:t>Use another filename such as: </a:t>
            </a:r>
          </a:p>
          <a:p>
            <a:pPr lvl="2"/>
            <a:r>
              <a:rPr lang="en-US" sz="2000" dirty="0"/>
              <a:t>shapes.py </a:t>
            </a:r>
          </a:p>
          <a:p>
            <a:pPr lvl="2"/>
            <a:r>
              <a:rPr lang="en-US" sz="2000" dirty="0"/>
              <a:t>graphics.py</a:t>
            </a:r>
          </a:p>
          <a:p>
            <a:endParaRPr lang="en-ZA" sz="2400" dirty="0"/>
          </a:p>
        </p:txBody>
      </p:sp>
    </p:spTree>
    <p:extLst>
      <p:ext uri="{BB962C8B-B14F-4D97-AF65-F5344CB8AC3E}">
        <p14:creationId xmlns:p14="http://schemas.microsoft.com/office/powerpoint/2010/main" val="3520164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320-98B1-7709-B161-F35A74904704}"/>
              </a:ext>
            </a:extLst>
          </p:cNvPr>
          <p:cNvSpPr>
            <a:spLocks noGrp="1"/>
          </p:cNvSpPr>
          <p:nvPr>
            <p:ph type="title"/>
          </p:nvPr>
        </p:nvSpPr>
        <p:spPr/>
        <p:txBody>
          <a:bodyPr/>
          <a:lstStyle/>
          <a:p>
            <a:r>
              <a:rPr lang="en-US" dirty="0"/>
              <a:t>Enhancing Turtle graphics</a:t>
            </a:r>
            <a:endParaRPr lang="en-ZA" dirty="0"/>
          </a:p>
        </p:txBody>
      </p:sp>
      <p:sp>
        <p:nvSpPr>
          <p:cNvPr id="3" name="Text Placeholder 2">
            <a:extLst>
              <a:ext uri="{FF2B5EF4-FFF2-40B4-BE49-F238E27FC236}">
                <a16:creationId xmlns:a16="http://schemas.microsoft.com/office/drawing/2014/main" id="{E639742F-6602-03DB-DF12-3CD7C5AC9DDE}"/>
              </a:ext>
            </a:extLst>
          </p:cNvPr>
          <p:cNvSpPr>
            <a:spLocks noGrp="1"/>
          </p:cNvSpPr>
          <p:nvPr>
            <p:ph type="body" sz="quarter" idx="16"/>
          </p:nvPr>
        </p:nvSpPr>
        <p:spPr>
          <a:xfrm>
            <a:off x="1827337" y="1706870"/>
            <a:ext cx="8797120" cy="4476216"/>
          </a:xfrm>
        </p:spPr>
        <p:txBody>
          <a:bodyPr>
            <a:normAutofit/>
          </a:bodyPr>
          <a:lstStyle/>
          <a:p>
            <a:pPr marL="457200" indent="-457200">
              <a:buFont typeface="Arial" panose="020B0604020202020204" pitchFamily="34" charset="0"/>
              <a:buChar char="•"/>
            </a:pPr>
            <a:r>
              <a:rPr lang="en-US" sz="2800" dirty="0"/>
              <a:t>Turtle can also:</a:t>
            </a:r>
          </a:p>
          <a:p>
            <a:pPr marL="998538" lvl="1" indent="-457200"/>
            <a:r>
              <a:rPr lang="en-US" sz="2800" dirty="0"/>
              <a:t>Change </a:t>
            </a:r>
            <a:r>
              <a:rPr lang="en-US" sz="2800" dirty="0" err="1"/>
              <a:t>colours</a:t>
            </a:r>
            <a:r>
              <a:rPr lang="en-US" sz="2800" dirty="0"/>
              <a:t> </a:t>
            </a:r>
          </a:p>
          <a:p>
            <a:pPr marL="998538" lvl="1" indent="-457200"/>
            <a:r>
              <a:rPr lang="en-US" sz="2800" dirty="0"/>
              <a:t>Change pen size </a:t>
            </a:r>
          </a:p>
          <a:p>
            <a:pPr marL="998538" lvl="1" indent="-457200"/>
            <a:r>
              <a:rPr lang="en-US" sz="2800" dirty="0"/>
              <a:t>Draw circles </a:t>
            </a:r>
          </a:p>
          <a:p>
            <a:pPr marL="998538" lvl="1" indent="-457200"/>
            <a:r>
              <a:rPr lang="en-US" sz="2800" dirty="0"/>
              <a:t>Fill shapes </a:t>
            </a:r>
          </a:p>
          <a:p>
            <a:pPr marL="998538" lvl="1" indent="-457200"/>
            <a:r>
              <a:rPr lang="en-US" sz="2800" dirty="0"/>
              <a:t>Write text </a:t>
            </a:r>
          </a:p>
          <a:p>
            <a:pPr marL="457200" indent="-457200">
              <a:buFont typeface="Arial" panose="020B0604020202020204" pitchFamily="34" charset="0"/>
              <a:buChar char="•"/>
            </a:pPr>
            <a:r>
              <a:rPr lang="en-US" sz="2800" dirty="0"/>
              <a:t>Example:</a:t>
            </a:r>
          </a:p>
          <a:p>
            <a:pPr marL="552450" lvl="2" indent="0">
              <a:buNone/>
            </a:pPr>
            <a:r>
              <a:rPr lang="en-US" sz="2400" dirty="0" err="1">
                <a:solidFill>
                  <a:srgbClr val="0070C0"/>
                </a:solidFill>
              </a:rPr>
              <a:t>t.color</a:t>
            </a:r>
            <a:r>
              <a:rPr lang="en-US" sz="2400" dirty="0">
                <a:solidFill>
                  <a:srgbClr val="0070C0"/>
                </a:solidFill>
              </a:rPr>
              <a:t>("blue")</a:t>
            </a:r>
            <a:br>
              <a:rPr lang="en-US" sz="2400" dirty="0">
                <a:solidFill>
                  <a:srgbClr val="0070C0"/>
                </a:solidFill>
              </a:rPr>
            </a:br>
            <a:r>
              <a:rPr lang="en-US" sz="2400" dirty="0" err="1">
                <a:solidFill>
                  <a:srgbClr val="0070C0"/>
                </a:solidFill>
              </a:rPr>
              <a:t>t.circle</a:t>
            </a:r>
            <a:r>
              <a:rPr lang="en-US" sz="2400" dirty="0">
                <a:solidFill>
                  <a:srgbClr val="0070C0"/>
                </a:solidFill>
              </a:rPr>
              <a:t>(50)</a:t>
            </a:r>
          </a:p>
          <a:p>
            <a:endParaRPr lang="en-ZA" sz="2800" dirty="0"/>
          </a:p>
        </p:txBody>
      </p:sp>
    </p:spTree>
    <p:extLst>
      <p:ext uri="{BB962C8B-B14F-4D97-AF65-F5344CB8AC3E}">
        <p14:creationId xmlns:p14="http://schemas.microsoft.com/office/powerpoint/2010/main" val="1769983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8108E-CE0E-9F83-33AD-8817EA56C1DF}"/>
              </a:ext>
            </a:extLst>
          </p:cNvPr>
          <p:cNvSpPr>
            <a:spLocks noGrp="1"/>
          </p:cNvSpPr>
          <p:nvPr>
            <p:ph type="title"/>
          </p:nvPr>
        </p:nvSpPr>
        <p:spPr/>
        <p:txBody>
          <a:bodyPr/>
          <a:lstStyle/>
          <a:p>
            <a:r>
              <a:rPr lang="en-US" dirty="0"/>
              <a:t>Activity</a:t>
            </a:r>
            <a:endParaRPr lang="en-ZA" dirty="0"/>
          </a:p>
        </p:txBody>
      </p:sp>
      <p:sp>
        <p:nvSpPr>
          <p:cNvPr id="3" name="Text Placeholder 2">
            <a:extLst>
              <a:ext uri="{FF2B5EF4-FFF2-40B4-BE49-F238E27FC236}">
                <a16:creationId xmlns:a16="http://schemas.microsoft.com/office/drawing/2014/main" id="{AE611446-8FF1-440B-9DB6-0176A8CA00AA}"/>
              </a:ext>
            </a:extLst>
          </p:cNvPr>
          <p:cNvSpPr>
            <a:spLocks noGrp="1"/>
          </p:cNvSpPr>
          <p:nvPr>
            <p:ph type="body" sz="quarter" idx="13"/>
          </p:nvPr>
        </p:nvSpPr>
        <p:spPr/>
        <p:txBody>
          <a:bodyPr/>
          <a:lstStyle/>
          <a:p>
            <a:r>
              <a:rPr lang="en-US" dirty="0"/>
              <a:t>Write a Python program that:</a:t>
            </a:r>
          </a:p>
          <a:p>
            <a:pPr lvl="1"/>
            <a:r>
              <a:rPr lang="en-US" dirty="0"/>
              <a:t>Draws a triangle </a:t>
            </a:r>
          </a:p>
          <a:p>
            <a:pPr lvl="1"/>
            <a:r>
              <a:rPr lang="en-US" dirty="0"/>
              <a:t>Uses a loop </a:t>
            </a:r>
          </a:p>
          <a:p>
            <a:pPr lvl="1"/>
            <a:r>
              <a:rPr lang="en-US" dirty="0"/>
              <a:t>Changes the turtle </a:t>
            </a:r>
            <a:r>
              <a:rPr lang="en-US" dirty="0" err="1"/>
              <a:t>colour</a:t>
            </a:r>
            <a:r>
              <a:rPr lang="en-US" dirty="0"/>
              <a:t> </a:t>
            </a:r>
          </a:p>
          <a:p>
            <a:pPr lvl="1"/>
            <a:r>
              <a:rPr lang="en-US" dirty="0"/>
              <a:t>Uses </a:t>
            </a:r>
            <a:r>
              <a:rPr lang="en-US" dirty="0" err="1"/>
              <a:t>exitonclick</a:t>
            </a:r>
            <a:r>
              <a:rPr lang="en-US" dirty="0"/>
              <a:t>()</a:t>
            </a:r>
          </a:p>
          <a:p>
            <a:endParaRPr lang="en-ZA" dirty="0"/>
          </a:p>
        </p:txBody>
      </p:sp>
    </p:spTree>
    <p:extLst>
      <p:ext uri="{BB962C8B-B14F-4D97-AF65-F5344CB8AC3E}">
        <p14:creationId xmlns:p14="http://schemas.microsoft.com/office/powerpoint/2010/main" val="3656803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B5AE1-D57F-ED1C-321B-ED2B5DF43E75}"/>
              </a:ext>
            </a:extLst>
          </p:cNvPr>
          <p:cNvSpPr>
            <a:spLocks noGrp="1"/>
          </p:cNvSpPr>
          <p:nvPr>
            <p:ph type="title"/>
          </p:nvPr>
        </p:nvSpPr>
        <p:spPr/>
        <p:txBody>
          <a:bodyPr/>
          <a:lstStyle/>
          <a:p>
            <a:r>
              <a:rPr lang="en-US" dirty="0"/>
              <a:t>Creating objects in Python</a:t>
            </a:r>
            <a:endParaRPr lang="en-ZA" dirty="0"/>
          </a:p>
        </p:txBody>
      </p:sp>
      <p:sp>
        <p:nvSpPr>
          <p:cNvPr id="3" name="Text Placeholder 2">
            <a:extLst>
              <a:ext uri="{FF2B5EF4-FFF2-40B4-BE49-F238E27FC236}">
                <a16:creationId xmlns:a16="http://schemas.microsoft.com/office/drawing/2014/main" id="{ED469ED0-7FFA-234C-E868-CE5ED64832A6}"/>
              </a:ext>
            </a:extLst>
          </p:cNvPr>
          <p:cNvSpPr>
            <a:spLocks noGrp="1"/>
          </p:cNvSpPr>
          <p:nvPr>
            <p:ph type="body" sz="quarter" idx="13"/>
          </p:nvPr>
        </p:nvSpPr>
        <p:spPr/>
        <p:txBody>
          <a:bodyPr>
            <a:normAutofit/>
          </a:bodyPr>
          <a:lstStyle/>
          <a:p>
            <a:r>
              <a:rPr lang="en-US" dirty="0"/>
              <a:t>To create an object of a certain type or class, we write:</a:t>
            </a:r>
          </a:p>
          <a:p>
            <a:pPr marL="312738" lvl="1" indent="0">
              <a:buNone/>
            </a:pPr>
            <a:r>
              <a:rPr lang="en-US" dirty="0" err="1">
                <a:solidFill>
                  <a:srgbClr val="0070C0"/>
                </a:solidFill>
              </a:rPr>
              <a:t>objectref</a:t>
            </a:r>
            <a:r>
              <a:rPr lang="en-US" dirty="0">
                <a:solidFill>
                  <a:srgbClr val="0070C0"/>
                </a:solidFill>
              </a:rPr>
              <a:t> = Class()</a:t>
            </a:r>
          </a:p>
          <a:p>
            <a:r>
              <a:rPr lang="en-US" dirty="0"/>
              <a:t>Example:</a:t>
            </a:r>
          </a:p>
          <a:p>
            <a:pPr marL="312738" lvl="1" indent="0">
              <a:buNone/>
            </a:pPr>
            <a:r>
              <a:rPr lang="en-US" dirty="0">
                <a:solidFill>
                  <a:srgbClr val="0070C0"/>
                </a:solidFill>
              </a:rPr>
              <a:t>t = Turtle()</a:t>
            </a:r>
          </a:p>
          <a:p>
            <a:r>
              <a:rPr lang="en-US" dirty="0"/>
              <a:t>This:</a:t>
            </a:r>
          </a:p>
          <a:p>
            <a:pPr lvl="1"/>
            <a:r>
              <a:rPr lang="en-US" dirty="0"/>
              <a:t>Creates a Turtle object </a:t>
            </a:r>
          </a:p>
          <a:p>
            <a:pPr lvl="1"/>
            <a:r>
              <a:rPr lang="en-US" dirty="0"/>
              <a:t>Stores the object in memory </a:t>
            </a:r>
          </a:p>
          <a:p>
            <a:pPr lvl="1"/>
            <a:r>
              <a:rPr lang="en-US" dirty="0"/>
              <a:t>Makes variable t refer to the object</a:t>
            </a:r>
          </a:p>
          <a:p>
            <a:pPr marL="0" indent="0">
              <a:buNone/>
            </a:pPr>
            <a:endParaRPr lang="en-ZA" dirty="0"/>
          </a:p>
        </p:txBody>
      </p:sp>
    </p:spTree>
    <p:extLst>
      <p:ext uri="{BB962C8B-B14F-4D97-AF65-F5344CB8AC3E}">
        <p14:creationId xmlns:p14="http://schemas.microsoft.com/office/powerpoint/2010/main" val="3359892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10D6-016B-1BC2-348E-5BD7D4D79B3F}"/>
              </a:ext>
            </a:extLst>
          </p:cNvPr>
          <p:cNvSpPr>
            <a:spLocks noGrp="1"/>
          </p:cNvSpPr>
          <p:nvPr>
            <p:ph type="title"/>
          </p:nvPr>
        </p:nvSpPr>
        <p:spPr/>
        <p:txBody>
          <a:bodyPr/>
          <a:lstStyle/>
          <a:p>
            <a:r>
              <a:rPr lang="en-US" sz="4000" dirty="0"/>
              <a:t>What happens when an object is created</a:t>
            </a:r>
            <a:endParaRPr lang="en-ZA" sz="4000" dirty="0"/>
          </a:p>
        </p:txBody>
      </p:sp>
      <p:sp>
        <p:nvSpPr>
          <p:cNvPr id="3" name="Text Placeholder 2">
            <a:extLst>
              <a:ext uri="{FF2B5EF4-FFF2-40B4-BE49-F238E27FC236}">
                <a16:creationId xmlns:a16="http://schemas.microsoft.com/office/drawing/2014/main" id="{F9FA14E8-DF31-EDDD-416D-71CD876B5AC0}"/>
              </a:ext>
            </a:extLst>
          </p:cNvPr>
          <p:cNvSpPr>
            <a:spLocks noGrp="1"/>
          </p:cNvSpPr>
          <p:nvPr>
            <p:ph type="body" sz="quarter" idx="13"/>
          </p:nvPr>
        </p:nvSpPr>
        <p:spPr>
          <a:xfrm>
            <a:off x="1510635" y="1480457"/>
            <a:ext cx="9426923" cy="4637313"/>
          </a:xfrm>
        </p:spPr>
        <p:txBody>
          <a:bodyPr>
            <a:normAutofit/>
          </a:bodyPr>
          <a:lstStyle/>
          <a:p>
            <a:r>
              <a:rPr lang="en-US" dirty="0"/>
              <a:t>When Python creates an object:</a:t>
            </a:r>
          </a:p>
          <a:p>
            <a:pPr lvl="1"/>
            <a:r>
              <a:rPr lang="en-US" dirty="0"/>
              <a:t>Memory is reserved for the object </a:t>
            </a:r>
          </a:p>
          <a:p>
            <a:pPr lvl="1"/>
            <a:r>
              <a:rPr lang="en-US" dirty="0"/>
              <a:t>The object is initialized </a:t>
            </a:r>
          </a:p>
          <a:p>
            <a:pPr lvl="1"/>
            <a:r>
              <a:rPr lang="en-US" dirty="0"/>
              <a:t>The variable points to the object </a:t>
            </a:r>
          </a:p>
          <a:p>
            <a:r>
              <a:rPr lang="en-US" dirty="0"/>
              <a:t>A Turtle object stores information such as:</a:t>
            </a:r>
          </a:p>
          <a:p>
            <a:pPr lvl="1"/>
            <a:r>
              <a:rPr lang="en-US" dirty="0"/>
              <a:t>Position on screen </a:t>
            </a:r>
          </a:p>
          <a:p>
            <a:pPr lvl="1"/>
            <a:r>
              <a:rPr lang="en-US" dirty="0"/>
              <a:t>Direction </a:t>
            </a:r>
          </a:p>
          <a:p>
            <a:pPr lvl="1"/>
            <a:r>
              <a:rPr lang="en-US" dirty="0" err="1"/>
              <a:t>Colour</a:t>
            </a:r>
            <a:r>
              <a:rPr lang="en-US" dirty="0"/>
              <a:t> </a:t>
            </a:r>
          </a:p>
          <a:p>
            <a:pPr lvl="1"/>
            <a:r>
              <a:rPr lang="en-US" dirty="0"/>
              <a:t>Pen status </a:t>
            </a:r>
          </a:p>
          <a:p>
            <a:r>
              <a:rPr lang="en-US" dirty="0"/>
              <a:t>This process is called </a:t>
            </a:r>
            <a:r>
              <a:rPr lang="en-US" b="1" dirty="0"/>
              <a:t>object construction</a:t>
            </a:r>
            <a:r>
              <a:rPr lang="en-US" dirty="0"/>
              <a:t>.</a:t>
            </a:r>
          </a:p>
          <a:p>
            <a:endParaRPr lang="en-ZA" dirty="0"/>
          </a:p>
        </p:txBody>
      </p:sp>
    </p:spTree>
    <p:extLst>
      <p:ext uri="{BB962C8B-B14F-4D97-AF65-F5344CB8AC3E}">
        <p14:creationId xmlns:p14="http://schemas.microsoft.com/office/powerpoint/2010/main" val="3126119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7DC85-85B1-7375-BC3B-D08CB4E4EDA3}"/>
              </a:ext>
            </a:extLst>
          </p:cNvPr>
          <p:cNvSpPr>
            <a:spLocks noGrp="1"/>
          </p:cNvSpPr>
          <p:nvPr>
            <p:ph type="title"/>
          </p:nvPr>
        </p:nvSpPr>
        <p:spPr/>
        <p:txBody>
          <a:bodyPr/>
          <a:lstStyle/>
          <a:p>
            <a:r>
              <a:rPr lang="en-ZA" dirty="0"/>
              <a:t>Constructors in Python</a:t>
            </a:r>
          </a:p>
        </p:txBody>
      </p:sp>
      <p:sp>
        <p:nvSpPr>
          <p:cNvPr id="3" name="Text Placeholder 2">
            <a:extLst>
              <a:ext uri="{FF2B5EF4-FFF2-40B4-BE49-F238E27FC236}">
                <a16:creationId xmlns:a16="http://schemas.microsoft.com/office/drawing/2014/main" id="{3902AB0B-62FF-140D-9F6E-7FBFB1B60CDC}"/>
              </a:ext>
            </a:extLst>
          </p:cNvPr>
          <p:cNvSpPr>
            <a:spLocks noGrp="1"/>
          </p:cNvSpPr>
          <p:nvPr>
            <p:ph type="body" sz="quarter" idx="13"/>
          </p:nvPr>
        </p:nvSpPr>
        <p:spPr/>
        <p:txBody>
          <a:bodyPr>
            <a:normAutofit fontScale="92500" lnSpcReduction="10000"/>
          </a:bodyPr>
          <a:lstStyle/>
          <a:p>
            <a:r>
              <a:rPr lang="en-US" dirty="0"/>
              <a:t>A </a:t>
            </a:r>
            <a:r>
              <a:rPr lang="en-US" b="1" dirty="0"/>
              <a:t>constructor</a:t>
            </a:r>
            <a:r>
              <a:rPr lang="en-US" dirty="0"/>
              <a:t> is used to create objects.</a:t>
            </a:r>
          </a:p>
          <a:p>
            <a:r>
              <a:rPr lang="en-US" dirty="0"/>
              <a:t>General syntax:    </a:t>
            </a:r>
          </a:p>
          <a:p>
            <a:pPr marL="666750" lvl="2" indent="0">
              <a:buNone/>
            </a:pPr>
            <a:r>
              <a:rPr lang="en-US" dirty="0" err="1">
                <a:solidFill>
                  <a:srgbClr val="0070C0"/>
                </a:solidFill>
              </a:rPr>
              <a:t>ClassName</a:t>
            </a:r>
            <a:r>
              <a:rPr lang="en-US" dirty="0">
                <a:solidFill>
                  <a:srgbClr val="0070C0"/>
                </a:solidFill>
              </a:rPr>
              <a:t>(arguments)</a:t>
            </a:r>
          </a:p>
          <a:p>
            <a:r>
              <a:rPr lang="en-US" dirty="0"/>
              <a:t>Example:         </a:t>
            </a:r>
          </a:p>
          <a:p>
            <a:pPr marL="666750" lvl="2" indent="0">
              <a:buNone/>
            </a:pPr>
            <a:r>
              <a:rPr lang="en-US" dirty="0">
                <a:solidFill>
                  <a:srgbClr val="0070C0"/>
                </a:solidFill>
              </a:rPr>
              <a:t>t = Turtle()</a:t>
            </a:r>
          </a:p>
          <a:p>
            <a:endParaRPr lang="en-US" dirty="0">
              <a:solidFill>
                <a:srgbClr val="0070C0"/>
              </a:solidFill>
            </a:endParaRPr>
          </a:p>
          <a:p>
            <a:r>
              <a:rPr lang="en-US" dirty="0"/>
              <a:t>The constructor:</a:t>
            </a:r>
          </a:p>
          <a:p>
            <a:pPr lvl="1"/>
            <a:r>
              <a:rPr lang="en-US" dirty="0"/>
              <a:t>Creates the object </a:t>
            </a:r>
          </a:p>
          <a:p>
            <a:pPr lvl="1"/>
            <a:r>
              <a:rPr lang="en-US" dirty="0"/>
              <a:t>Initializes its data </a:t>
            </a:r>
          </a:p>
          <a:p>
            <a:pPr lvl="1"/>
            <a:r>
              <a:rPr lang="en-US" dirty="0"/>
              <a:t>Returns the object</a:t>
            </a:r>
          </a:p>
          <a:p>
            <a:endParaRPr lang="en-ZA" dirty="0"/>
          </a:p>
        </p:txBody>
      </p:sp>
    </p:spTree>
    <p:extLst>
      <p:ext uri="{BB962C8B-B14F-4D97-AF65-F5344CB8AC3E}">
        <p14:creationId xmlns:p14="http://schemas.microsoft.com/office/powerpoint/2010/main" val="2463714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7204-F97F-271B-C03A-675047D3A1B2}"/>
              </a:ext>
            </a:extLst>
          </p:cNvPr>
          <p:cNvSpPr>
            <a:spLocks noGrp="1"/>
          </p:cNvSpPr>
          <p:nvPr>
            <p:ph type="title"/>
          </p:nvPr>
        </p:nvSpPr>
        <p:spPr/>
        <p:txBody>
          <a:bodyPr/>
          <a:lstStyle/>
          <a:p>
            <a:r>
              <a:rPr lang="en-US" dirty="0"/>
              <a:t>Examples of constructors</a:t>
            </a:r>
            <a:endParaRPr lang="en-ZA" dirty="0"/>
          </a:p>
        </p:txBody>
      </p:sp>
      <p:sp>
        <p:nvSpPr>
          <p:cNvPr id="3" name="Text Placeholder 2">
            <a:extLst>
              <a:ext uri="{FF2B5EF4-FFF2-40B4-BE49-F238E27FC236}">
                <a16:creationId xmlns:a16="http://schemas.microsoft.com/office/drawing/2014/main" id="{D9BCE70F-09C7-F546-6BE8-071CF26535AE}"/>
              </a:ext>
            </a:extLst>
          </p:cNvPr>
          <p:cNvSpPr>
            <a:spLocks noGrp="1"/>
          </p:cNvSpPr>
          <p:nvPr>
            <p:ph type="body" sz="quarter" idx="13"/>
          </p:nvPr>
        </p:nvSpPr>
        <p:spPr>
          <a:xfrm>
            <a:off x="1510635" y="1621546"/>
            <a:ext cx="9799622" cy="4038986"/>
          </a:xfrm>
        </p:spPr>
        <p:txBody>
          <a:bodyPr/>
          <a:lstStyle/>
          <a:p>
            <a:r>
              <a:rPr lang="en-US" dirty="0"/>
              <a:t>name = str("John")</a:t>
            </a:r>
          </a:p>
          <a:p>
            <a:r>
              <a:rPr lang="en-US" dirty="0"/>
              <a:t>age = int("25")</a:t>
            </a:r>
          </a:p>
          <a:p>
            <a:r>
              <a:rPr lang="en-US" dirty="0"/>
              <a:t>price = float("19.99")</a:t>
            </a:r>
          </a:p>
          <a:p>
            <a:r>
              <a:rPr lang="en-US" dirty="0"/>
              <a:t>number = float(7)</a:t>
            </a:r>
          </a:p>
          <a:p>
            <a:r>
              <a:rPr lang="en-US" dirty="0" err="1"/>
              <a:t>mylist</a:t>
            </a:r>
            <a:r>
              <a:rPr lang="en-US" dirty="0"/>
              <a:t> = list()</a:t>
            </a:r>
          </a:p>
          <a:p>
            <a:endParaRPr lang="en-US" dirty="0"/>
          </a:p>
          <a:p>
            <a:r>
              <a:rPr lang="en-US" dirty="0"/>
              <a:t>Each class has its own constructor.</a:t>
            </a:r>
          </a:p>
          <a:p>
            <a:endParaRPr lang="en-ZA" dirty="0"/>
          </a:p>
        </p:txBody>
      </p:sp>
    </p:spTree>
    <p:extLst>
      <p:ext uri="{BB962C8B-B14F-4D97-AF65-F5344CB8AC3E}">
        <p14:creationId xmlns:p14="http://schemas.microsoft.com/office/powerpoint/2010/main" val="3454578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8AE3F-BC9E-8566-744C-4381B2B1134A}"/>
              </a:ext>
            </a:extLst>
          </p:cNvPr>
          <p:cNvSpPr>
            <a:spLocks noGrp="1"/>
          </p:cNvSpPr>
          <p:nvPr>
            <p:ph type="title"/>
          </p:nvPr>
        </p:nvSpPr>
        <p:spPr/>
        <p:txBody>
          <a:bodyPr/>
          <a:lstStyle/>
          <a:p>
            <a:r>
              <a:rPr lang="en-ZA" sz="4000" dirty="0"/>
              <a:t>Constructors with Different Arguments</a:t>
            </a:r>
          </a:p>
        </p:txBody>
      </p:sp>
      <p:sp>
        <p:nvSpPr>
          <p:cNvPr id="3" name="Text Placeholder 2">
            <a:extLst>
              <a:ext uri="{FF2B5EF4-FFF2-40B4-BE49-F238E27FC236}">
                <a16:creationId xmlns:a16="http://schemas.microsoft.com/office/drawing/2014/main" id="{BB3FECD6-290A-097B-347B-E93232353218}"/>
              </a:ext>
            </a:extLst>
          </p:cNvPr>
          <p:cNvSpPr>
            <a:spLocks noGrp="1"/>
          </p:cNvSpPr>
          <p:nvPr>
            <p:ph type="body" sz="quarter" idx="16"/>
          </p:nvPr>
        </p:nvSpPr>
        <p:spPr/>
        <p:txBody>
          <a:bodyPr>
            <a:normAutofit/>
          </a:bodyPr>
          <a:lstStyle/>
          <a:p>
            <a:r>
              <a:rPr lang="es-ES" sz="2400" dirty="0"/>
              <a:t>x = </a:t>
            </a:r>
            <a:r>
              <a:rPr lang="es-ES" sz="2400" dirty="0" err="1"/>
              <a:t>float</a:t>
            </a:r>
            <a:r>
              <a:rPr lang="es-ES" sz="2400" dirty="0"/>
              <a:t>("5.6")</a:t>
            </a:r>
          </a:p>
          <a:p>
            <a:r>
              <a:rPr lang="es-ES" sz="2400" dirty="0"/>
              <a:t>y = </a:t>
            </a:r>
            <a:r>
              <a:rPr lang="es-ES" sz="2400" dirty="0" err="1"/>
              <a:t>float</a:t>
            </a:r>
            <a:r>
              <a:rPr lang="es-ES" sz="2400" dirty="0"/>
              <a:t>(8)</a:t>
            </a:r>
            <a:endParaRPr lang="en-ZA" sz="2400" dirty="0"/>
          </a:p>
        </p:txBody>
      </p:sp>
      <p:sp>
        <p:nvSpPr>
          <p:cNvPr id="5" name="Text Placeholder 4">
            <a:extLst>
              <a:ext uri="{FF2B5EF4-FFF2-40B4-BE49-F238E27FC236}">
                <a16:creationId xmlns:a16="http://schemas.microsoft.com/office/drawing/2014/main" id="{C6E896EB-B74C-336F-AC62-6C00291B40A2}"/>
              </a:ext>
            </a:extLst>
          </p:cNvPr>
          <p:cNvSpPr>
            <a:spLocks noGrp="1"/>
          </p:cNvSpPr>
          <p:nvPr>
            <p:ph type="body" sz="quarter" idx="18"/>
          </p:nvPr>
        </p:nvSpPr>
        <p:spPr/>
        <p:txBody>
          <a:bodyPr>
            <a:normAutofit/>
          </a:bodyPr>
          <a:lstStyle/>
          <a:p>
            <a:r>
              <a:rPr lang="en-US" sz="2400" dirty="0"/>
              <a:t>Both create float objects.</a:t>
            </a:r>
          </a:p>
          <a:p>
            <a:r>
              <a:rPr lang="en-US" sz="2400" dirty="0"/>
              <a:t>Results:</a:t>
            </a:r>
          </a:p>
          <a:p>
            <a:r>
              <a:rPr lang="en-US" sz="2400" dirty="0"/>
              <a:t>x → 5.6 </a:t>
            </a:r>
          </a:p>
          <a:p>
            <a:r>
              <a:rPr lang="en-US" sz="2400" dirty="0"/>
              <a:t>y → 8.0</a:t>
            </a:r>
          </a:p>
          <a:p>
            <a:endParaRPr lang="en-ZA" sz="2400" dirty="0"/>
          </a:p>
        </p:txBody>
      </p:sp>
    </p:spTree>
    <p:extLst>
      <p:ext uri="{BB962C8B-B14F-4D97-AF65-F5344CB8AC3E}">
        <p14:creationId xmlns:p14="http://schemas.microsoft.com/office/powerpoint/2010/main" val="2387028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DCCE6-B27B-0CD1-C0E1-69F2995AD1A5}"/>
              </a:ext>
            </a:extLst>
          </p:cNvPr>
          <p:cNvSpPr>
            <a:spLocks noGrp="1"/>
          </p:cNvSpPr>
          <p:nvPr>
            <p:ph type="title"/>
          </p:nvPr>
        </p:nvSpPr>
        <p:spPr/>
        <p:txBody>
          <a:bodyPr/>
          <a:lstStyle/>
          <a:p>
            <a:r>
              <a:rPr lang="en-ZA" sz="4000" dirty="0"/>
              <a:t>Constructors with Different Arguments</a:t>
            </a:r>
          </a:p>
        </p:txBody>
      </p:sp>
      <p:sp>
        <p:nvSpPr>
          <p:cNvPr id="3" name="Text Placeholder 2">
            <a:extLst>
              <a:ext uri="{FF2B5EF4-FFF2-40B4-BE49-F238E27FC236}">
                <a16:creationId xmlns:a16="http://schemas.microsoft.com/office/drawing/2014/main" id="{EC502638-E392-A0DB-C99A-02BBF373BC9A}"/>
              </a:ext>
            </a:extLst>
          </p:cNvPr>
          <p:cNvSpPr>
            <a:spLocks noGrp="1"/>
          </p:cNvSpPr>
          <p:nvPr>
            <p:ph type="body" sz="quarter" idx="13"/>
          </p:nvPr>
        </p:nvSpPr>
        <p:spPr/>
        <p:txBody>
          <a:bodyPr/>
          <a:lstStyle/>
          <a:p>
            <a:pPr marL="0" indent="0">
              <a:buNone/>
            </a:pPr>
            <a:r>
              <a:rPr lang="en-US" dirty="0"/>
              <a:t>When we write:</a:t>
            </a:r>
          </a:p>
          <a:p>
            <a:pPr marL="312738" lvl="1" indent="0">
              <a:buNone/>
            </a:pPr>
            <a:r>
              <a:rPr lang="en-US" dirty="0">
                <a:solidFill>
                  <a:srgbClr val="0070C0"/>
                </a:solidFill>
              </a:rPr>
              <a:t>t = Turtle()</a:t>
            </a:r>
          </a:p>
          <a:p>
            <a:pPr marL="312738" lvl="1" indent="0">
              <a:buNone/>
            </a:pPr>
            <a:endParaRPr lang="en-US" dirty="0">
              <a:solidFill>
                <a:srgbClr val="0070C0"/>
              </a:solidFill>
            </a:endParaRPr>
          </a:p>
          <a:p>
            <a:pPr marL="0" indent="0">
              <a:buNone/>
            </a:pPr>
            <a:r>
              <a:rPr lang="en-US" dirty="0"/>
              <a:t>Python:</a:t>
            </a:r>
          </a:p>
          <a:p>
            <a:pPr lvl="1"/>
            <a:r>
              <a:rPr lang="en-US" dirty="0"/>
              <a:t>Calls the Turtle constructor </a:t>
            </a:r>
          </a:p>
          <a:p>
            <a:pPr lvl="1"/>
            <a:r>
              <a:rPr lang="en-US" dirty="0"/>
              <a:t>Creates a Turtle object </a:t>
            </a:r>
          </a:p>
          <a:p>
            <a:pPr lvl="1"/>
            <a:r>
              <a:rPr lang="en-US" dirty="0"/>
              <a:t>Makes t point to the object </a:t>
            </a:r>
          </a:p>
          <a:p>
            <a:pPr marL="198438" lvl="1" indent="0">
              <a:buNone/>
            </a:pPr>
            <a:endParaRPr lang="en-US" dirty="0"/>
          </a:p>
          <a:p>
            <a:pPr marL="0" indent="0">
              <a:buNone/>
            </a:pPr>
            <a:r>
              <a:rPr lang="en-US" dirty="0"/>
              <a:t>This object is called an </a:t>
            </a:r>
            <a:r>
              <a:rPr lang="en-US" b="1" dirty="0"/>
              <a:t>instance</a:t>
            </a:r>
            <a:r>
              <a:rPr lang="en-US" dirty="0"/>
              <a:t> of the class.</a:t>
            </a:r>
          </a:p>
          <a:p>
            <a:endParaRPr lang="en-ZA" dirty="0"/>
          </a:p>
        </p:txBody>
      </p:sp>
    </p:spTree>
    <p:extLst>
      <p:ext uri="{BB962C8B-B14F-4D97-AF65-F5344CB8AC3E}">
        <p14:creationId xmlns:p14="http://schemas.microsoft.com/office/powerpoint/2010/main" val="221439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0A48-57FF-4B40-84D1-47E424BBAF21}"/>
              </a:ext>
            </a:extLst>
          </p:cNvPr>
          <p:cNvSpPr>
            <a:spLocks noGrp="1"/>
          </p:cNvSpPr>
          <p:nvPr>
            <p:ph type="title"/>
          </p:nvPr>
        </p:nvSpPr>
        <p:spPr/>
        <p:txBody>
          <a:bodyPr/>
          <a:lstStyle/>
          <a:p>
            <a:r>
              <a:rPr lang="en-US" dirty="0"/>
              <a:t>Accessor Methods</a:t>
            </a:r>
            <a:endParaRPr lang="en-ZA" dirty="0"/>
          </a:p>
        </p:txBody>
      </p:sp>
      <p:sp>
        <p:nvSpPr>
          <p:cNvPr id="3" name="Text Placeholder 2">
            <a:extLst>
              <a:ext uri="{FF2B5EF4-FFF2-40B4-BE49-F238E27FC236}">
                <a16:creationId xmlns:a16="http://schemas.microsoft.com/office/drawing/2014/main" id="{F97D07DD-D55D-BDE1-3117-B41A1C05CE25}"/>
              </a:ext>
            </a:extLst>
          </p:cNvPr>
          <p:cNvSpPr>
            <a:spLocks noGrp="1"/>
          </p:cNvSpPr>
          <p:nvPr>
            <p:ph type="body" sz="quarter" idx="13"/>
          </p:nvPr>
        </p:nvSpPr>
        <p:spPr/>
        <p:txBody>
          <a:bodyPr>
            <a:normAutofit/>
          </a:bodyPr>
          <a:lstStyle/>
          <a:p>
            <a:r>
              <a:rPr lang="en-US" dirty="0"/>
              <a:t>An </a:t>
            </a:r>
            <a:r>
              <a:rPr lang="en-US" b="1" dirty="0"/>
              <a:t>accessor method</a:t>
            </a:r>
            <a:r>
              <a:rPr lang="en-US" dirty="0"/>
              <a:t> is used to get information about the state of an object.</a:t>
            </a:r>
          </a:p>
          <a:p>
            <a:pPr marL="0" indent="0">
              <a:buNone/>
            </a:pPr>
            <a:endParaRPr lang="en-US" dirty="0"/>
          </a:p>
          <a:p>
            <a:r>
              <a:rPr lang="en-US" dirty="0"/>
              <a:t>Accessor methods:</a:t>
            </a:r>
          </a:p>
          <a:p>
            <a:pPr lvl="1"/>
            <a:r>
              <a:rPr lang="en-US" dirty="0"/>
              <a:t>Return information </a:t>
            </a:r>
          </a:p>
          <a:p>
            <a:pPr lvl="1"/>
            <a:r>
              <a:rPr lang="en-US" dirty="0"/>
              <a:t>Do NOT change the object </a:t>
            </a:r>
          </a:p>
          <a:p>
            <a:pPr marL="198438" lvl="1" indent="0">
              <a:buNone/>
            </a:pPr>
            <a:endParaRPr lang="en-US" dirty="0"/>
          </a:p>
          <a:p>
            <a:r>
              <a:rPr lang="en-US" dirty="0"/>
              <a:t>General syntax:</a:t>
            </a:r>
          </a:p>
          <a:p>
            <a:pPr marL="666750" lvl="2" indent="0">
              <a:buNone/>
            </a:pPr>
            <a:r>
              <a:rPr lang="en-US" dirty="0" err="1">
                <a:solidFill>
                  <a:srgbClr val="0070C0"/>
                </a:solidFill>
              </a:rPr>
              <a:t>object.method</a:t>
            </a:r>
            <a:r>
              <a:rPr lang="en-US" dirty="0">
                <a:solidFill>
                  <a:srgbClr val="0070C0"/>
                </a:solidFill>
              </a:rPr>
              <a:t>()</a:t>
            </a:r>
          </a:p>
          <a:p>
            <a:endParaRPr lang="en-ZA" dirty="0"/>
          </a:p>
        </p:txBody>
      </p:sp>
    </p:spTree>
    <p:extLst>
      <p:ext uri="{BB962C8B-B14F-4D97-AF65-F5344CB8AC3E}">
        <p14:creationId xmlns:p14="http://schemas.microsoft.com/office/powerpoint/2010/main" val="1768004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C88BE-6EF1-AAE7-5AEA-550AE23E8757}"/>
              </a:ext>
            </a:extLst>
          </p:cNvPr>
          <p:cNvSpPr>
            <a:spLocks noGrp="1"/>
          </p:cNvSpPr>
          <p:nvPr>
            <p:ph type="title"/>
          </p:nvPr>
        </p:nvSpPr>
        <p:spPr/>
        <p:txBody>
          <a:bodyPr/>
          <a:lstStyle/>
          <a:p>
            <a:r>
              <a:rPr lang="en-US" dirty="0"/>
              <a:t>Example of Accessor Method</a:t>
            </a:r>
            <a:endParaRPr lang="en-ZA" dirty="0"/>
          </a:p>
        </p:txBody>
      </p:sp>
      <p:sp>
        <p:nvSpPr>
          <p:cNvPr id="3" name="Text Placeholder 2">
            <a:extLst>
              <a:ext uri="{FF2B5EF4-FFF2-40B4-BE49-F238E27FC236}">
                <a16:creationId xmlns:a16="http://schemas.microsoft.com/office/drawing/2014/main" id="{7EAE7B60-7C05-524B-932F-64B579A069C4}"/>
              </a:ext>
            </a:extLst>
          </p:cNvPr>
          <p:cNvSpPr>
            <a:spLocks noGrp="1"/>
          </p:cNvSpPr>
          <p:nvPr>
            <p:ph type="body" sz="quarter" idx="16"/>
          </p:nvPr>
        </p:nvSpPr>
        <p:spPr>
          <a:xfrm>
            <a:off x="1283052" y="1983046"/>
            <a:ext cx="4486822" cy="3444260"/>
          </a:xfrm>
        </p:spPr>
        <p:txBody>
          <a:bodyPr>
            <a:normAutofit/>
          </a:bodyPr>
          <a:lstStyle/>
          <a:p>
            <a:r>
              <a:rPr lang="en-US" sz="2400" dirty="0"/>
              <a:t>import turtle</a:t>
            </a:r>
          </a:p>
          <a:p>
            <a:r>
              <a:rPr lang="en-US" sz="2400" dirty="0"/>
              <a:t>t = </a:t>
            </a:r>
            <a:r>
              <a:rPr lang="en-US" sz="2400" dirty="0" err="1"/>
              <a:t>turtle.Turtle</a:t>
            </a:r>
            <a:r>
              <a:rPr lang="en-US" sz="2400" dirty="0"/>
              <a:t>()</a:t>
            </a:r>
          </a:p>
          <a:p>
            <a:r>
              <a:rPr lang="en-US" sz="2400" dirty="0"/>
              <a:t>print(</a:t>
            </a:r>
            <a:r>
              <a:rPr lang="en-US" sz="2400" dirty="0" err="1"/>
              <a:t>t.heading</a:t>
            </a:r>
            <a:r>
              <a:rPr lang="en-US" sz="2400" dirty="0"/>
              <a:t>())</a:t>
            </a:r>
            <a:endParaRPr lang="en-ZA" sz="2400" dirty="0"/>
          </a:p>
        </p:txBody>
      </p:sp>
      <p:sp>
        <p:nvSpPr>
          <p:cNvPr id="5" name="Text Placeholder 4">
            <a:extLst>
              <a:ext uri="{FF2B5EF4-FFF2-40B4-BE49-F238E27FC236}">
                <a16:creationId xmlns:a16="http://schemas.microsoft.com/office/drawing/2014/main" id="{3014A4A0-FD14-5E87-CE16-8DA520F5F8A9}"/>
              </a:ext>
            </a:extLst>
          </p:cNvPr>
          <p:cNvSpPr>
            <a:spLocks noGrp="1"/>
          </p:cNvSpPr>
          <p:nvPr>
            <p:ph type="body" sz="quarter" idx="18"/>
          </p:nvPr>
        </p:nvSpPr>
        <p:spPr>
          <a:xfrm>
            <a:off x="5991813" y="1860471"/>
            <a:ext cx="4486822" cy="3444260"/>
          </a:xfrm>
        </p:spPr>
        <p:txBody>
          <a:bodyPr>
            <a:normAutofit/>
          </a:bodyPr>
          <a:lstStyle/>
          <a:p>
            <a:r>
              <a:rPr lang="en-US" sz="2800" dirty="0"/>
              <a:t>Explanation:</a:t>
            </a:r>
          </a:p>
          <a:p>
            <a:pPr marL="285750" indent="-285750">
              <a:buFont typeface="Arial" panose="020B0604020202020204" pitchFamily="34" charset="0"/>
              <a:buChar char="•"/>
            </a:pPr>
            <a:r>
              <a:rPr lang="en-US" sz="2800" dirty="0"/>
              <a:t>heading() returns the turtle’s current direction </a:t>
            </a:r>
          </a:p>
          <a:p>
            <a:pPr marL="285750" indent="-285750">
              <a:buFont typeface="Arial" panose="020B0604020202020204" pitchFamily="34" charset="0"/>
              <a:buChar char="•"/>
            </a:pPr>
            <a:r>
              <a:rPr lang="en-US" sz="2800" dirty="0"/>
              <a:t>The turtle itself does not change </a:t>
            </a:r>
          </a:p>
          <a:p>
            <a:r>
              <a:rPr lang="en-US" sz="2800" dirty="0"/>
              <a:t>Accessor methods only access data.</a:t>
            </a:r>
          </a:p>
          <a:p>
            <a:endParaRPr lang="en-ZA" sz="2800" dirty="0"/>
          </a:p>
        </p:txBody>
      </p:sp>
    </p:spTree>
    <p:extLst>
      <p:ext uri="{BB962C8B-B14F-4D97-AF65-F5344CB8AC3E}">
        <p14:creationId xmlns:p14="http://schemas.microsoft.com/office/powerpoint/2010/main" val="1727703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209C9-052F-F3F8-4CE4-84418106074C}"/>
              </a:ext>
            </a:extLst>
          </p:cNvPr>
          <p:cNvSpPr>
            <a:spLocks noGrp="1"/>
          </p:cNvSpPr>
          <p:nvPr>
            <p:ph type="title"/>
          </p:nvPr>
        </p:nvSpPr>
        <p:spPr/>
        <p:txBody>
          <a:bodyPr/>
          <a:lstStyle/>
          <a:p>
            <a:r>
              <a:rPr lang="en-US" sz="4400" dirty="0"/>
              <a:t>Accessor methods and Object State</a:t>
            </a:r>
            <a:endParaRPr lang="en-ZA" sz="4400" dirty="0"/>
          </a:p>
        </p:txBody>
      </p:sp>
      <p:sp>
        <p:nvSpPr>
          <p:cNvPr id="3" name="Text Placeholder 2">
            <a:extLst>
              <a:ext uri="{FF2B5EF4-FFF2-40B4-BE49-F238E27FC236}">
                <a16:creationId xmlns:a16="http://schemas.microsoft.com/office/drawing/2014/main" id="{6A59B9EF-035F-4692-47D8-8A74BDB3A11F}"/>
              </a:ext>
            </a:extLst>
          </p:cNvPr>
          <p:cNvSpPr>
            <a:spLocks noGrp="1"/>
          </p:cNvSpPr>
          <p:nvPr>
            <p:ph type="body" sz="quarter" idx="16"/>
          </p:nvPr>
        </p:nvSpPr>
        <p:spPr>
          <a:xfrm>
            <a:off x="967366" y="1971174"/>
            <a:ext cx="4486822" cy="3444260"/>
          </a:xfrm>
        </p:spPr>
        <p:txBody>
          <a:bodyPr>
            <a:normAutofit/>
          </a:bodyPr>
          <a:lstStyle/>
          <a:p>
            <a:r>
              <a:rPr lang="en-US" sz="2400" dirty="0"/>
              <a:t>A Turtle object stores information such as:</a:t>
            </a:r>
          </a:p>
          <a:p>
            <a:pPr marL="285750" indent="-285750">
              <a:buFont typeface="Arial" panose="020B0604020202020204" pitchFamily="34" charset="0"/>
              <a:buChar char="•"/>
            </a:pPr>
            <a:r>
              <a:rPr lang="en-US" sz="2400" dirty="0"/>
              <a:t>Position </a:t>
            </a:r>
          </a:p>
          <a:p>
            <a:pPr marL="285750" indent="-285750">
              <a:buFont typeface="Arial" panose="020B0604020202020204" pitchFamily="34" charset="0"/>
              <a:buChar char="•"/>
            </a:pPr>
            <a:r>
              <a:rPr lang="en-US" sz="2400" dirty="0"/>
              <a:t>Heading (direction) </a:t>
            </a:r>
          </a:p>
          <a:p>
            <a:pPr marL="285750" indent="-285750">
              <a:buFont typeface="Arial" panose="020B0604020202020204" pitchFamily="34" charset="0"/>
              <a:buChar char="•"/>
            </a:pPr>
            <a:r>
              <a:rPr lang="en-US" sz="2400" dirty="0" err="1"/>
              <a:t>Colour</a:t>
            </a:r>
            <a:r>
              <a:rPr lang="en-US" sz="2400" dirty="0"/>
              <a:t> </a:t>
            </a:r>
          </a:p>
          <a:p>
            <a:pPr marL="285750" indent="-285750">
              <a:buFont typeface="Arial" panose="020B0604020202020204" pitchFamily="34" charset="0"/>
              <a:buChar char="•"/>
            </a:pPr>
            <a:r>
              <a:rPr lang="en-US" sz="2400" dirty="0"/>
              <a:t>Pen status </a:t>
            </a:r>
          </a:p>
          <a:p>
            <a:r>
              <a:rPr lang="en-US" sz="2400" dirty="0"/>
              <a:t>Accessor methods allow us to inspect this information safely.</a:t>
            </a:r>
          </a:p>
          <a:p>
            <a:endParaRPr lang="en-ZA" sz="2400" dirty="0"/>
          </a:p>
        </p:txBody>
      </p:sp>
      <p:graphicFrame>
        <p:nvGraphicFramePr>
          <p:cNvPr id="7" name="Table 6">
            <a:extLst>
              <a:ext uri="{FF2B5EF4-FFF2-40B4-BE49-F238E27FC236}">
                <a16:creationId xmlns:a16="http://schemas.microsoft.com/office/drawing/2014/main" id="{3660BB70-02CE-43AD-020C-6960FF4D195B}"/>
              </a:ext>
            </a:extLst>
          </p:cNvPr>
          <p:cNvGraphicFramePr>
            <a:graphicFrameLocks noGrp="1"/>
          </p:cNvGraphicFramePr>
          <p:nvPr>
            <p:extLst>
              <p:ext uri="{D42A27DB-BD31-4B8C-83A1-F6EECF244321}">
                <p14:modId xmlns:p14="http://schemas.microsoft.com/office/powerpoint/2010/main" val="1498452667"/>
              </p:ext>
            </p:extLst>
          </p:nvPr>
        </p:nvGraphicFramePr>
        <p:xfrm>
          <a:off x="6291943" y="2064634"/>
          <a:ext cx="5214260" cy="2899250"/>
        </p:xfrm>
        <a:graphic>
          <a:graphicData uri="http://schemas.openxmlformats.org/drawingml/2006/table">
            <a:tbl>
              <a:tblPr firstRow="1" firstCol="1" bandRow="1">
                <a:tableStyleId>{5C22544A-7EE6-4342-B048-85BDC9FD1C3A}</a:tableStyleId>
              </a:tblPr>
              <a:tblGrid>
                <a:gridCol w="2607130">
                  <a:extLst>
                    <a:ext uri="{9D8B030D-6E8A-4147-A177-3AD203B41FA5}">
                      <a16:colId xmlns:a16="http://schemas.microsoft.com/office/drawing/2014/main" val="2109553833"/>
                    </a:ext>
                  </a:extLst>
                </a:gridCol>
                <a:gridCol w="2607130">
                  <a:extLst>
                    <a:ext uri="{9D8B030D-6E8A-4147-A177-3AD203B41FA5}">
                      <a16:colId xmlns:a16="http://schemas.microsoft.com/office/drawing/2014/main" val="8965495"/>
                    </a:ext>
                  </a:extLst>
                </a:gridCol>
              </a:tblGrid>
              <a:tr h="579850">
                <a:tc>
                  <a:txBody>
                    <a:bodyPr/>
                    <a:lstStyle/>
                    <a:p>
                      <a:pPr>
                        <a:lnSpc>
                          <a:spcPct val="115000"/>
                        </a:lnSpc>
                        <a:spcAft>
                          <a:spcPts val="800"/>
                        </a:spcAft>
                        <a:buNone/>
                      </a:pPr>
                      <a:r>
                        <a:rPr lang="en-ZA" sz="1800" kern="100">
                          <a:effectLst/>
                        </a:rPr>
                        <a:t>Method</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800" kern="100">
                          <a:effectLst/>
                        </a:rPr>
                        <a:t>Purpose</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2656964"/>
                  </a:ext>
                </a:extLst>
              </a:tr>
              <a:tr h="579850">
                <a:tc>
                  <a:txBody>
                    <a:bodyPr/>
                    <a:lstStyle/>
                    <a:p>
                      <a:pPr>
                        <a:lnSpc>
                          <a:spcPct val="115000"/>
                        </a:lnSpc>
                        <a:spcAft>
                          <a:spcPts val="800"/>
                        </a:spcAft>
                        <a:buNone/>
                      </a:pPr>
                      <a:r>
                        <a:rPr lang="en-ZA" sz="1800" kern="100">
                          <a:effectLst/>
                        </a:rPr>
                        <a:t>heading()</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800" kern="100">
                          <a:effectLst/>
                        </a:rPr>
                        <a:t>Returns direction</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6468816"/>
                  </a:ext>
                </a:extLst>
              </a:tr>
              <a:tr h="579850">
                <a:tc>
                  <a:txBody>
                    <a:bodyPr/>
                    <a:lstStyle/>
                    <a:p>
                      <a:pPr>
                        <a:lnSpc>
                          <a:spcPct val="115000"/>
                        </a:lnSpc>
                        <a:spcAft>
                          <a:spcPts val="800"/>
                        </a:spcAft>
                        <a:buNone/>
                      </a:pPr>
                      <a:r>
                        <a:rPr lang="en-ZA" sz="1800" kern="100">
                          <a:effectLst/>
                        </a:rPr>
                        <a:t>position()</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800" kern="100">
                          <a:effectLst/>
                        </a:rPr>
                        <a:t>Returns current position</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838117"/>
                  </a:ext>
                </a:extLst>
              </a:tr>
              <a:tr h="579850">
                <a:tc>
                  <a:txBody>
                    <a:bodyPr/>
                    <a:lstStyle/>
                    <a:p>
                      <a:pPr>
                        <a:lnSpc>
                          <a:spcPct val="115000"/>
                        </a:lnSpc>
                        <a:spcAft>
                          <a:spcPts val="800"/>
                        </a:spcAft>
                        <a:buNone/>
                      </a:pPr>
                      <a:r>
                        <a:rPr lang="en-ZA" sz="1800" kern="100">
                          <a:effectLst/>
                        </a:rPr>
                        <a:t>xcor()</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800" kern="100">
                          <a:effectLst/>
                        </a:rPr>
                        <a:t>Returns x-coordinate</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67264775"/>
                  </a:ext>
                </a:extLst>
              </a:tr>
              <a:tr h="579850">
                <a:tc>
                  <a:txBody>
                    <a:bodyPr/>
                    <a:lstStyle/>
                    <a:p>
                      <a:pPr>
                        <a:lnSpc>
                          <a:spcPct val="115000"/>
                        </a:lnSpc>
                        <a:spcAft>
                          <a:spcPts val="800"/>
                        </a:spcAft>
                        <a:buNone/>
                      </a:pPr>
                      <a:r>
                        <a:rPr lang="en-ZA" sz="1800" kern="100">
                          <a:effectLst/>
                        </a:rPr>
                        <a:t>ycor()</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1800" kern="100" dirty="0">
                          <a:effectLst/>
                        </a:rPr>
                        <a:t>Returns y-coordinate</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5257827"/>
                  </a:ext>
                </a:extLst>
              </a:tr>
            </a:tbl>
          </a:graphicData>
        </a:graphic>
      </p:graphicFrame>
    </p:spTree>
    <p:extLst>
      <p:ext uri="{BB962C8B-B14F-4D97-AF65-F5344CB8AC3E}">
        <p14:creationId xmlns:p14="http://schemas.microsoft.com/office/powerpoint/2010/main" val="1700828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D493-C374-1E8E-84D7-1ECB8179D3B2}"/>
              </a:ext>
            </a:extLst>
          </p:cNvPr>
          <p:cNvSpPr>
            <a:spLocks noGrp="1"/>
          </p:cNvSpPr>
          <p:nvPr>
            <p:ph type="title"/>
          </p:nvPr>
        </p:nvSpPr>
        <p:spPr/>
        <p:txBody>
          <a:bodyPr/>
          <a:lstStyle/>
          <a:p>
            <a:r>
              <a:rPr lang="en-US" dirty="0"/>
              <a:t>Mutator Methods</a:t>
            </a:r>
            <a:endParaRPr lang="en-ZA" dirty="0"/>
          </a:p>
        </p:txBody>
      </p:sp>
      <p:sp>
        <p:nvSpPr>
          <p:cNvPr id="3" name="Text Placeholder 2">
            <a:extLst>
              <a:ext uri="{FF2B5EF4-FFF2-40B4-BE49-F238E27FC236}">
                <a16:creationId xmlns:a16="http://schemas.microsoft.com/office/drawing/2014/main" id="{01CC2D47-1026-D06B-534F-4336DDD4F2B0}"/>
              </a:ext>
            </a:extLst>
          </p:cNvPr>
          <p:cNvSpPr>
            <a:spLocks noGrp="1"/>
          </p:cNvSpPr>
          <p:nvPr>
            <p:ph type="body" sz="quarter" idx="13"/>
          </p:nvPr>
        </p:nvSpPr>
        <p:spPr/>
        <p:txBody>
          <a:bodyPr/>
          <a:lstStyle/>
          <a:p>
            <a:r>
              <a:rPr lang="en-US" dirty="0"/>
              <a:t>A </a:t>
            </a:r>
            <a:r>
              <a:rPr lang="en-US" b="1" dirty="0"/>
              <a:t>mutator method</a:t>
            </a:r>
            <a:r>
              <a:rPr lang="en-US" dirty="0"/>
              <a:t> changes the state of an object.</a:t>
            </a:r>
          </a:p>
          <a:p>
            <a:r>
              <a:rPr lang="en-US" dirty="0"/>
              <a:t>Mutator methods:</a:t>
            </a:r>
          </a:p>
          <a:p>
            <a:pPr lvl="1"/>
            <a:r>
              <a:rPr lang="en-US" dirty="0"/>
              <a:t>Modify the object </a:t>
            </a:r>
          </a:p>
          <a:p>
            <a:pPr lvl="1"/>
            <a:r>
              <a:rPr lang="en-US" dirty="0"/>
              <a:t>Usually require information from the programmer</a:t>
            </a:r>
          </a:p>
          <a:p>
            <a:pPr lvl="1"/>
            <a:endParaRPr lang="en-US" dirty="0"/>
          </a:p>
          <a:p>
            <a:endParaRPr lang="en-US" dirty="0"/>
          </a:p>
          <a:p>
            <a:endParaRPr lang="en-ZA" dirty="0"/>
          </a:p>
        </p:txBody>
      </p:sp>
    </p:spTree>
    <p:extLst>
      <p:ext uri="{BB962C8B-B14F-4D97-AF65-F5344CB8AC3E}">
        <p14:creationId xmlns:p14="http://schemas.microsoft.com/office/powerpoint/2010/main" val="1446933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07799-7D5E-CC71-C222-E2A0459B0B18}"/>
              </a:ext>
            </a:extLst>
          </p:cNvPr>
          <p:cNvSpPr>
            <a:spLocks noGrp="1"/>
          </p:cNvSpPr>
          <p:nvPr>
            <p:ph type="title"/>
          </p:nvPr>
        </p:nvSpPr>
        <p:spPr/>
        <p:txBody>
          <a:bodyPr/>
          <a:lstStyle/>
          <a:p>
            <a:r>
              <a:rPr lang="en-US" dirty="0"/>
              <a:t>Examples of Mutator Methods</a:t>
            </a:r>
            <a:endParaRPr lang="en-ZA" dirty="0"/>
          </a:p>
        </p:txBody>
      </p:sp>
      <p:sp>
        <p:nvSpPr>
          <p:cNvPr id="3" name="Text Placeholder 2">
            <a:extLst>
              <a:ext uri="{FF2B5EF4-FFF2-40B4-BE49-F238E27FC236}">
                <a16:creationId xmlns:a16="http://schemas.microsoft.com/office/drawing/2014/main" id="{10D8AFF9-7D99-DA1C-BC3C-61F2F7F2D8CC}"/>
              </a:ext>
            </a:extLst>
          </p:cNvPr>
          <p:cNvSpPr>
            <a:spLocks noGrp="1"/>
          </p:cNvSpPr>
          <p:nvPr>
            <p:ph type="body" sz="quarter" idx="16"/>
          </p:nvPr>
        </p:nvSpPr>
        <p:spPr/>
        <p:txBody>
          <a:bodyPr>
            <a:normAutofit/>
          </a:bodyPr>
          <a:lstStyle/>
          <a:p>
            <a:r>
              <a:rPr lang="en-US" sz="2800" dirty="0" err="1"/>
              <a:t>t.forward</a:t>
            </a:r>
            <a:r>
              <a:rPr lang="en-US" sz="2800" dirty="0"/>
              <a:t>(100)</a:t>
            </a:r>
          </a:p>
          <a:p>
            <a:r>
              <a:rPr lang="en-US" sz="2800" dirty="0" err="1"/>
              <a:t>t.left</a:t>
            </a:r>
            <a:r>
              <a:rPr lang="en-US" sz="2800" dirty="0"/>
              <a:t>(90)</a:t>
            </a:r>
          </a:p>
          <a:p>
            <a:r>
              <a:rPr lang="en-US" sz="2800" dirty="0" err="1"/>
              <a:t>t.color</a:t>
            </a:r>
            <a:r>
              <a:rPr lang="en-US" sz="2800" dirty="0"/>
              <a:t>("blue")</a:t>
            </a:r>
            <a:endParaRPr lang="en-ZA" sz="2800" dirty="0"/>
          </a:p>
        </p:txBody>
      </p:sp>
      <p:sp>
        <p:nvSpPr>
          <p:cNvPr id="5" name="Text Placeholder 4">
            <a:extLst>
              <a:ext uri="{FF2B5EF4-FFF2-40B4-BE49-F238E27FC236}">
                <a16:creationId xmlns:a16="http://schemas.microsoft.com/office/drawing/2014/main" id="{C80C7FCC-07C8-FBA2-FE74-F5BB21473D15}"/>
              </a:ext>
            </a:extLst>
          </p:cNvPr>
          <p:cNvSpPr>
            <a:spLocks noGrp="1"/>
          </p:cNvSpPr>
          <p:nvPr>
            <p:ph type="body" sz="quarter" idx="18"/>
          </p:nvPr>
        </p:nvSpPr>
        <p:spPr>
          <a:xfrm>
            <a:off x="6557629" y="2099957"/>
            <a:ext cx="4486822" cy="3444260"/>
          </a:xfrm>
        </p:spPr>
        <p:txBody>
          <a:bodyPr>
            <a:normAutofit/>
          </a:bodyPr>
          <a:lstStyle/>
          <a:p>
            <a:r>
              <a:rPr lang="en-US" sz="2400" dirty="0"/>
              <a:t>These methods change:</a:t>
            </a:r>
          </a:p>
          <a:p>
            <a:pPr marL="285750" indent="-285750">
              <a:buFont typeface="Arial" panose="020B0604020202020204" pitchFamily="34" charset="0"/>
              <a:buChar char="•"/>
            </a:pPr>
            <a:r>
              <a:rPr lang="en-US" sz="2400" dirty="0"/>
              <a:t>Position </a:t>
            </a:r>
          </a:p>
          <a:p>
            <a:pPr marL="285750" indent="-285750">
              <a:buFont typeface="Arial" panose="020B0604020202020204" pitchFamily="34" charset="0"/>
              <a:buChar char="•"/>
            </a:pPr>
            <a:r>
              <a:rPr lang="en-US" sz="2400" dirty="0"/>
              <a:t>Direction </a:t>
            </a:r>
          </a:p>
          <a:p>
            <a:pPr marL="285750" indent="-285750">
              <a:buFont typeface="Arial" panose="020B0604020202020204" pitchFamily="34" charset="0"/>
              <a:buChar char="•"/>
            </a:pPr>
            <a:r>
              <a:rPr lang="en-US" sz="2400" dirty="0" err="1"/>
              <a:t>Colour</a:t>
            </a:r>
            <a:r>
              <a:rPr lang="en-US" sz="2400" dirty="0"/>
              <a:t> </a:t>
            </a:r>
          </a:p>
          <a:p>
            <a:r>
              <a:rPr lang="en-US" sz="2400" dirty="0"/>
              <a:t>Mutator methods mutate the object.</a:t>
            </a:r>
          </a:p>
          <a:p>
            <a:endParaRPr lang="en-ZA" sz="2400" dirty="0"/>
          </a:p>
        </p:txBody>
      </p:sp>
    </p:spTree>
    <p:extLst>
      <p:ext uri="{BB962C8B-B14F-4D97-AF65-F5344CB8AC3E}">
        <p14:creationId xmlns:p14="http://schemas.microsoft.com/office/powerpoint/2010/main" val="1739681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20E6E-2BAD-02E6-5ACA-418304828C61}"/>
              </a:ext>
            </a:extLst>
          </p:cNvPr>
          <p:cNvSpPr>
            <a:spLocks noGrp="1"/>
          </p:cNvSpPr>
          <p:nvPr>
            <p:ph type="title"/>
          </p:nvPr>
        </p:nvSpPr>
        <p:spPr/>
        <p:txBody>
          <a:bodyPr/>
          <a:lstStyle/>
          <a:p>
            <a:r>
              <a:rPr lang="en-US" dirty="0"/>
              <a:t>Accessor vs Mutator Methods</a:t>
            </a:r>
            <a:endParaRPr lang="en-ZA" dirty="0"/>
          </a:p>
        </p:txBody>
      </p:sp>
      <p:graphicFrame>
        <p:nvGraphicFramePr>
          <p:cNvPr id="5" name="Table 4">
            <a:extLst>
              <a:ext uri="{FF2B5EF4-FFF2-40B4-BE49-F238E27FC236}">
                <a16:creationId xmlns:a16="http://schemas.microsoft.com/office/drawing/2014/main" id="{2BA06118-15D5-FAEE-A0E5-81A4C29F6254}"/>
              </a:ext>
            </a:extLst>
          </p:cNvPr>
          <p:cNvGraphicFramePr>
            <a:graphicFrameLocks noGrp="1"/>
          </p:cNvGraphicFramePr>
          <p:nvPr>
            <p:extLst>
              <p:ext uri="{D42A27DB-BD31-4B8C-83A1-F6EECF244321}">
                <p14:modId xmlns:p14="http://schemas.microsoft.com/office/powerpoint/2010/main" val="1594939989"/>
              </p:ext>
            </p:extLst>
          </p:nvPr>
        </p:nvGraphicFramePr>
        <p:xfrm>
          <a:off x="2090056" y="2144485"/>
          <a:ext cx="8360230" cy="3450772"/>
        </p:xfrm>
        <a:graphic>
          <a:graphicData uri="http://schemas.openxmlformats.org/drawingml/2006/table">
            <a:tbl>
              <a:tblPr firstRow="1" firstCol="1" bandRow="1">
                <a:tableStyleId>{5C22544A-7EE6-4342-B048-85BDC9FD1C3A}</a:tableStyleId>
              </a:tblPr>
              <a:tblGrid>
                <a:gridCol w="4180115">
                  <a:extLst>
                    <a:ext uri="{9D8B030D-6E8A-4147-A177-3AD203B41FA5}">
                      <a16:colId xmlns:a16="http://schemas.microsoft.com/office/drawing/2014/main" val="2452162589"/>
                    </a:ext>
                  </a:extLst>
                </a:gridCol>
                <a:gridCol w="4180115">
                  <a:extLst>
                    <a:ext uri="{9D8B030D-6E8A-4147-A177-3AD203B41FA5}">
                      <a16:colId xmlns:a16="http://schemas.microsoft.com/office/drawing/2014/main" val="338770369"/>
                    </a:ext>
                  </a:extLst>
                </a:gridCol>
              </a:tblGrid>
              <a:tr h="862693">
                <a:tc>
                  <a:txBody>
                    <a:bodyPr/>
                    <a:lstStyle/>
                    <a:p>
                      <a:pPr>
                        <a:lnSpc>
                          <a:spcPct val="115000"/>
                        </a:lnSpc>
                        <a:spcAft>
                          <a:spcPts val="800"/>
                        </a:spcAft>
                        <a:buNone/>
                      </a:pPr>
                      <a:r>
                        <a:rPr lang="en-ZA" sz="3200" kern="100">
                          <a:effectLst/>
                        </a:rPr>
                        <a:t>Accessor Methods</a:t>
                      </a:r>
                      <a:endParaRPr lang="en-ZA" sz="3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3200" kern="100">
                          <a:effectLst/>
                        </a:rPr>
                        <a:t>Mutator Methods</a:t>
                      </a:r>
                      <a:endParaRPr lang="en-ZA" sz="3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8671685"/>
                  </a:ext>
                </a:extLst>
              </a:tr>
              <a:tr h="862693">
                <a:tc>
                  <a:txBody>
                    <a:bodyPr/>
                    <a:lstStyle/>
                    <a:p>
                      <a:pPr>
                        <a:lnSpc>
                          <a:spcPct val="115000"/>
                        </a:lnSpc>
                        <a:spcAft>
                          <a:spcPts val="800"/>
                        </a:spcAft>
                        <a:buNone/>
                      </a:pPr>
                      <a:r>
                        <a:rPr lang="en-ZA" sz="3200" kern="100" dirty="0">
                          <a:effectLst/>
                        </a:rPr>
                        <a:t>Return information</a:t>
                      </a:r>
                      <a:endParaRPr lang="en-ZA"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3200" kern="100">
                          <a:effectLst/>
                        </a:rPr>
                        <a:t>Change object state</a:t>
                      </a:r>
                      <a:endParaRPr lang="en-ZA" sz="3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4771770"/>
                  </a:ext>
                </a:extLst>
              </a:tr>
              <a:tr h="862693">
                <a:tc>
                  <a:txBody>
                    <a:bodyPr/>
                    <a:lstStyle/>
                    <a:p>
                      <a:pPr>
                        <a:lnSpc>
                          <a:spcPct val="115000"/>
                        </a:lnSpc>
                        <a:spcAft>
                          <a:spcPts val="800"/>
                        </a:spcAft>
                        <a:buNone/>
                      </a:pPr>
                      <a:r>
                        <a:rPr lang="en-ZA" sz="3200" kern="100" dirty="0">
                          <a:effectLst/>
                        </a:rPr>
                        <a:t>Do not modify object</a:t>
                      </a:r>
                      <a:endParaRPr lang="en-ZA"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3200" kern="100" dirty="0">
                          <a:effectLst/>
                        </a:rPr>
                        <a:t>Modify object</a:t>
                      </a:r>
                      <a:endParaRPr lang="en-ZA"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1036219"/>
                  </a:ext>
                </a:extLst>
              </a:tr>
              <a:tr h="862693">
                <a:tc>
                  <a:txBody>
                    <a:bodyPr/>
                    <a:lstStyle/>
                    <a:p>
                      <a:pPr>
                        <a:lnSpc>
                          <a:spcPct val="115000"/>
                        </a:lnSpc>
                        <a:spcAft>
                          <a:spcPts val="800"/>
                        </a:spcAft>
                        <a:buNone/>
                      </a:pPr>
                      <a:r>
                        <a:rPr lang="en-ZA" sz="3200" kern="100" dirty="0">
                          <a:effectLst/>
                        </a:rPr>
                        <a:t>Example: heading()</a:t>
                      </a:r>
                      <a:endParaRPr lang="en-ZA"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ZA" sz="3200" kern="100" dirty="0">
                          <a:effectLst/>
                        </a:rPr>
                        <a:t>Example: forward()</a:t>
                      </a:r>
                      <a:endParaRPr lang="en-ZA"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2533461"/>
                  </a:ext>
                </a:extLst>
              </a:tr>
            </a:tbl>
          </a:graphicData>
        </a:graphic>
      </p:graphicFrame>
    </p:spTree>
    <p:extLst>
      <p:ext uri="{BB962C8B-B14F-4D97-AF65-F5344CB8AC3E}">
        <p14:creationId xmlns:p14="http://schemas.microsoft.com/office/powerpoint/2010/main" val="288192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4E2E7-A7E3-296F-3012-D7CBD7A1E960}"/>
              </a:ext>
            </a:extLst>
          </p:cNvPr>
          <p:cNvSpPr>
            <a:spLocks noGrp="1"/>
          </p:cNvSpPr>
          <p:nvPr>
            <p:ph type="title"/>
          </p:nvPr>
        </p:nvSpPr>
        <p:spPr/>
        <p:txBody>
          <a:bodyPr/>
          <a:lstStyle/>
          <a:p>
            <a:r>
              <a:rPr lang="en-ZA" dirty="0"/>
              <a:t>References and Objects</a:t>
            </a:r>
          </a:p>
        </p:txBody>
      </p:sp>
      <p:sp>
        <p:nvSpPr>
          <p:cNvPr id="3" name="Text Placeholder 2">
            <a:extLst>
              <a:ext uri="{FF2B5EF4-FFF2-40B4-BE49-F238E27FC236}">
                <a16:creationId xmlns:a16="http://schemas.microsoft.com/office/drawing/2014/main" id="{E5D34D48-70FA-4624-0405-7D6224E49964}"/>
              </a:ext>
            </a:extLst>
          </p:cNvPr>
          <p:cNvSpPr>
            <a:spLocks noGrp="1"/>
          </p:cNvSpPr>
          <p:nvPr>
            <p:ph type="body" sz="quarter" idx="13"/>
          </p:nvPr>
        </p:nvSpPr>
        <p:spPr>
          <a:xfrm>
            <a:off x="857492" y="1719518"/>
            <a:ext cx="5575965" cy="4038986"/>
          </a:xfrm>
        </p:spPr>
        <p:txBody>
          <a:bodyPr/>
          <a:lstStyle/>
          <a:p>
            <a:r>
              <a:rPr lang="fr-FR" dirty="0" err="1"/>
              <a:t>Consider</a:t>
            </a:r>
            <a:r>
              <a:rPr lang="fr-FR" dirty="0"/>
              <a:t> </a:t>
            </a:r>
            <a:r>
              <a:rPr lang="fr-FR" dirty="0" err="1"/>
              <a:t>this</a:t>
            </a:r>
            <a:r>
              <a:rPr lang="fr-FR" dirty="0"/>
              <a:t> code:</a:t>
            </a:r>
          </a:p>
          <a:p>
            <a:pPr marL="312738" lvl="1" indent="0">
              <a:buNone/>
            </a:pPr>
            <a:r>
              <a:rPr lang="fr-FR" dirty="0">
                <a:solidFill>
                  <a:srgbClr val="0070C0"/>
                </a:solidFill>
              </a:rPr>
              <a:t>t = </a:t>
            </a:r>
            <a:r>
              <a:rPr lang="fr-FR" dirty="0" err="1">
                <a:solidFill>
                  <a:srgbClr val="0070C0"/>
                </a:solidFill>
              </a:rPr>
              <a:t>Turtle</a:t>
            </a:r>
            <a:r>
              <a:rPr lang="fr-FR" dirty="0">
                <a:solidFill>
                  <a:srgbClr val="0070C0"/>
                </a:solidFill>
              </a:rPr>
              <a:t>()</a:t>
            </a:r>
            <a:br>
              <a:rPr lang="fr-FR" dirty="0">
                <a:solidFill>
                  <a:srgbClr val="0070C0"/>
                </a:solidFill>
              </a:rPr>
            </a:br>
            <a:r>
              <a:rPr lang="fr-FR" dirty="0">
                <a:solidFill>
                  <a:srgbClr val="0070C0"/>
                </a:solidFill>
              </a:rPr>
              <a:t>r = t</a:t>
            </a:r>
          </a:p>
          <a:p>
            <a:pPr marL="312738" lvl="1" indent="0">
              <a:buNone/>
            </a:pPr>
            <a:endParaRPr lang="fr-FR" dirty="0">
              <a:solidFill>
                <a:srgbClr val="0070C0"/>
              </a:solidFill>
            </a:endParaRPr>
          </a:p>
          <a:p>
            <a:r>
              <a:rPr lang="en-US" dirty="0"/>
              <a:t>Does this create two turtles?</a:t>
            </a:r>
          </a:p>
          <a:p>
            <a:pPr lvl="1"/>
            <a:r>
              <a:rPr lang="en-US" dirty="0"/>
              <a:t>No</a:t>
            </a:r>
          </a:p>
          <a:p>
            <a:pPr lvl="1"/>
            <a:r>
              <a:rPr lang="en-US" dirty="0"/>
              <a:t>Both t and r refer to the SAME Turtle object.</a:t>
            </a:r>
          </a:p>
          <a:p>
            <a:pPr marL="0" indent="0">
              <a:buNone/>
            </a:pPr>
            <a:endParaRPr lang="fr-FR" dirty="0">
              <a:solidFill>
                <a:srgbClr val="0070C0"/>
              </a:solidFill>
            </a:endParaRPr>
          </a:p>
          <a:p>
            <a:endParaRPr lang="en-ZA" dirty="0"/>
          </a:p>
        </p:txBody>
      </p:sp>
      <p:sp>
        <p:nvSpPr>
          <p:cNvPr id="4" name="AutoShape 2" descr="Generated image: Understanding Python Turtle references">
            <a:extLst>
              <a:ext uri="{FF2B5EF4-FFF2-40B4-BE49-F238E27FC236}">
                <a16:creationId xmlns:a16="http://schemas.microsoft.com/office/drawing/2014/main" id="{A68A52EC-4B2F-23E7-75BD-DABFE0BC927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6" name="Picture 5">
            <a:extLst>
              <a:ext uri="{FF2B5EF4-FFF2-40B4-BE49-F238E27FC236}">
                <a16:creationId xmlns:a16="http://schemas.microsoft.com/office/drawing/2014/main" id="{20ADE21E-A3E4-20F9-8299-AACDB66D9DD8}"/>
              </a:ext>
            </a:extLst>
          </p:cNvPr>
          <p:cNvPicPr>
            <a:picLocks noChangeAspect="1"/>
          </p:cNvPicPr>
          <p:nvPr/>
        </p:nvPicPr>
        <p:blipFill>
          <a:blip r:embed="rId2"/>
          <a:stretch>
            <a:fillRect/>
          </a:stretch>
        </p:blipFill>
        <p:spPr>
          <a:xfrm>
            <a:off x="6325368" y="1542961"/>
            <a:ext cx="5397777" cy="3467278"/>
          </a:xfrm>
          <a:prstGeom prst="rect">
            <a:avLst/>
          </a:prstGeom>
        </p:spPr>
      </p:pic>
    </p:spTree>
    <p:extLst>
      <p:ext uri="{BB962C8B-B14F-4D97-AF65-F5344CB8AC3E}">
        <p14:creationId xmlns:p14="http://schemas.microsoft.com/office/powerpoint/2010/main" val="2477143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1291E-70D2-D7E9-955B-4B11CF6D61E7}"/>
              </a:ext>
            </a:extLst>
          </p:cNvPr>
          <p:cNvSpPr>
            <a:spLocks noGrp="1"/>
          </p:cNvSpPr>
          <p:nvPr>
            <p:ph type="title"/>
          </p:nvPr>
        </p:nvSpPr>
        <p:spPr/>
        <p:txBody>
          <a:bodyPr/>
          <a:lstStyle/>
          <a:p>
            <a:r>
              <a:rPr lang="en-US" dirty="0"/>
              <a:t>One Object Two references</a:t>
            </a:r>
            <a:endParaRPr lang="en-ZA" dirty="0"/>
          </a:p>
        </p:txBody>
      </p:sp>
      <p:sp>
        <p:nvSpPr>
          <p:cNvPr id="3" name="Text Placeholder 2">
            <a:extLst>
              <a:ext uri="{FF2B5EF4-FFF2-40B4-BE49-F238E27FC236}">
                <a16:creationId xmlns:a16="http://schemas.microsoft.com/office/drawing/2014/main" id="{B182C8BE-4B00-6597-CCFB-B1BF7A7ED3DF}"/>
              </a:ext>
            </a:extLst>
          </p:cNvPr>
          <p:cNvSpPr>
            <a:spLocks noGrp="1"/>
          </p:cNvSpPr>
          <p:nvPr>
            <p:ph type="body" sz="quarter" idx="13"/>
          </p:nvPr>
        </p:nvSpPr>
        <p:spPr>
          <a:xfrm>
            <a:off x="1510635" y="1621546"/>
            <a:ext cx="4824851" cy="4038986"/>
          </a:xfrm>
        </p:spPr>
        <p:txBody>
          <a:bodyPr>
            <a:normAutofit fontScale="92500" lnSpcReduction="10000"/>
          </a:bodyPr>
          <a:lstStyle/>
          <a:p>
            <a:pPr marL="0" indent="0">
              <a:buNone/>
            </a:pPr>
            <a:r>
              <a:rPr lang="en-US" sz="2400" dirty="0">
                <a:solidFill>
                  <a:srgbClr val="0070C0"/>
                </a:solidFill>
              </a:rPr>
              <a:t>from turtle import *</a:t>
            </a:r>
          </a:p>
          <a:p>
            <a:pPr marL="0" indent="0">
              <a:buNone/>
            </a:pPr>
            <a:r>
              <a:rPr lang="en-US" sz="2400" dirty="0">
                <a:solidFill>
                  <a:srgbClr val="0070C0"/>
                </a:solidFill>
              </a:rPr>
              <a:t>t = Turtle()</a:t>
            </a:r>
          </a:p>
          <a:p>
            <a:pPr marL="0" indent="0">
              <a:buNone/>
            </a:pPr>
            <a:r>
              <a:rPr lang="en-US" sz="2400" dirty="0">
                <a:solidFill>
                  <a:srgbClr val="0070C0"/>
                </a:solidFill>
              </a:rPr>
              <a:t>r = t</a:t>
            </a:r>
          </a:p>
          <a:p>
            <a:pPr marL="0" indent="0">
              <a:buNone/>
            </a:pPr>
            <a:r>
              <a:rPr lang="en-US" sz="2400" dirty="0" err="1">
                <a:solidFill>
                  <a:srgbClr val="0070C0"/>
                </a:solidFill>
              </a:rPr>
              <a:t>t.forward</a:t>
            </a:r>
            <a:r>
              <a:rPr lang="en-US" sz="2400" dirty="0">
                <a:solidFill>
                  <a:srgbClr val="0070C0"/>
                </a:solidFill>
              </a:rPr>
              <a:t>(100)</a:t>
            </a:r>
          </a:p>
          <a:p>
            <a:pPr marL="0" indent="0">
              <a:buNone/>
            </a:pPr>
            <a:r>
              <a:rPr lang="en-US" sz="2400" dirty="0" err="1">
                <a:solidFill>
                  <a:srgbClr val="0070C0"/>
                </a:solidFill>
              </a:rPr>
              <a:t>r.left</a:t>
            </a:r>
            <a:r>
              <a:rPr lang="en-US" sz="2400" dirty="0">
                <a:solidFill>
                  <a:srgbClr val="0070C0"/>
                </a:solidFill>
              </a:rPr>
              <a:t>(90)</a:t>
            </a:r>
          </a:p>
          <a:p>
            <a:pPr marL="0" indent="0">
              <a:buNone/>
            </a:pPr>
            <a:r>
              <a:rPr lang="en-US" sz="2400" dirty="0" err="1">
                <a:solidFill>
                  <a:srgbClr val="0070C0"/>
                </a:solidFill>
              </a:rPr>
              <a:t>r.forward</a:t>
            </a:r>
            <a:r>
              <a:rPr lang="en-US" sz="2400" dirty="0">
                <a:solidFill>
                  <a:srgbClr val="0070C0"/>
                </a:solidFill>
              </a:rPr>
              <a:t>(50)</a:t>
            </a:r>
          </a:p>
          <a:p>
            <a:pPr marL="0" indent="0">
              <a:buNone/>
            </a:pPr>
            <a:endParaRPr lang="en-US" sz="2400" dirty="0">
              <a:solidFill>
                <a:srgbClr val="0070C0"/>
              </a:solidFill>
            </a:endParaRPr>
          </a:p>
          <a:p>
            <a:r>
              <a:rPr lang="en-US" sz="2400" dirty="0">
                <a:solidFill>
                  <a:schemeClr val="tx1"/>
                </a:solidFill>
              </a:rPr>
              <a:t>t and r point to the same turtle</a:t>
            </a:r>
          </a:p>
          <a:p>
            <a:r>
              <a:rPr lang="en-US" sz="2400" dirty="0">
                <a:solidFill>
                  <a:schemeClr val="tx1"/>
                </a:solidFill>
              </a:rPr>
              <a:t>Changes made using one reference affect the same object</a:t>
            </a:r>
            <a:endParaRPr lang="en-ZA" sz="2400" dirty="0">
              <a:solidFill>
                <a:schemeClr val="tx1"/>
              </a:solidFill>
            </a:endParaRPr>
          </a:p>
        </p:txBody>
      </p:sp>
      <p:sp>
        <p:nvSpPr>
          <p:cNvPr id="5" name="Text Placeholder 2">
            <a:extLst>
              <a:ext uri="{FF2B5EF4-FFF2-40B4-BE49-F238E27FC236}">
                <a16:creationId xmlns:a16="http://schemas.microsoft.com/office/drawing/2014/main" id="{A4C475F2-C99F-38DD-425B-9F5D294E6AF2}"/>
              </a:ext>
            </a:extLst>
          </p:cNvPr>
          <p:cNvSpPr txBox="1">
            <a:spLocks/>
          </p:cNvSpPr>
          <p:nvPr/>
        </p:nvSpPr>
        <p:spPr>
          <a:xfrm>
            <a:off x="6096000" y="1621546"/>
            <a:ext cx="4824851" cy="40389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541338" indent="-3429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895350" indent="-342900" algn="l" defTabSz="914400" rtl="0" eaLnBrk="1" latinLnBrk="0" hangingPunct="1">
              <a:lnSpc>
                <a:spcPct val="90000"/>
              </a:lnSpc>
              <a:spcBef>
                <a:spcPts val="500"/>
              </a:spcBef>
              <a:buClr>
                <a:schemeClr val="accent2"/>
              </a:buClr>
              <a:buSzPct val="150000"/>
              <a:buFont typeface="Wingdings" panose="05000000000000000000" pitchFamily="2" charset="2"/>
              <a:buChar char="§"/>
              <a:defRPr sz="2000" kern="1200">
                <a:solidFill>
                  <a:schemeClr val="tx1">
                    <a:lumMod val="65000"/>
                    <a:lumOff val="35000"/>
                  </a:schemeClr>
                </a:solidFill>
                <a:latin typeface="CocogoosePro Light" panose="00000400000000000000" pitchFamily="50" charset="0"/>
                <a:ea typeface="+mn-ea"/>
                <a:cs typeface="+mn-cs"/>
              </a:defRPr>
            </a:lvl3pPr>
            <a:lvl4pPr marL="1258888" indent="-342900" algn="l" defTabSz="914400" rtl="0" eaLnBrk="1" latinLnBrk="0" hangingPunct="1">
              <a:lnSpc>
                <a:spcPct val="90000"/>
              </a:lnSpc>
              <a:spcBef>
                <a:spcPts val="500"/>
              </a:spcBef>
              <a:buClr>
                <a:schemeClr val="accent2"/>
              </a:buClr>
              <a:buSzPct val="150000"/>
              <a:buFont typeface="Courier New" panose="02070309020205020404" pitchFamily="49" charset="0"/>
              <a:buChar char="o"/>
              <a:defRPr sz="1800" kern="1200">
                <a:solidFill>
                  <a:schemeClr val="tx1">
                    <a:lumMod val="65000"/>
                    <a:lumOff val="35000"/>
                  </a:schemeClr>
                </a:solidFill>
                <a:latin typeface="CocogoosePro Light" panose="00000400000000000000" pitchFamily="50" charset="0"/>
                <a:ea typeface="+mn-ea"/>
                <a:cs typeface="+mn-cs"/>
              </a:defRPr>
            </a:lvl4pPr>
            <a:lvl5pPr marL="1258888" indent="-342900" algn="l" defTabSz="914400" rtl="0" eaLnBrk="1" latinLnBrk="0" hangingPunct="1">
              <a:lnSpc>
                <a:spcPct val="90000"/>
              </a:lnSpc>
              <a:spcBef>
                <a:spcPts val="500"/>
              </a:spcBef>
              <a:buClr>
                <a:schemeClr val="accent2"/>
              </a:buClr>
              <a:buSzPct val="150000"/>
              <a:buFont typeface="Wingdings" panose="05000000000000000000" pitchFamily="2" charset="2"/>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Assignment does not copy objects</a:t>
            </a:r>
          </a:p>
          <a:p>
            <a:pPr marL="666750" lvl="2" indent="0">
              <a:buNone/>
            </a:pPr>
            <a:r>
              <a:rPr lang="en-US" dirty="0">
                <a:solidFill>
                  <a:srgbClr val="0070C0"/>
                </a:solidFill>
              </a:rPr>
              <a:t>r = t</a:t>
            </a:r>
          </a:p>
          <a:p>
            <a:pPr marL="0" indent="0">
              <a:buNone/>
            </a:pPr>
            <a:r>
              <a:rPr lang="en-US" sz="2400" dirty="0"/>
              <a:t>This:</a:t>
            </a:r>
          </a:p>
          <a:p>
            <a:pPr lvl="1"/>
            <a:r>
              <a:rPr lang="en-US" sz="2000" dirty="0"/>
              <a:t>Copies the reference </a:t>
            </a:r>
          </a:p>
          <a:p>
            <a:pPr lvl="1"/>
            <a:r>
              <a:rPr lang="en-US" sz="2000" dirty="0"/>
              <a:t>Does NOT create a new object </a:t>
            </a:r>
          </a:p>
          <a:p>
            <a:pPr marL="0" indent="0">
              <a:buNone/>
            </a:pPr>
            <a:r>
              <a:rPr lang="en-US" sz="2400" dirty="0"/>
              <a:t>Both variables point to the same memory location.</a:t>
            </a:r>
          </a:p>
        </p:txBody>
      </p:sp>
    </p:spTree>
    <p:extLst>
      <p:ext uri="{BB962C8B-B14F-4D97-AF65-F5344CB8AC3E}">
        <p14:creationId xmlns:p14="http://schemas.microsoft.com/office/powerpoint/2010/main" val="2770447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8E6A-89BC-DEE1-FF01-DDA82CC93A25}"/>
              </a:ext>
            </a:extLst>
          </p:cNvPr>
          <p:cNvSpPr>
            <a:spLocks noGrp="1"/>
          </p:cNvSpPr>
          <p:nvPr>
            <p:ph type="title"/>
          </p:nvPr>
        </p:nvSpPr>
        <p:spPr/>
        <p:txBody>
          <a:bodyPr/>
          <a:lstStyle/>
          <a:p>
            <a:r>
              <a:rPr lang="en-ZA" dirty="0"/>
              <a:t>Creating a Second Object</a:t>
            </a:r>
          </a:p>
        </p:txBody>
      </p:sp>
      <p:sp>
        <p:nvSpPr>
          <p:cNvPr id="3" name="Text Placeholder 2">
            <a:extLst>
              <a:ext uri="{FF2B5EF4-FFF2-40B4-BE49-F238E27FC236}">
                <a16:creationId xmlns:a16="http://schemas.microsoft.com/office/drawing/2014/main" id="{40F7D6C2-7451-E5EB-EFAC-F5E548109625}"/>
              </a:ext>
            </a:extLst>
          </p:cNvPr>
          <p:cNvSpPr>
            <a:spLocks noGrp="1"/>
          </p:cNvSpPr>
          <p:nvPr>
            <p:ph type="body" sz="quarter" idx="13"/>
          </p:nvPr>
        </p:nvSpPr>
        <p:spPr>
          <a:xfrm>
            <a:off x="781294" y="1567117"/>
            <a:ext cx="5858994" cy="4038986"/>
          </a:xfrm>
        </p:spPr>
        <p:txBody>
          <a:bodyPr/>
          <a:lstStyle/>
          <a:p>
            <a:pPr marL="0" indent="0">
              <a:buNone/>
            </a:pPr>
            <a:r>
              <a:rPr lang="en-US" dirty="0"/>
              <a:t>If we really want two separate turtles:</a:t>
            </a:r>
          </a:p>
          <a:p>
            <a:pPr marL="312738" lvl="1" indent="0">
              <a:buNone/>
            </a:pPr>
            <a:r>
              <a:rPr lang="en-US" dirty="0">
                <a:solidFill>
                  <a:srgbClr val="0070C0"/>
                </a:solidFill>
              </a:rPr>
              <a:t>t = Turtle()</a:t>
            </a:r>
            <a:br>
              <a:rPr lang="en-US" dirty="0">
                <a:solidFill>
                  <a:srgbClr val="0070C0"/>
                </a:solidFill>
              </a:rPr>
            </a:br>
            <a:r>
              <a:rPr lang="en-US" dirty="0">
                <a:solidFill>
                  <a:srgbClr val="0070C0"/>
                </a:solidFill>
              </a:rPr>
              <a:t>r = Turtle()</a:t>
            </a:r>
          </a:p>
          <a:p>
            <a:pPr marL="0" indent="0">
              <a:buNone/>
            </a:pPr>
            <a:r>
              <a:rPr lang="en-US" dirty="0"/>
              <a:t>Now:</a:t>
            </a:r>
          </a:p>
          <a:p>
            <a:pPr lvl="1"/>
            <a:r>
              <a:rPr lang="en-US" dirty="0"/>
              <a:t>t points to one Turtle </a:t>
            </a:r>
          </a:p>
          <a:p>
            <a:pPr lvl="1"/>
            <a:r>
              <a:rPr lang="en-US" dirty="0"/>
              <a:t>r points to another Turtle </a:t>
            </a:r>
          </a:p>
          <a:p>
            <a:pPr lvl="1"/>
            <a:r>
              <a:rPr lang="en-US" dirty="0"/>
              <a:t>These objects are completely independent.</a:t>
            </a:r>
          </a:p>
          <a:p>
            <a:endParaRPr lang="en-ZA" dirty="0"/>
          </a:p>
        </p:txBody>
      </p:sp>
      <p:pic>
        <p:nvPicPr>
          <p:cNvPr id="5" name="Picture 4">
            <a:extLst>
              <a:ext uri="{FF2B5EF4-FFF2-40B4-BE49-F238E27FC236}">
                <a16:creationId xmlns:a16="http://schemas.microsoft.com/office/drawing/2014/main" id="{45E7DE70-74A8-AD73-93F3-72E83EEB3196}"/>
              </a:ext>
            </a:extLst>
          </p:cNvPr>
          <p:cNvPicPr>
            <a:picLocks noChangeAspect="1"/>
          </p:cNvPicPr>
          <p:nvPr/>
        </p:nvPicPr>
        <p:blipFill>
          <a:blip r:embed="rId2"/>
          <a:stretch>
            <a:fillRect/>
          </a:stretch>
        </p:blipFill>
        <p:spPr>
          <a:xfrm>
            <a:off x="6729547" y="1567117"/>
            <a:ext cx="4439195" cy="3766883"/>
          </a:xfrm>
          <a:prstGeom prst="rect">
            <a:avLst/>
          </a:prstGeom>
        </p:spPr>
      </p:pic>
    </p:spTree>
    <p:extLst>
      <p:ext uri="{BB962C8B-B14F-4D97-AF65-F5344CB8AC3E}">
        <p14:creationId xmlns:p14="http://schemas.microsoft.com/office/powerpoint/2010/main" val="3803643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429D-2027-A134-07A4-CEFC88676376}"/>
              </a:ext>
            </a:extLst>
          </p:cNvPr>
          <p:cNvSpPr>
            <a:spLocks noGrp="1"/>
          </p:cNvSpPr>
          <p:nvPr>
            <p:ph type="title"/>
          </p:nvPr>
        </p:nvSpPr>
        <p:spPr/>
        <p:txBody>
          <a:bodyPr/>
          <a:lstStyle/>
          <a:p>
            <a:r>
              <a:rPr lang="en-US" dirty="0"/>
              <a:t>Immutable Classes</a:t>
            </a:r>
            <a:endParaRPr lang="en-ZA" dirty="0"/>
          </a:p>
        </p:txBody>
      </p:sp>
      <p:sp>
        <p:nvSpPr>
          <p:cNvPr id="3" name="Text Placeholder 2">
            <a:extLst>
              <a:ext uri="{FF2B5EF4-FFF2-40B4-BE49-F238E27FC236}">
                <a16:creationId xmlns:a16="http://schemas.microsoft.com/office/drawing/2014/main" id="{84395A1B-0715-B83B-A4A0-097834A7C345}"/>
              </a:ext>
            </a:extLst>
          </p:cNvPr>
          <p:cNvSpPr>
            <a:spLocks noGrp="1"/>
          </p:cNvSpPr>
          <p:nvPr>
            <p:ph type="body" sz="quarter" idx="13"/>
          </p:nvPr>
        </p:nvSpPr>
        <p:spPr>
          <a:xfrm>
            <a:off x="596235" y="1610659"/>
            <a:ext cx="10430994" cy="4681283"/>
          </a:xfrm>
        </p:spPr>
        <p:txBody>
          <a:bodyPr>
            <a:normAutofit fontScale="92500" lnSpcReduction="10000"/>
          </a:bodyPr>
          <a:lstStyle/>
          <a:p>
            <a:r>
              <a:rPr lang="en-US" dirty="0"/>
              <a:t>An </a:t>
            </a:r>
            <a:r>
              <a:rPr lang="en-US" b="1" dirty="0"/>
              <a:t>immutable class</a:t>
            </a:r>
            <a:r>
              <a:rPr lang="en-US" dirty="0"/>
              <a:t> is a class whose objects cannot be changed after they are created.</a:t>
            </a:r>
          </a:p>
          <a:p>
            <a:r>
              <a:rPr lang="en-US" dirty="0"/>
              <a:t>Immutable objects:</a:t>
            </a:r>
          </a:p>
          <a:p>
            <a:pPr lvl="1"/>
            <a:r>
              <a:rPr lang="en-US" dirty="0"/>
              <a:t>Have no mutator methods </a:t>
            </a:r>
          </a:p>
          <a:p>
            <a:pPr lvl="1"/>
            <a:r>
              <a:rPr lang="en-US" dirty="0"/>
              <a:t>Cannot be modified after creation </a:t>
            </a:r>
          </a:p>
          <a:p>
            <a:r>
              <a:rPr lang="en-US" dirty="0"/>
              <a:t>Examples of immutable types in Python:</a:t>
            </a:r>
          </a:p>
          <a:p>
            <a:pPr lvl="1"/>
            <a:r>
              <a:rPr lang="en-US" dirty="0"/>
              <a:t>int </a:t>
            </a:r>
          </a:p>
          <a:p>
            <a:pPr lvl="1"/>
            <a:r>
              <a:rPr lang="en-US" dirty="0"/>
              <a:t>float </a:t>
            </a:r>
          </a:p>
          <a:p>
            <a:pPr lvl="1"/>
            <a:r>
              <a:rPr lang="en-US" dirty="0"/>
              <a:t>str </a:t>
            </a:r>
          </a:p>
          <a:p>
            <a:pPr lvl="1"/>
            <a:r>
              <a:rPr lang="en-US" dirty="0"/>
              <a:t>bool </a:t>
            </a:r>
          </a:p>
          <a:p>
            <a:r>
              <a:rPr lang="en-US" dirty="0"/>
              <a:t>Because these objects cannot change, it does not really matter whether two references point to the same object or different objects.</a:t>
            </a:r>
          </a:p>
          <a:p>
            <a:endParaRPr lang="en-ZA" dirty="0"/>
          </a:p>
        </p:txBody>
      </p:sp>
    </p:spTree>
    <p:extLst>
      <p:ext uri="{BB962C8B-B14F-4D97-AF65-F5344CB8AC3E}">
        <p14:creationId xmlns:p14="http://schemas.microsoft.com/office/powerpoint/2010/main" val="4128195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C68F7-B33D-DAF6-8C81-DC388B4C7942}"/>
              </a:ext>
            </a:extLst>
          </p:cNvPr>
          <p:cNvSpPr>
            <a:spLocks noGrp="1"/>
          </p:cNvSpPr>
          <p:nvPr>
            <p:ph type="title"/>
          </p:nvPr>
        </p:nvSpPr>
        <p:spPr/>
        <p:txBody>
          <a:bodyPr/>
          <a:lstStyle/>
          <a:p>
            <a:r>
              <a:rPr lang="en-ZA" sz="4000" dirty="0"/>
              <a:t>Immutable Objects and References</a:t>
            </a:r>
          </a:p>
        </p:txBody>
      </p:sp>
      <p:sp>
        <p:nvSpPr>
          <p:cNvPr id="3" name="Text Placeholder 2">
            <a:extLst>
              <a:ext uri="{FF2B5EF4-FFF2-40B4-BE49-F238E27FC236}">
                <a16:creationId xmlns:a16="http://schemas.microsoft.com/office/drawing/2014/main" id="{9675E6FA-06D9-CC0E-B4B0-6FE6DDE1C378}"/>
              </a:ext>
            </a:extLst>
          </p:cNvPr>
          <p:cNvSpPr>
            <a:spLocks noGrp="1"/>
          </p:cNvSpPr>
          <p:nvPr>
            <p:ph type="body" sz="quarter" idx="16"/>
          </p:nvPr>
        </p:nvSpPr>
        <p:spPr>
          <a:xfrm>
            <a:off x="814966" y="2382986"/>
            <a:ext cx="4486822" cy="3444260"/>
          </a:xfrm>
        </p:spPr>
        <p:txBody>
          <a:bodyPr>
            <a:normAutofit/>
          </a:bodyPr>
          <a:lstStyle/>
          <a:p>
            <a:r>
              <a:rPr lang="en-US" sz="2400" dirty="0"/>
              <a:t>name = "John"</a:t>
            </a:r>
          </a:p>
          <a:p>
            <a:r>
              <a:rPr lang="en-US" sz="2400" dirty="0"/>
              <a:t>name = name + " Smith"</a:t>
            </a:r>
            <a:endParaRPr lang="en-ZA" sz="2400" dirty="0"/>
          </a:p>
        </p:txBody>
      </p:sp>
      <p:sp>
        <p:nvSpPr>
          <p:cNvPr id="4" name="Text Placeholder 3">
            <a:extLst>
              <a:ext uri="{FF2B5EF4-FFF2-40B4-BE49-F238E27FC236}">
                <a16:creationId xmlns:a16="http://schemas.microsoft.com/office/drawing/2014/main" id="{E6F65C76-C30E-B2BF-BD41-812B1CE87C66}"/>
              </a:ext>
            </a:extLst>
          </p:cNvPr>
          <p:cNvSpPr>
            <a:spLocks noGrp="1"/>
          </p:cNvSpPr>
          <p:nvPr>
            <p:ph type="body" sz="quarter" idx="17"/>
          </p:nvPr>
        </p:nvSpPr>
        <p:spPr>
          <a:xfrm>
            <a:off x="903282" y="1892165"/>
            <a:ext cx="4481374" cy="366076"/>
          </a:xfrm>
        </p:spPr>
        <p:txBody>
          <a:bodyPr>
            <a:normAutofit fontScale="85000" lnSpcReduction="20000"/>
          </a:bodyPr>
          <a:lstStyle/>
          <a:p>
            <a:pPr marL="0" indent="0">
              <a:buNone/>
            </a:pPr>
            <a:r>
              <a:rPr lang="en-US" dirty="0"/>
              <a:t>Example</a:t>
            </a:r>
            <a:endParaRPr lang="en-ZA" dirty="0"/>
          </a:p>
        </p:txBody>
      </p:sp>
      <p:sp>
        <p:nvSpPr>
          <p:cNvPr id="5" name="Text Placeholder 4">
            <a:extLst>
              <a:ext uri="{FF2B5EF4-FFF2-40B4-BE49-F238E27FC236}">
                <a16:creationId xmlns:a16="http://schemas.microsoft.com/office/drawing/2014/main" id="{F3498013-C18F-04BC-A705-1E5F8A9F61E6}"/>
              </a:ext>
            </a:extLst>
          </p:cNvPr>
          <p:cNvSpPr>
            <a:spLocks noGrp="1"/>
          </p:cNvSpPr>
          <p:nvPr>
            <p:ph type="body" sz="quarter" idx="18"/>
          </p:nvPr>
        </p:nvSpPr>
        <p:spPr>
          <a:xfrm>
            <a:off x="5736771" y="2241471"/>
            <a:ext cx="5939292" cy="3444260"/>
          </a:xfrm>
        </p:spPr>
        <p:txBody>
          <a:bodyPr>
            <a:normAutofit fontScale="92500" lnSpcReduction="20000"/>
          </a:bodyPr>
          <a:lstStyle/>
          <a:p>
            <a:pPr marL="342900" indent="-342900">
              <a:buFont typeface="Arial" panose="020B0604020202020204" pitchFamily="34" charset="0"/>
              <a:buChar char="•"/>
            </a:pPr>
            <a:r>
              <a:rPr lang="en-US" sz="2400" dirty="0"/>
              <a:t>The original string "John" does NOT change </a:t>
            </a:r>
          </a:p>
          <a:p>
            <a:pPr marL="342900" indent="-342900">
              <a:buFont typeface="Arial" panose="020B0604020202020204" pitchFamily="34" charset="0"/>
              <a:buChar char="•"/>
            </a:pPr>
            <a:r>
              <a:rPr lang="en-US" sz="2400" dirty="0"/>
              <a:t>A NEW string "John Smith" is created </a:t>
            </a:r>
          </a:p>
          <a:p>
            <a:pPr marL="342900" indent="-342900">
              <a:buFont typeface="Arial" panose="020B0604020202020204" pitchFamily="34" charset="0"/>
              <a:buChar char="•"/>
            </a:pPr>
            <a:r>
              <a:rPr lang="en-US" sz="2400" dirty="0"/>
              <a:t>The variable name now points to the new object </a:t>
            </a:r>
          </a:p>
          <a:p>
            <a:pPr marL="342900" indent="-342900">
              <a:buFont typeface="Arial" panose="020B0604020202020204" pitchFamily="34" charset="0"/>
              <a:buChar char="•"/>
            </a:pPr>
            <a:r>
              <a:rPr lang="en-US" sz="2400" dirty="0"/>
              <a:t>Important Idea:</a:t>
            </a:r>
          </a:p>
          <a:p>
            <a:pPr marL="884238" lvl="1"/>
            <a:r>
              <a:rPr lang="en-US" sz="2400" dirty="0"/>
              <a:t>String objects never change once created </a:t>
            </a:r>
          </a:p>
          <a:p>
            <a:pPr marL="884238" lvl="1"/>
            <a:r>
              <a:rPr lang="en-US" sz="2400" dirty="0"/>
              <a:t>References can change to point to new objects </a:t>
            </a:r>
          </a:p>
          <a:p>
            <a:pPr marL="342900" indent="-342900">
              <a:buFont typeface="Arial" panose="020B0604020202020204" pitchFamily="34" charset="0"/>
              <a:buChar char="•"/>
            </a:pPr>
            <a:r>
              <a:rPr lang="en-US" sz="2400" dirty="0"/>
              <a:t>Immutable objects are easier to work with because programmers do not have to worry about accidentally changing them.</a:t>
            </a:r>
          </a:p>
          <a:p>
            <a:endParaRPr lang="en-ZA" sz="2400" dirty="0"/>
          </a:p>
        </p:txBody>
      </p:sp>
      <p:sp>
        <p:nvSpPr>
          <p:cNvPr id="6" name="Text Placeholder 5">
            <a:extLst>
              <a:ext uri="{FF2B5EF4-FFF2-40B4-BE49-F238E27FC236}">
                <a16:creationId xmlns:a16="http://schemas.microsoft.com/office/drawing/2014/main" id="{70BC0A80-2AB7-CD8E-F77E-1D71087AC54B}"/>
              </a:ext>
            </a:extLst>
          </p:cNvPr>
          <p:cNvSpPr>
            <a:spLocks noGrp="1"/>
          </p:cNvSpPr>
          <p:nvPr>
            <p:ph type="body" sz="quarter" idx="19"/>
          </p:nvPr>
        </p:nvSpPr>
        <p:spPr>
          <a:xfrm>
            <a:off x="5916821" y="1709127"/>
            <a:ext cx="4481374" cy="366076"/>
          </a:xfrm>
        </p:spPr>
        <p:txBody>
          <a:bodyPr>
            <a:normAutofit fontScale="85000" lnSpcReduction="20000"/>
          </a:bodyPr>
          <a:lstStyle/>
          <a:p>
            <a:pPr marL="0" indent="0">
              <a:buNone/>
            </a:pPr>
            <a:r>
              <a:rPr lang="en-US" dirty="0"/>
              <a:t>What happens?</a:t>
            </a:r>
          </a:p>
          <a:p>
            <a:pPr marL="0" indent="0">
              <a:buNone/>
            </a:pPr>
            <a:endParaRPr lang="en-ZA" dirty="0"/>
          </a:p>
        </p:txBody>
      </p:sp>
    </p:spTree>
    <p:extLst>
      <p:ext uri="{BB962C8B-B14F-4D97-AF65-F5344CB8AC3E}">
        <p14:creationId xmlns:p14="http://schemas.microsoft.com/office/powerpoint/2010/main" val="2037002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5AA67-FB12-7A80-8560-1626D747D39A}"/>
              </a:ext>
            </a:extLst>
          </p:cNvPr>
          <p:cNvSpPr>
            <a:spLocks noGrp="1"/>
          </p:cNvSpPr>
          <p:nvPr>
            <p:ph type="title"/>
          </p:nvPr>
        </p:nvSpPr>
        <p:spPr/>
        <p:txBody>
          <a:bodyPr/>
          <a:lstStyle/>
          <a:p>
            <a:r>
              <a:rPr lang="en-US" dirty="0"/>
              <a:t>Activity</a:t>
            </a:r>
            <a:endParaRPr lang="en-ZA" dirty="0"/>
          </a:p>
        </p:txBody>
      </p:sp>
      <p:sp>
        <p:nvSpPr>
          <p:cNvPr id="3" name="Text Placeholder 2">
            <a:extLst>
              <a:ext uri="{FF2B5EF4-FFF2-40B4-BE49-F238E27FC236}">
                <a16:creationId xmlns:a16="http://schemas.microsoft.com/office/drawing/2014/main" id="{509A0187-CBC6-137C-AE45-B3BC43A4A21A}"/>
              </a:ext>
            </a:extLst>
          </p:cNvPr>
          <p:cNvSpPr>
            <a:spLocks noGrp="1"/>
          </p:cNvSpPr>
          <p:nvPr>
            <p:ph type="body" sz="quarter" idx="16"/>
          </p:nvPr>
        </p:nvSpPr>
        <p:spPr>
          <a:xfrm>
            <a:off x="923823" y="2154386"/>
            <a:ext cx="4965348" cy="3444260"/>
          </a:xfrm>
        </p:spPr>
        <p:txBody>
          <a:bodyPr>
            <a:normAutofit/>
          </a:bodyPr>
          <a:lstStyle/>
          <a:p>
            <a:r>
              <a:rPr lang="en-US" sz="2400" dirty="0"/>
              <a:t>word1 = "Python"</a:t>
            </a:r>
          </a:p>
          <a:p>
            <a:r>
              <a:rPr lang="en-US" sz="2400" dirty="0"/>
              <a:t>word2 = word1</a:t>
            </a:r>
          </a:p>
          <a:p>
            <a:r>
              <a:rPr lang="en-US" sz="2400" dirty="0"/>
              <a:t>word1 = word1 + " Programming"</a:t>
            </a:r>
          </a:p>
          <a:p>
            <a:endParaRPr lang="en-US" sz="2400" dirty="0"/>
          </a:p>
          <a:p>
            <a:r>
              <a:rPr lang="en-US" sz="2400" dirty="0"/>
              <a:t>print(word1)</a:t>
            </a:r>
          </a:p>
          <a:p>
            <a:r>
              <a:rPr lang="en-US" sz="2400" dirty="0"/>
              <a:t>print(word2)</a:t>
            </a:r>
            <a:endParaRPr lang="en-ZA" sz="2400" dirty="0"/>
          </a:p>
        </p:txBody>
      </p:sp>
      <p:sp>
        <p:nvSpPr>
          <p:cNvPr id="4" name="Text Placeholder 3">
            <a:extLst>
              <a:ext uri="{FF2B5EF4-FFF2-40B4-BE49-F238E27FC236}">
                <a16:creationId xmlns:a16="http://schemas.microsoft.com/office/drawing/2014/main" id="{0ABA61A5-C699-6A8F-A651-78479AA455C9}"/>
              </a:ext>
            </a:extLst>
          </p:cNvPr>
          <p:cNvSpPr>
            <a:spLocks noGrp="1"/>
          </p:cNvSpPr>
          <p:nvPr>
            <p:ph type="body" sz="quarter" idx="17"/>
          </p:nvPr>
        </p:nvSpPr>
        <p:spPr>
          <a:xfrm>
            <a:off x="923823" y="1688169"/>
            <a:ext cx="4481374" cy="366076"/>
          </a:xfrm>
        </p:spPr>
        <p:txBody>
          <a:bodyPr>
            <a:normAutofit fontScale="85000" lnSpcReduction="10000"/>
          </a:bodyPr>
          <a:lstStyle/>
          <a:p>
            <a:r>
              <a:rPr lang="en-US" sz="1800" dirty="0"/>
              <a:t>Study the code below and answer the questions</a:t>
            </a:r>
            <a:endParaRPr lang="en-ZA" sz="1800" dirty="0"/>
          </a:p>
        </p:txBody>
      </p:sp>
      <p:sp>
        <p:nvSpPr>
          <p:cNvPr id="5" name="Text Placeholder 4">
            <a:extLst>
              <a:ext uri="{FF2B5EF4-FFF2-40B4-BE49-F238E27FC236}">
                <a16:creationId xmlns:a16="http://schemas.microsoft.com/office/drawing/2014/main" id="{30FFAA0E-8EE6-42F8-5C78-D77697B6FA01}"/>
              </a:ext>
            </a:extLst>
          </p:cNvPr>
          <p:cNvSpPr>
            <a:spLocks noGrp="1"/>
          </p:cNvSpPr>
          <p:nvPr>
            <p:ph type="body" sz="quarter" idx="18"/>
          </p:nvPr>
        </p:nvSpPr>
        <p:spPr>
          <a:xfrm>
            <a:off x="6095999" y="2317672"/>
            <a:ext cx="5290457" cy="3444260"/>
          </a:xfrm>
        </p:spPr>
        <p:txBody>
          <a:bodyPr>
            <a:normAutofit/>
          </a:bodyPr>
          <a:lstStyle/>
          <a:p>
            <a:pPr marL="342900" indent="-342900">
              <a:buFont typeface="+mj-lt"/>
              <a:buAutoNum type="arabicPeriod"/>
            </a:pPr>
            <a:r>
              <a:rPr lang="en-US" sz="2400" dirty="0"/>
              <a:t>What is the value of word1?</a:t>
            </a:r>
          </a:p>
          <a:p>
            <a:pPr marL="342900" indent="-342900">
              <a:buFont typeface="+mj-lt"/>
              <a:buAutoNum type="arabicPeriod"/>
            </a:pPr>
            <a:r>
              <a:rPr lang="en-US" sz="2400" dirty="0"/>
              <a:t>What is the value of word2?</a:t>
            </a:r>
          </a:p>
          <a:p>
            <a:pPr marL="342900" indent="-342900">
              <a:buFont typeface="+mj-lt"/>
              <a:buAutoNum type="arabicPeriod"/>
            </a:pPr>
            <a:r>
              <a:rPr lang="en-US" sz="2400" dirty="0"/>
              <a:t>Did the original string object change?</a:t>
            </a:r>
          </a:p>
          <a:p>
            <a:pPr marL="342900" indent="-342900">
              <a:buFont typeface="+mj-lt"/>
              <a:buAutoNum type="arabicPeriod"/>
            </a:pPr>
            <a:r>
              <a:rPr lang="en-US" sz="2400" dirty="0"/>
              <a:t>Why is the str class called immutable?</a:t>
            </a:r>
            <a:endParaRPr lang="en-ZA" sz="2400" dirty="0"/>
          </a:p>
        </p:txBody>
      </p:sp>
      <p:sp>
        <p:nvSpPr>
          <p:cNvPr id="6" name="Text Placeholder 5">
            <a:extLst>
              <a:ext uri="{FF2B5EF4-FFF2-40B4-BE49-F238E27FC236}">
                <a16:creationId xmlns:a16="http://schemas.microsoft.com/office/drawing/2014/main" id="{06BCB204-6094-4563-57EC-796048D9D311}"/>
              </a:ext>
            </a:extLst>
          </p:cNvPr>
          <p:cNvSpPr>
            <a:spLocks noGrp="1"/>
          </p:cNvSpPr>
          <p:nvPr>
            <p:ph type="body" sz="quarter" idx="19"/>
          </p:nvPr>
        </p:nvSpPr>
        <p:spPr>
          <a:xfrm>
            <a:off x="6078658" y="1688169"/>
            <a:ext cx="4481374" cy="366076"/>
          </a:xfrm>
        </p:spPr>
        <p:txBody>
          <a:bodyPr>
            <a:normAutofit fontScale="85000" lnSpcReduction="20000"/>
          </a:bodyPr>
          <a:lstStyle/>
          <a:p>
            <a:pPr marL="0" indent="0">
              <a:buNone/>
            </a:pPr>
            <a:r>
              <a:rPr lang="en-US" dirty="0"/>
              <a:t>Questions</a:t>
            </a:r>
            <a:endParaRPr lang="en-ZA" dirty="0"/>
          </a:p>
        </p:txBody>
      </p:sp>
    </p:spTree>
    <p:extLst>
      <p:ext uri="{BB962C8B-B14F-4D97-AF65-F5344CB8AC3E}">
        <p14:creationId xmlns:p14="http://schemas.microsoft.com/office/powerpoint/2010/main" val="3712286923"/>
      </p:ext>
    </p:extLst>
  </p:cSld>
  <p:clrMapOvr>
    <a:masterClrMapping/>
  </p:clrMapOvr>
</p:sld>
</file>

<file path=ppt/theme/theme1.xml><?xml version="1.0" encoding="utf-8"?>
<a:theme xmlns:a="http://schemas.openxmlformats.org/drawingml/2006/main" name="1_Office Theme">
  <a:themeElements>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fontScheme name="eduvos light">
      <a:majorFont>
        <a:latin typeface="Larken Bold"/>
        <a:ea typeface=""/>
        <a:cs typeface=""/>
      </a:majorFont>
      <a:minorFont>
        <a:latin typeface="Cocogoose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1417</TotalTime>
  <Words>1683</Words>
  <Application>Microsoft Office PowerPoint</Application>
  <PresentationFormat>Widescreen</PresentationFormat>
  <Paragraphs>343</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CocogoosePro Light</vt:lpstr>
      <vt:lpstr>Courier New</vt:lpstr>
      <vt:lpstr>Larken Bold</vt:lpstr>
      <vt:lpstr>Wingdings</vt:lpstr>
      <vt:lpstr>1_Office Theme</vt:lpstr>
      <vt:lpstr>PowerPoint Presentation</vt:lpstr>
      <vt:lpstr>PowerPoint Presentation</vt:lpstr>
      <vt:lpstr>Eduvos and the Flipped Classroom</vt:lpstr>
      <vt:lpstr>PowerPoint Presentation</vt:lpstr>
      <vt:lpstr>What is a Module?</vt:lpstr>
      <vt:lpstr>What is Turtle Graphics</vt:lpstr>
      <vt:lpstr>Importing Modules</vt:lpstr>
      <vt:lpstr>Creating a turtle object</vt:lpstr>
      <vt:lpstr>Drawing a square</vt:lpstr>
      <vt:lpstr>Turtle Methods</vt:lpstr>
      <vt:lpstr>Using Loops with Turtle</vt:lpstr>
      <vt:lpstr>Drawing a Pentagon</vt:lpstr>
      <vt:lpstr>User Input Example</vt:lpstr>
      <vt:lpstr>Common Mistake</vt:lpstr>
      <vt:lpstr>Enhancing Turtle graphics</vt:lpstr>
      <vt:lpstr>Activity</vt:lpstr>
      <vt:lpstr>Creating objects in Python</vt:lpstr>
      <vt:lpstr>What happens when an object is created</vt:lpstr>
      <vt:lpstr>Constructors in Python</vt:lpstr>
      <vt:lpstr>Examples of constructors</vt:lpstr>
      <vt:lpstr>Constructors with Different Arguments</vt:lpstr>
      <vt:lpstr>Constructors with Different Arguments</vt:lpstr>
      <vt:lpstr>Accessor Methods</vt:lpstr>
      <vt:lpstr>Example of Accessor Method</vt:lpstr>
      <vt:lpstr>Accessor methods and Object State</vt:lpstr>
      <vt:lpstr>Mutator Methods</vt:lpstr>
      <vt:lpstr>Examples of Mutator Methods</vt:lpstr>
      <vt:lpstr>Accessor vs Mutator Methods</vt:lpstr>
      <vt:lpstr>References and Objects</vt:lpstr>
      <vt:lpstr>One Object Two references</vt:lpstr>
      <vt:lpstr>Creating a Second Object</vt:lpstr>
      <vt:lpstr>Immutable Classes</vt:lpstr>
      <vt:lpstr>Immutable Objects and References</vt:lpstr>
      <vt:lpstr>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Faith Mutepfe</dc:creator>
  <cp:lastModifiedBy>Sihle Innocent Nxasane</cp:lastModifiedBy>
  <cp:revision>2</cp:revision>
  <dcterms:created xsi:type="dcterms:W3CDTF">2026-05-13T07:08:29Z</dcterms:created>
  <dcterms:modified xsi:type="dcterms:W3CDTF">2026-05-26T12:37:58Z</dcterms:modified>
</cp:coreProperties>
</file>